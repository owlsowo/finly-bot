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8e6cb7610a4595" /><Relationship Type="http://schemas.openxmlformats.org/officeDocument/2006/relationships/extended-properties" Target="/docProps/app.xml" Id="R46efabe9f0f54307" /><Relationship Type="http://schemas.openxmlformats.org/officeDocument/2006/relationships/officeDocument" Target="/ppt/presentation.xml" Id="Rb2d8e1c38b9248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c4d35bba50483e"/>
  </p:sldMasterIdLst>
  <p:notesMasterIdLst>
    <p:notesMasterId xmlns:r="http://schemas.openxmlformats.org/officeDocument/2006/relationships" r:id="Rd7864daeead04180"/>
  </p:notesMasterIdLst>
  <p:sldIdLst>
    <p:sldId xmlns:r="http://schemas.openxmlformats.org/officeDocument/2006/relationships" id="256" r:id="R48d70c6a83334f19"/>
    <p:sldId xmlns:r="http://schemas.openxmlformats.org/officeDocument/2006/relationships" id="257" r:id="R60ae51ba27434413"/>
    <p:sldId xmlns:r="http://schemas.openxmlformats.org/officeDocument/2006/relationships" id="258" r:id="R92becc5e920f4257"/>
    <p:sldId xmlns:r="http://schemas.openxmlformats.org/officeDocument/2006/relationships" id="259" r:id="Rcc73b280e50b4d5c"/>
    <p:sldId xmlns:r="http://schemas.openxmlformats.org/officeDocument/2006/relationships" id="260" r:id="Rab164841b71d4b6e"/>
    <p:sldId xmlns:r="http://schemas.openxmlformats.org/officeDocument/2006/relationships" id="261" r:id="Rcc341dc718884166"/>
    <p:sldId xmlns:r="http://schemas.openxmlformats.org/officeDocument/2006/relationships" id="262" r:id="Rcdcbd466c1e940ab"/>
    <p:sldId xmlns:r="http://schemas.openxmlformats.org/officeDocument/2006/relationships" id="263" r:id="R67e69add5b6b4219"/>
    <p:sldId xmlns:r="http://schemas.openxmlformats.org/officeDocument/2006/relationships" id="264" r:id="R004cb8d33a454c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d7d8a753cb4bab" /><Relationship Type="http://schemas.openxmlformats.org/officeDocument/2006/relationships/slideMaster" Target="/ppt/slideMasters/slideMaster1.xml" Id="R01c4d35bba50483e" /><Relationship Type="http://schemas.openxmlformats.org/officeDocument/2006/relationships/notesMaster" Target="/ppt/notesMasters/notesMaster1.xml" Id="Rd7864daeead04180" /><Relationship Type="http://schemas.openxmlformats.org/officeDocument/2006/relationships/presProps" Target="/ppt/presProps.xml" Id="R7f79c203a7ae4814" /><Relationship Type="http://schemas.openxmlformats.org/officeDocument/2006/relationships/tableStyles" Target="/ppt/tableStyles.xml" Id="Rc9a2c15fd8044b2d" /><Relationship Type="http://schemas.openxmlformats.org/officeDocument/2006/relationships/slide" Target="/ppt/slides/slide1.xml" Id="R48d70c6a83334f19" /><Relationship Type="http://schemas.openxmlformats.org/officeDocument/2006/relationships/slide" Target="/ppt/slides/slide2.xml" Id="R60ae51ba27434413" /><Relationship Type="http://schemas.openxmlformats.org/officeDocument/2006/relationships/slide" Target="/ppt/slides/slide3.xml" Id="R92becc5e920f4257" /><Relationship Type="http://schemas.openxmlformats.org/officeDocument/2006/relationships/slide" Target="/ppt/slides/slide4.xml" Id="Rcc73b280e50b4d5c" /><Relationship Type="http://schemas.openxmlformats.org/officeDocument/2006/relationships/slide" Target="/ppt/slides/slide5.xml" Id="Rab164841b71d4b6e" /><Relationship Type="http://schemas.openxmlformats.org/officeDocument/2006/relationships/slide" Target="/ppt/slides/slide6.xml" Id="Rcc341dc718884166" /><Relationship Type="http://schemas.openxmlformats.org/officeDocument/2006/relationships/slide" Target="/ppt/slides/slide7.xml" Id="Rcdcbd466c1e940ab" /><Relationship Type="http://schemas.openxmlformats.org/officeDocument/2006/relationships/slide" Target="/ppt/slides/slide8.xml" Id="R67e69add5b6b4219" /><Relationship Type="http://schemas.openxmlformats.org/officeDocument/2006/relationships/slide" Target="/ppt/slides/slide9.xml" Id="R004cb8d33a454c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45ca3f206147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inly">
  <a:themeElements>
    <a:clrScheme name="Finly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inl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a2e93aa28b4962" /><Relationship Type="http://schemas.openxmlformats.org/officeDocument/2006/relationships/notesMaster" Target="/ppt/notesMasters/notesMaster1.xml" Id="R37ca5877308943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c289da90704100" /><Relationship Type="http://schemas.openxmlformats.org/officeDocument/2006/relationships/notesMaster" Target="/ppt/notesMasters/notesMaster1.xml" Id="R47a6e2dc5d2e48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74fc4726c14547" /><Relationship Type="http://schemas.openxmlformats.org/officeDocument/2006/relationships/notesMaster" Target="/ppt/notesMasters/notesMaster1.xml" Id="Re53cf981aba744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5cb9fd24a54ace" /><Relationship Type="http://schemas.openxmlformats.org/officeDocument/2006/relationships/notesMaster" Target="/ppt/notesMasters/notesMaster1.xml" Id="R7c94643dc60f48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a18699296d4953" /><Relationship Type="http://schemas.openxmlformats.org/officeDocument/2006/relationships/notesMaster" Target="/ppt/notesMasters/notesMaster1.xml" Id="R4d293decc32445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4f5b1fac544bf9" /><Relationship Type="http://schemas.openxmlformats.org/officeDocument/2006/relationships/notesMaster" Target="/ppt/notesMasters/notesMaster1.xml" Id="R8a24c9ae7c0244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c70967e3124345" /><Relationship Type="http://schemas.openxmlformats.org/officeDocument/2006/relationships/notesMaster" Target="/ppt/notesMasters/notesMaster1.xml" Id="R97da3e6b2d0346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0b6d803afb4440" /><Relationship Type="http://schemas.openxmlformats.org/officeDocument/2006/relationships/notesMaster" Target="/ppt/notesMasters/notesMaster1.xml" Id="R1cd0872a100546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272b09129545c2" /><Relationship Type="http://schemas.openxmlformats.org/officeDocument/2006/relationships/notesMaster" Target="/ppt/notesMasters/notesMaster1.xml" Id="R1cce6f2740f140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product: https://owlsowo.github.io/finly-bot/</a:t>
            </a:r>
          </a:p>
          <a:p xmlns:a="http://schemas.openxmlformats.org/drawingml/2006/main">
            <a:r>
              <a:t>- Historical series: https://owlsowo.github.io/finly-bot/data/g4_wealth_drawdown.json</a:t>
            </a:r>
          </a:p>
          <a:p xmlns:a="http://schemas.openxmlformats.org/drawingml/2006/main">
            <a:r>
              <a:t>- Sanitized paper account: https://owlsowo.github.io/finly-bot/data/competition_live.json</a:t>
            </a:r>
          </a:p>
          <a:p xmlns:a="http://schemas.openxmlformats.org/drawingml/2006/main">
            <a:r>
              <a:t>- The bull-horn mark is project-owned.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Deployed Qwen3-32B evidence path: https://github.com/owlsowo/finly-bot/blob/main/lib/evidence_extractor.mjs</a:t>
            </a:r>
          </a:p>
          <a:p xmlns:a="http://schemas.openxmlformats.org/drawingml/2006/main">
            <a:r>
              <a:t>- Cloud model runner: https://github.com/owlsowo/finly-bot/blob/main/.github/workflows/paper-agent-cloud.yml</a:t>
            </a:r>
          </a:p>
          <a:p xmlns:a="http://schemas.openxmlformats.org/drawingml/2006/main">
            <a:r>
              <a:t>- Positive decision receipt: https://owlsowo.github.io/finly-bot/data/latest_receipt.json</a:t>
            </a:r>
          </a:p>
          <a:p xmlns:a="http://schemas.openxmlformats.org/drawingml/2006/main">
            <a:r>
              <a:t>- Conflict receipt: https://owlsowo.github.io/finly-bot/data/no_trade_receipt.json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Interactive product: https://owlsowo.github.io/finly-bot/#controls</a:t>
            </a:r>
          </a:p>
          <a:p xmlns:a="http://schemas.openxmlformats.org/drawingml/2006/main">
            <a:r>
              <a:t>- Deployed Qwen3-32B evidence path: https://github.com/owlsowo/finly-bot/blob/main/lib/evidence_extractor.mjs</a:t>
            </a:r>
          </a:p>
          <a:p xmlns:a="http://schemas.openxmlformats.org/drawingml/2006/main">
            <a:r>
              <a:t>- Hosted-model readiness gate: https://github.com/owlsowo/finly-bot/blob/main/scripts/featherless_readiness_check.mjs</a:t>
            </a:r>
          </a:p>
          <a:p xmlns:a="http://schemas.openxmlformats.org/drawingml/2006/main">
            <a:r>
              <a:t>- Compiled order receipt: https://owlsowo.github.io/finly-bot/data/latest_receipt.json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Historical wealth and drawdown series: https://owlsowo.github.io/finly-bot/data/g4_wealth_drawdown.json</a:t>
            </a:r>
          </a:p>
          <a:p xmlns:a="http://schemas.openxmlformats.org/drawingml/2006/main">
            <a:r>
              <a:t>- Quantitative claim boundary: https://owlsowo.github.io/finly-bot/data/quantitative_release_gate.json</a:t>
            </a:r>
          </a:p>
          <a:p xmlns:a="http://schemas.openxmlformats.org/drawingml/2006/main">
            <a:r>
              <a:t>- Historical simulation with modeled 5 bp one-way costs; not broker P&amp;L or a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External-era evidence: https://owlsowo.github.io/finly-bot/data/attempt150_public_evidence.json</a:t>
            </a:r>
          </a:p>
          <a:p xmlns:a="http://schemas.openxmlformats.org/drawingml/2006/main">
            <a:r>
              <a:t>- Kenneth French 10 Industry Portfolios: https://mba.tuck.dartmouth.edu/pages/faculty/ken.french/ftp/10_Industry_Portfolios_daily_CSV.zip</a:t>
            </a:r>
          </a:p>
          <a:p xmlns:a="http://schemas.openxmlformats.org/drawingml/2006/main">
            <a:r>
              <a:t>- Evidence record: 21218 observations, 21/21 positive schedule offsets.</a:t>
            </a:r>
          </a:p>
          <a:p xmlns:a="http://schemas.openxmlformats.org/drawingml/2006/main">
            <a:r>
              <a:t>- Industry-proxy reconstruction; separate from live broker performance and not independent validation. It passed 8/9 precommitted gates but failed the multiple-testing-adjusted statistical gate.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Positive options receipt: https://owlsowo.github.io/finly-bot/data/latest_receipt.json</a:t>
            </a:r>
          </a:p>
          <a:p xmlns:a="http://schemas.openxmlformats.org/drawingml/2006/main">
            <a:r>
              <a:t>- Conflict receipt: https://owlsowo.github.io/finly-bot/data/no_trade_receipt.json</a:t>
            </a:r>
          </a:p>
          <a:p xmlns:a="http://schemas.openxmlformats.org/drawingml/2006/main">
            <a:r>
              <a:t>- Receipt: SPY260911P00560000 / SPY260911P00550000, $3.66 debit.</a:t>
            </a:r>
          </a:p>
          <a:p xmlns:a="http://schemas.openxmlformats.org/drawingml/2006/main">
            <a:r>
              <a:t>- The checked options fixture is synthetic paper-trading evidence, not realized options P&amp;L.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Sanitized live account: https://owlsowo.github.io/finly-bot/data/competition_live.json</a:t>
            </a:r>
          </a:p>
          <a:p xmlns:a="http://schemas.openxmlformats.org/drawingml/2006/main">
            <a:r>
              <a:t>- Public live dashboard: https://owlsowo.github.io/finly-bot/#live</a:t>
            </a:r>
          </a:p>
          <a:p xmlns:a="http://schemas.openxmlformats.org/drawingml/2006/main">
            <a:r>
              <a:t>- Human-frozen competition protocol: https://github.com/owlsowo/finly-bot/blob/main/config/g4-official-production.json</a:t>
            </a:r>
          </a:p>
          <a:p xmlns:a="http://schemas.openxmlformats.org/drawingml/2006/main">
            <a:r>
              <a:t>- Forward-score contract: https://github.com/owlsowo/finly-bot/blob/main/config/competition-forward-profit.json</a:t>
            </a:r>
          </a:p>
          <a:p xmlns:a="http://schemas.openxmlformats.org/drawingml/2006/main">
            <a:r>
              <a:t>- First-close measurement: https://owlsowo.github.io/finly-bot/data/competition_forward_profit_2026_08_31.json</a:t>
            </a:r>
          </a:p>
          <a:p xmlns:a="http://schemas.openxmlformats.org/drawingml/2006/main">
            <a:r>
              <a:t>- Verified starting equity: $100,000; per-trade risk ceiling: $500.</a:t>
            </a:r>
          </a:p>
          <a:p xmlns:a="http://schemas.openxmlformats.org/drawingml/2006/main">
            <a:r>
              <a:t>- Exact first-close result: Finly +$95.32, SPY -$57.99, excess +$153.31.</a:t>
            </a:r>
          </a:p>
          <a:p xmlns:a="http://schemas.openxmlformats.org/drawingml/2006/main">
            <a:r>
              <a:t>- Screenshot is project-owned and records the public paper-account dashboard.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Cloud runner: https://github.com/owlsowo/finly-bot/blob/main/docs/CLOUD_RUNNER.md</a:t>
            </a:r>
          </a:p>
          <a:p xmlns:a="http://schemas.openxmlformats.org/drawingml/2006/main">
            <a:r>
              <a:t>- Conflict receipt: https://owlsowo.github.io/finly-bot/data/no_trade_receipt.json</a:t>
            </a:r>
          </a:p>
          <a:p xmlns:a="http://schemas.openxmlformats.org/drawingml/2006/main">
            <a:r>
              <a:t>- Verified automated run: https://github.com/owlsowo/finly-bot/actions/runs/33369848292</a:t>
            </a:r>
          </a:p>
          <a:p xmlns:a="http://schemas.openxmlformats.org/drawingml/2006/main">
            <a:r>
              <a:t>- Public repository: https://github.com/owlsowo/finly-bot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product: https://owlsowo.github.io/finly-bot/</a:t>
            </a:r>
          </a:p>
          <a:p xmlns:a="http://schemas.openxmlformats.org/drawingml/2006/main">
            <a:r>
              <a:t>- Repository: https://github.com/owlsowo/finly-bot</a:t>
            </a:r>
          </a:p>
          <a:p xmlns:a="http://schemas.openxmlformats.org/drawingml/2006/main">
            <a:r>
              <a:t>- Contact: mailto:bwen412@brandeis.edu</a:t>
            </a:r>
          </a:p>
          <a:p xmlns:a="http://schemas.openxmlformats.org/drawingml/2006/main">
            <a:r>
              <a:t>- QR encodes the live product URL and was generated by quickchart.io.</a:t>
            </a:r>
          </a:p>
          <a:p xmlns:a="http://schemas.openxmlformats.org/drawingml/2006/main">
            <a:r>
              <a:t>- Historical simulations and live paper-account results are labeled separately.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c473bc473847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cb5db0fdf449e4" /><Relationship Type="http://schemas.openxmlformats.org/officeDocument/2006/relationships/slideLayout" Target="/ppt/slideLayouts/slideLayout1.xml" Id="R346dfcb1e03942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6dfcb1e03942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inly">
  <a:themeElements>
    <a:clrScheme name="Finly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inl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e7d3ff3cc4788" /><Relationship Type="http://schemas.openxmlformats.org/officeDocument/2006/relationships/image" Target="/ppt/media/image.png" Id="R1cc69db1db024720" /><Relationship Type="http://schemas.openxmlformats.org/officeDocument/2006/relationships/image" Target="/ppt/media/image2.png" Id="R37527564d75748fa" /><Relationship Type="http://schemas.openxmlformats.org/officeDocument/2006/relationships/notesSlide" Target="/ppt/notesSlides/notesSlide1.xml" Id="Rbafe7d974bd44f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3d13c86614b06" /><Relationship Type="http://schemas.openxmlformats.org/officeDocument/2006/relationships/notesSlide" Target="/ppt/notesSlides/notesSlide2.xml" Id="R83e1e109ad404c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84d6924f846b6" /><Relationship Type="http://schemas.openxmlformats.org/officeDocument/2006/relationships/notesSlide" Target="/ppt/notesSlides/notesSlide3.xml" Id="R0d24b872ee704b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81e364d4d44c1" /><Relationship Type="http://schemas.openxmlformats.org/officeDocument/2006/relationships/chart" Target="/ppt/slides/charts/chart1.xml" Id="R0e69f262bb3f453c" /><Relationship Type="http://schemas.openxmlformats.org/officeDocument/2006/relationships/notesSlide" Target="/ppt/notesSlides/notesSlide4.xml" Id="Rbc07beddfe4741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aff861b864b34" /><Relationship Type="http://schemas.openxmlformats.org/officeDocument/2006/relationships/notesSlide" Target="/ppt/notesSlides/notesSlide5.xml" Id="Rd9e41d32ef2545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351dd9f354aa1" /><Relationship Type="http://schemas.openxmlformats.org/officeDocument/2006/relationships/chart" Target="/ppt/slides/charts/chart2.xml" Id="R25ca10f5fabe45e0" /><Relationship Type="http://schemas.openxmlformats.org/officeDocument/2006/relationships/notesSlide" Target="/ppt/notesSlides/notesSlide6.xml" Id="Rcd6493c911c14e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7b29c24a5416d" /><Relationship Type="http://schemas.openxmlformats.org/officeDocument/2006/relationships/notesSlide" Target="/ppt/notesSlides/notesSlide7.xml" Id="R80858a69bce643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ac732f51e4504" /><Relationship Type="http://schemas.openxmlformats.org/officeDocument/2006/relationships/notesSlide" Target="/ppt/notesSlides/notesSlide8.xml" Id="R19238949b50a46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49494e31e43a6" /><Relationship Type="http://schemas.openxmlformats.org/officeDocument/2006/relationships/image" Target="/ppt/media/image3.png" Id="R9f8e703127c24c3f" /><Relationship Type="http://schemas.openxmlformats.org/officeDocument/2006/relationships/hyperlink" Target="https://owlsowo.github.io/finly-bot/" TargetMode="External" Id="Re2bf7524ad964680" /><Relationship Type="http://schemas.openxmlformats.org/officeDocument/2006/relationships/hyperlink" Target="https://owlsowo.github.io/finly-bot/" TargetMode="External" Id="R36bcd518a31f43e5" /><Relationship Type="http://schemas.openxmlformats.org/officeDocument/2006/relationships/notesSlide" Target="/ppt/notesSlides/notesSlide9.xml" Id="R57e540dd11464b9f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Finly</c:v>
          </c:tx>
          <c:spPr>
            <a:ln xmlns:a="http://schemas.openxmlformats.org/drawingml/2006/main" w="38100">
              <a:solidFill>
                <a:srgbClr val="2F7D68"/>
              </a:solidFill>
              <a:prstDash val="solid"/>
            </a:ln>
          </c:spPr>
          <c:marker>
            <c:symbol val="none"/>
          </c:marker>
          <c:cat>
            <c:strLit>
              <c:ptCount val="70"/>
              <c:pt idx="0">
                <c:v>2013-01-02</c:v>
              </c:pt>
              <c:pt idx="1">
                <c:v>2013-03-15</c:v>
              </c:pt>
              <c:pt idx="2">
                <c:v>2013-05-28</c:v>
              </c:pt>
              <c:pt idx="3">
                <c:v>2013-08-07</c:v>
              </c:pt>
              <c:pt idx="4">
                <c:v>2013-10-17</c:v>
              </c:pt>
              <c:pt idx="5">
                <c:v>2013-12-30</c:v>
              </c:pt>
              <c:pt idx="6">
                <c:v>2014-03-13</c:v>
              </c:pt>
              <c:pt idx="7">
                <c:v>2014-05-23</c:v>
              </c:pt>
              <c:pt idx="8">
                <c:v>2014-08-05</c:v>
              </c:pt>
              <c:pt idx="9">
                <c:v>2014-10-15</c:v>
              </c:pt>
              <c:pt idx="10">
                <c:v>2014-12-26</c:v>
              </c:pt>
              <c:pt idx="11">
                <c:v>2015-03-11</c:v>
              </c:pt>
              <c:pt idx="12">
                <c:v>2015-05-21</c:v>
              </c:pt>
              <c:pt idx="13">
                <c:v>2015-08-03</c:v>
              </c:pt>
              <c:pt idx="14">
                <c:v>2015-10-13</c:v>
              </c:pt>
              <c:pt idx="15">
                <c:v>2015-12-23</c:v>
              </c:pt>
              <c:pt idx="16">
                <c:v>2016-03-08</c:v>
              </c:pt>
              <c:pt idx="17">
                <c:v>2016-05-18</c:v>
              </c:pt>
              <c:pt idx="18">
                <c:v>2016-07-29</c:v>
              </c:pt>
              <c:pt idx="19">
                <c:v>2016-10-10</c:v>
              </c:pt>
              <c:pt idx="20">
                <c:v>2016-12-20</c:v>
              </c:pt>
              <c:pt idx="21">
                <c:v>2017-03-06</c:v>
              </c:pt>
              <c:pt idx="22">
                <c:v>2017-05-16</c:v>
              </c:pt>
              <c:pt idx="23">
                <c:v>2017-07-27</c:v>
              </c:pt>
              <c:pt idx="24">
                <c:v>2017-10-06</c:v>
              </c:pt>
              <c:pt idx="25">
                <c:v>2017-12-18</c:v>
              </c:pt>
              <c:pt idx="26">
                <c:v>2018-03-02</c:v>
              </c:pt>
              <c:pt idx="27">
                <c:v>2018-05-14</c:v>
              </c:pt>
              <c:pt idx="28">
                <c:v>2018-07-25</c:v>
              </c:pt>
              <c:pt idx="29">
                <c:v>2018-10-04</c:v>
              </c:pt>
              <c:pt idx="30">
                <c:v>2018-12-17</c:v>
              </c:pt>
              <c:pt idx="31">
                <c:v>2019-03-01</c:v>
              </c:pt>
              <c:pt idx="32">
                <c:v>2019-05-13</c:v>
              </c:pt>
              <c:pt idx="33">
                <c:v>2019-07-24</c:v>
              </c:pt>
              <c:pt idx="34">
                <c:v>2019-10-03</c:v>
              </c:pt>
              <c:pt idx="35">
                <c:v>2019-12-13</c:v>
              </c:pt>
              <c:pt idx="36">
                <c:v>2020-02-27</c:v>
              </c:pt>
              <c:pt idx="37">
                <c:v>2020-05-08</c:v>
              </c:pt>
              <c:pt idx="38">
                <c:v>2020-07-21</c:v>
              </c:pt>
              <c:pt idx="39">
                <c:v>2020-09-30</c:v>
              </c:pt>
              <c:pt idx="40">
                <c:v>2020-12-10</c:v>
              </c:pt>
              <c:pt idx="41">
                <c:v>2021-02-24</c:v>
              </c:pt>
              <c:pt idx="42">
                <c:v>2021-05-06</c:v>
              </c:pt>
              <c:pt idx="43">
                <c:v>2021-07-19</c:v>
              </c:pt>
              <c:pt idx="44">
                <c:v>2021-09-28</c:v>
              </c:pt>
              <c:pt idx="45">
                <c:v>2021-12-08</c:v>
              </c:pt>
              <c:pt idx="46">
                <c:v>2022-02-18</c:v>
              </c:pt>
              <c:pt idx="47">
                <c:v>2022-05-03</c:v>
              </c:pt>
              <c:pt idx="48">
                <c:v>2022-07-15</c:v>
              </c:pt>
              <c:pt idx="49">
                <c:v>2022-09-26</c:v>
              </c:pt>
              <c:pt idx="50">
                <c:v>2022-12-06</c:v>
              </c:pt>
              <c:pt idx="51">
                <c:v>2023-02-17</c:v>
              </c:pt>
              <c:pt idx="52">
                <c:v>2023-05-02</c:v>
              </c:pt>
              <c:pt idx="53">
                <c:v>2023-07-14</c:v>
              </c:pt>
              <c:pt idx="54">
                <c:v>2023-09-25</c:v>
              </c:pt>
              <c:pt idx="55">
                <c:v>2023-12-05</c:v>
              </c:pt>
              <c:pt idx="56">
                <c:v>2024-02-16</c:v>
              </c:pt>
              <c:pt idx="57">
                <c:v>2024-04-30</c:v>
              </c:pt>
              <c:pt idx="58">
                <c:v>2024-07-12</c:v>
              </c:pt>
              <c:pt idx="59">
                <c:v>2024-09-23</c:v>
              </c:pt>
              <c:pt idx="60">
                <c:v>2024-12-03</c:v>
              </c:pt>
              <c:pt idx="61">
                <c:v>2025-02-18</c:v>
              </c:pt>
              <c:pt idx="62">
                <c:v>2025-04-30</c:v>
              </c:pt>
              <c:pt idx="63">
                <c:v>2025-07-14</c:v>
              </c:pt>
              <c:pt idx="64">
                <c:v>2025-09-23</c:v>
              </c:pt>
              <c:pt idx="65">
                <c:v>2025-12-03</c:v>
              </c:pt>
              <c:pt idx="66">
                <c:v>2026-02-17</c:v>
              </c:pt>
              <c:pt idx="67">
                <c:v>2026-04-29</c:v>
              </c:pt>
              <c:pt idx="68">
                <c:v>2026-07-13</c:v>
              </c:pt>
              <c:pt idx="69">
                <c:v>2026-08-27</c:v>
              </c:pt>
            </c:strLit>
          </c:cat>
          <c:val>
            <c:numLit>
              <c:formatCode>$#,##0</c:formatCode>
              <c:ptCount val="70"/>
              <c:pt idx="0">
                <c:v>10288</c:v>
              </c:pt>
              <c:pt idx="1">
                <c:v>10739</c:v>
              </c:pt>
              <c:pt idx="2">
                <c:v>11526</c:v>
              </c:pt>
              <c:pt idx="3">
                <c:v>11889</c:v>
              </c:pt>
              <c:pt idx="4">
                <c:v>12514</c:v>
              </c:pt>
              <c:pt idx="5">
                <c:v>13355</c:v>
              </c:pt>
              <c:pt idx="6">
                <c:v>13659</c:v>
              </c:pt>
              <c:pt idx="7">
                <c:v>13830</c:v>
              </c:pt>
              <c:pt idx="8">
                <c:v>14211</c:v>
              </c:pt>
              <c:pt idx="9">
                <c:v>13885</c:v>
              </c:pt>
              <c:pt idx="10">
                <c:v>15896</c:v>
              </c:pt>
              <c:pt idx="11">
                <c:v>15917</c:v>
              </c:pt>
              <c:pt idx="12">
                <c:v>16845</c:v>
              </c:pt>
              <c:pt idx="13">
                <c:v>17137</c:v>
              </c:pt>
              <c:pt idx="14">
                <c:v>16353</c:v>
              </c:pt>
              <c:pt idx="15">
                <c:v>17109</c:v>
              </c:pt>
              <c:pt idx="16">
                <c:v>16170</c:v>
              </c:pt>
              <c:pt idx="17">
                <c:v>16498</c:v>
              </c:pt>
              <c:pt idx="18">
                <c:v>17744</c:v>
              </c:pt>
              <c:pt idx="19">
                <c:v>17769</c:v>
              </c:pt>
              <c:pt idx="20">
                <c:v>18234</c:v>
              </c:pt>
              <c:pt idx="21">
                <c:v>19148</c:v>
              </c:pt>
              <c:pt idx="22">
                <c:v>19699</c:v>
              </c:pt>
              <c:pt idx="23">
                <c:v>20198</c:v>
              </c:pt>
              <c:pt idx="24">
                <c:v>20790</c:v>
              </c:pt>
              <c:pt idx="25">
                <c:v>22268</c:v>
              </c:pt>
              <c:pt idx="26">
                <c:v>22817</c:v>
              </c:pt>
              <c:pt idx="27">
                <c:v>23411</c:v>
              </c:pt>
              <c:pt idx="28">
                <c:v>24609</c:v>
              </c:pt>
              <c:pt idx="29">
                <c:v>24698</c:v>
              </c:pt>
              <c:pt idx="30">
                <c:v>21265</c:v>
              </c:pt>
              <c:pt idx="31">
                <c:v>23784</c:v>
              </c:pt>
              <c:pt idx="32">
                <c:v>24688</c:v>
              </c:pt>
              <c:pt idx="33">
                <c:v>26502</c:v>
              </c:pt>
              <c:pt idx="34">
                <c:v>26158</c:v>
              </c:pt>
              <c:pt idx="35">
                <c:v>28309</c:v>
              </c:pt>
              <c:pt idx="36">
                <c:v>27807</c:v>
              </c:pt>
              <c:pt idx="37">
                <c:v>28920</c:v>
              </c:pt>
              <c:pt idx="38">
                <c:v>32733</c:v>
              </c:pt>
              <c:pt idx="39">
                <c:v>33901</c:v>
              </c:pt>
              <c:pt idx="40">
                <c:v>36522</c:v>
              </c:pt>
              <c:pt idx="41">
                <c:v>38925</c:v>
              </c:pt>
              <c:pt idx="42">
                <c:v>40816</c:v>
              </c:pt>
              <c:pt idx="43">
                <c:v>41474</c:v>
              </c:pt>
              <c:pt idx="44">
                <c:v>43575</c:v>
              </c:pt>
              <c:pt idx="45">
                <c:v>47241</c:v>
              </c:pt>
              <c:pt idx="46">
                <c:v>45003</c:v>
              </c:pt>
              <c:pt idx="47">
                <c:v>44079</c:v>
              </c:pt>
              <c:pt idx="48">
                <c:v>41770</c:v>
              </c:pt>
              <c:pt idx="49">
                <c:v>41642</c:v>
              </c:pt>
              <c:pt idx="50">
                <c:v>44593</c:v>
              </c:pt>
              <c:pt idx="51">
                <c:v>45887</c:v>
              </c:pt>
              <c:pt idx="52">
                <c:v>47153</c:v>
              </c:pt>
              <c:pt idx="53">
                <c:v>52437</c:v>
              </c:pt>
              <c:pt idx="54">
                <c:v>51363</c:v>
              </c:pt>
              <c:pt idx="55">
                <c:v>54161</c:v>
              </c:pt>
              <c:pt idx="56">
                <c:v>59507</c:v>
              </c:pt>
              <c:pt idx="57">
                <c:v>59856</c:v>
              </c:pt>
              <c:pt idx="58">
                <c:v>67431</c:v>
              </c:pt>
              <c:pt idx="59">
                <c:v>69737</c:v>
              </c:pt>
              <c:pt idx="60">
                <c:v>74965</c:v>
              </c:pt>
              <c:pt idx="61">
                <c:v>76998</c:v>
              </c:pt>
              <c:pt idx="62">
                <c:v>70629</c:v>
              </c:pt>
              <c:pt idx="63">
                <c:v>79543</c:v>
              </c:pt>
              <c:pt idx="64">
                <c:v>84910</c:v>
              </c:pt>
              <c:pt idx="65">
                <c:v>86155</c:v>
              </c:pt>
              <c:pt idx="66">
                <c:v>89189</c:v>
              </c:pt>
              <c:pt idx="67">
                <c:v>96162</c:v>
              </c:pt>
              <c:pt idx="68">
                <c:v>103465</c:v>
              </c:pt>
              <c:pt idx="69">
                <c:v>106711</c:v>
              </c:pt>
            </c:numLit>
          </c:val>
        </c:ser>
        <c:ser>
          <c:idx val="1"/>
          <c:order val="1"/>
          <c:tx>
            <c:v>SPY · S&amp;P 500 tracker</c:v>
          </c:tx>
          <c:spPr>
            <a:ln xmlns:a="http://schemas.openxmlformats.org/drawingml/2006/main" w="28575">
              <a:solidFill>
                <a:srgbClr val="0B2942"/>
              </a:solidFill>
              <a:prstDash val="dash"/>
            </a:ln>
          </c:spPr>
          <c:marker>
            <c:symbol val="none"/>
          </c:marker>
          <c:cat>
            <c:strLit>
              <c:ptCount val="70"/>
              <c:pt idx="0">
                <c:v>2013-01-02</c:v>
              </c:pt>
              <c:pt idx="1">
                <c:v>2013-03-15</c:v>
              </c:pt>
              <c:pt idx="2">
                <c:v>2013-05-28</c:v>
              </c:pt>
              <c:pt idx="3">
                <c:v>2013-08-07</c:v>
              </c:pt>
              <c:pt idx="4">
                <c:v>2013-10-17</c:v>
              </c:pt>
              <c:pt idx="5">
                <c:v>2013-12-30</c:v>
              </c:pt>
              <c:pt idx="6">
                <c:v>2014-03-13</c:v>
              </c:pt>
              <c:pt idx="7">
                <c:v>2014-05-23</c:v>
              </c:pt>
              <c:pt idx="8">
                <c:v>2014-08-05</c:v>
              </c:pt>
              <c:pt idx="9">
                <c:v>2014-10-15</c:v>
              </c:pt>
              <c:pt idx="10">
                <c:v>2014-12-26</c:v>
              </c:pt>
              <c:pt idx="11">
                <c:v>2015-03-11</c:v>
              </c:pt>
              <c:pt idx="12">
                <c:v>2015-05-21</c:v>
              </c:pt>
              <c:pt idx="13">
                <c:v>2015-08-03</c:v>
              </c:pt>
              <c:pt idx="14">
                <c:v>2015-10-13</c:v>
              </c:pt>
              <c:pt idx="15">
                <c:v>2015-12-23</c:v>
              </c:pt>
              <c:pt idx="16">
                <c:v>2016-03-08</c:v>
              </c:pt>
              <c:pt idx="17">
                <c:v>2016-05-18</c:v>
              </c:pt>
              <c:pt idx="18">
                <c:v>2016-07-29</c:v>
              </c:pt>
              <c:pt idx="19">
                <c:v>2016-10-10</c:v>
              </c:pt>
              <c:pt idx="20">
                <c:v>2016-12-20</c:v>
              </c:pt>
              <c:pt idx="21">
                <c:v>2017-03-06</c:v>
              </c:pt>
              <c:pt idx="22">
                <c:v>2017-05-16</c:v>
              </c:pt>
              <c:pt idx="23">
                <c:v>2017-07-27</c:v>
              </c:pt>
              <c:pt idx="24">
                <c:v>2017-10-06</c:v>
              </c:pt>
              <c:pt idx="25">
                <c:v>2017-12-18</c:v>
              </c:pt>
              <c:pt idx="26">
                <c:v>2018-03-02</c:v>
              </c:pt>
              <c:pt idx="27">
                <c:v>2018-05-14</c:v>
              </c:pt>
              <c:pt idx="28">
                <c:v>2018-07-25</c:v>
              </c:pt>
              <c:pt idx="29">
                <c:v>2018-10-04</c:v>
              </c:pt>
              <c:pt idx="30">
                <c:v>2018-12-17</c:v>
              </c:pt>
              <c:pt idx="31">
                <c:v>2019-03-01</c:v>
              </c:pt>
              <c:pt idx="32">
                <c:v>2019-05-13</c:v>
              </c:pt>
              <c:pt idx="33">
                <c:v>2019-07-24</c:v>
              </c:pt>
              <c:pt idx="34">
                <c:v>2019-10-03</c:v>
              </c:pt>
              <c:pt idx="35">
                <c:v>2019-12-13</c:v>
              </c:pt>
              <c:pt idx="36">
                <c:v>2020-02-27</c:v>
              </c:pt>
              <c:pt idx="37">
                <c:v>2020-05-08</c:v>
              </c:pt>
              <c:pt idx="38">
                <c:v>2020-07-21</c:v>
              </c:pt>
              <c:pt idx="39">
                <c:v>2020-09-30</c:v>
              </c:pt>
              <c:pt idx="40">
                <c:v>2020-12-10</c:v>
              </c:pt>
              <c:pt idx="41">
                <c:v>2021-02-24</c:v>
              </c:pt>
              <c:pt idx="42">
                <c:v>2021-05-06</c:v>
              </c:pt>
              <c:pt idx="43">
                <c:v>2021-07-19</c:v>
              </c:pt>
              <c:pt idx="44">
                <c:v>2021-09-28</c:v>
              </c:pt>
              <c:pt idx="45">
                <c:v>2021-12-08</c:v>
              </c:pt>
              <c:pt idx="46">
                <c:v>2022-02-18</c:v>
              </c:pt>
              <c:pt idx="47">
                <c:v>2022-05-03</c:v>
              </c:pt>
              <c:pt idx="48">
                <c:v>2022-07-15</c:v>
              </c:pt>
              <c:pt idx="49">
                <c:v>2022-09-26</c:v>
              </c:pt>
              <c:pt idx="50">
                <c:v>2022-12-06</c:v>
              </c:pt>
              <c:pt idx="51">
                <c:v>2023-02-17</c:v>
              </c:pt>
              <c:pt idx="52">
                <c:v>2023-05-02</c:v>
              </c:pt>
              <c:pt idx="53">
                <c:v>2023-07-14</c:v>
              </c:pt>
              <c:pt idx="54">
                <c:v>2023-09-25</c:v>
              </c:pt>
              <c:pt idx="55">
                <c:v>2023-12-05</c:v>
              </c:pt>
              <c:pt idx="56">
                <c:v>2024-02-16</c:v>
              </c:pt>
              <c:pt idx="57">
                <c:v>2024-04-30</c:v>
              </c:pt>
              <c:pt idx="58">
                <c:v>2024-07-12</c:v>
              </c:pt>
              <c:pt idx="59">
                <c:v>2024-09-23</c:v>
              </c:pt>
              <c:pt idx="60">
                <c:v>2024-12-03</c:v>
              </c:pt>
              <c:pt idx="61">
                <c:v>2025-02-18</c:v>
              </c:pt>
              <c:pt idx="62">
                <c:v>2025-04-30</c:v>
              </c:pt>
              <c:pt idx="63">
                <c:v>2025-07-14</c:v>
              </c:pt>
              <c:pt idx="64">
                <c:v>2025-09-23</c:v>
              </c:pt>
              <c:pt idx="65">
                <c:v>2025-12-03</c:v>
              </c:pt>
              <c:pt idx="66">
                <c:v>2026-02-17</c:v>
              </c:pt>
              <c:pt idx="67">
                <c:v>2026-04-29</c:v>
              </c:pt>
              <c:pt idx="68">
                <c:v>2026-07-13</c:v>
              </c:pt>
              <c:pt idx="69">
                <c:v>2026-08-27</c:v>
              </c:pt>
            </c:strLit>
          </c:cat>
          <c:val>
            <c:numLit>
              <c:formatCode>$#,##0</c:formatCode>
              <c:ptCount val="70"/>
              <c:pt idx="0">
                <c:v>10246</c:v>
              </c:pt>
              <c:pt idx="1">
                <c:v>10980</c:v>
              </c:pt>
              <c:pt idx="2">
                <c:v>11718</c:v>
              </c:pt>
              <c:pt idx="3">
                <c:v>11984</c:v>
              </c:pt>
              <c:pt idx="4">
                <c:v>12330</c:v>
              </c:pt>
              <c:pt idx="5">
                <c:v>13156</c:v>
              </c:pt>
              <c:pt idx="6">
                <c:v>13253</c:v>
              </c:pt>
              <c:pt idx="7">
                <c:v>13683</c:v>
              </c:pt>
              <c:pt idx="8">
                <c:v>13869</c:v>
              </c:pt>
              <c:pt idx="9">
                <c:v>13528</c:v>
              </c:pt>
              <c:pt idx="10">
                <c:v>15209</c:v>
              </c:pt>
              <c:pt idx="11">
                <c:v>14922</c:v>
              </c:pt>
              <c:pt idx="12">
                <c:v>15648</c:v>
              </c:pt>
              <c:pt idx="13">
                <c:v>15451</c:v>
              </c:pt>
              <c:pt idx="14">
                <c:v>14825</c:v>
              </c:pt>
              <c:pt idx="15">
                <c:v>15343</c:v>
              </c:pt>
              <c:pt idx="16">
                <c:v>14775</c:v>
              </c:pt>
              <c:pt idx="17">
                <c:v>15339</c:v>
              </c:pt>
              <c:pt idx="18">
                <c:v>16337</c:v>
              </c:pt>
              <c:pt idx="19">
                <c:v>16347</c:v>
              </c:pt>
              <c:pt idx="20">
                <c:v>17223</c:v>
              </c:pt>
              <c:pt idx="21">
                <c:v>18083</c:v>
              </c:pt>
              <c:pt idx="22">
                <c:v>18343</c:v>
              </c:pt>
              <c:pt idx="23">
                <c:v>18979</c:v>
              </c:pt>
              <c:pt idx="24">
                <c:v>19626</c:v>
              </c:pt>
              <c:pt idx="25">
                <c:v>20799</c:v>
              </c:pt>
              <c:pt idx="26">
                <c:v>20867</c:v>
              </c:pt>
              <c:pt idx="27">
                <c:v>21254</c:v>
              </c:pt>
              <c:pt idx="28">
                <c:v>22213</c:v>
              </c:pt>
              <c:pt idx="29">
                <c:v>22740</c:v>
              </c:pt>
              <c:pt idx="30">
                <c:v>20062</c:v>
              </c:pt>
              <c:pt idx="31">
                <c:v>22160</c:v>
              </c:pt>
              <c:pt idx="32">
                <c:v>22292</c:v>
              </c:pt>
              <c:pt idx="33">
                <c:v>24042</c:v>
              </c:pt>
              <c:pt idx="34">
                <c:v>23270</c:v>
              </c:pt>
              <c:pt idx="35">
                <c:v>25425</c:v>
              </c:pt>
              <c:pt idx="36">
                <c:v>23955</c:v>
              </c:pt>
              <c:pt idx="37">
                <c:v>23686</c:v>
              </c:pt>
              <c:pt idx="38">
                <c:v>26439</c:v>
              </c:pt>
              <c:pt idx="39">
                <c:v>27352</c:v>
              </c:pt>
              <c:pt idx="40">
                <c:v>29953</c:v>
              </c:pt>
              <c:pt idx="41">
                <c:v>32134</c:v>
              </c:pt>
              <c:pt idx="42">
                <c:v>34486</c:v>
              </c:pt>
              <c:pt idx="43">
                <c:v>35086</c:v>
              </c:pt>
              <c:pt idx="44">
                <c:v>35923</c:v>
              </c:pt>
              <c:pt idx="45">
                <c:v>38888</c:v>
              </c:pt>
              <c:pt idx="46">
                <c:v>36092</c:v>
              </c:pt>
              <c:pt idx="47">
                <c:v>34716</c:v>
              </c:pt>
              <c:pt idx="48">
                <c:v>32249</c:v>
              </c:pt>
              <c:pt idx="49">
                <c:v>30631</c:v>
              </c:pt>
              <c:pt idx="50">
                <c:v>33113</c:v>
              </c:pt>
              <c:pt idx="51">
                <c:v>34399</c:v>
              </c:pt>
              <c:pt idx="52">
                <c:v>34834</c:v>
              </c:pt>
              <c:pt idx="53">
                <c:v>38235</c:v>
              </c:pt>
              <c:pt idx="54">
                <c:v>36914</c:v>
              </c:pt>
              <c:pt idx="55">
                <c:v>38995</c:v>
              </c:pt>
              <c:pt idx="56">
                <c:v>42832</c:v>
              </c:pt>
              <c:pt idx="57">
                <c:v>43178</c:v>
              </c:pt>
              <c:pt idx="58">
                <c:v>48323</c:v>
              </c:pt>
              <c:pt idx="59">
                <c:v>49309</c:v>
              </c:pt>
              <c:pt idx="60">
                <c:v>52273</c:v>
              </c:pt>
              <c:pt idx="61">
                <c:v>53107</c:v>
              </c:pt>
              <c:pt idx="62">
                <c:v>48306</c:v>
              </c:pt>
              <c:pt idx="63">
                <c:v>54588</c:v>
              </c:pt>
              <c:pt idx="64">
                <c:v>58104</c:v>
              </c:pt>
              <c:pt idx="65">
                <c:v>59915</c:v>
              </c:pt>
              <c:pt idx="66">
                <c:v>60001</c:v>
              </c:pt>
              <c:pt idx="67">
                <c:v>62696</c:v>
              </c:pt>
              <c:pt idx="68">
                <c:v>66178</c:v>
              </c:pt>
              <c:pt idx="69">
                <c:v>68082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2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E1"/>
              </a:solidFill>
              <a:prstDash val="solid"/>
            </a:ln>
          </c:spPr>
        </c:majorGridlines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8"/>
                </a:solidFill>
              </a:defRPr>
            </a:pPr>
          </a:p>
        </c:txPr>
        <c:crossAx val="48650112"/>
        <c:crossBetween val="between"/>
        <c:majorUnit val="30000"/>
      </c:valAx>
      <c:spPr>
        <a:solidFill xmlns:a="http://schemas.openxmlformats.org/drawingml/2006/main">
          <a:srgbClr val="FFFCF6"/>
        </a:solidFill>
        <a:ln xmlns:a="http://schemas.openxmlformats.org/drawingml/2006/main" w="0">
          <a:noFill/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22A3E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CF6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Expiry payoff</c:v>
          </c:tx>
          <c:spPr>
            <a:ln xmlns:a="http://schemas.openxmlformats.org/drawingml/2006/main" w="47625">
              <a:solidFill>
                <a:srgbClr val="2F7D68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F7D68"/>
              </a:solidFill>
            </c:spPr>
          </c:marker>
          <c:cat>
            <c:strLit>
              <c:ptCount val="9"/>
              <c:pt idx="0">
                <c:v>$540</c:v>
              </c:pt>
              <c:pt idx="1">
                <c:v>$545</c:v>
              </c:pt>
              <c:pt idx="2">
                <c:v>$550</c:v>
              </c:pt>
              <c:pt idx="3">
                <c:v>$555</c:v>
              </c:pt>
              <c:pt idx="4">
                <c:v>$560</c:v>
              </c:pt>
              <c:pt idx="5">
                <c:v>$565</c:v>
              </c:pt>
              <c:pt idx="6">
                <c:v>$570</c:v>
              </c:pt>
              <c:pt idx="7">
                <c:v>$575</c:v>
              </c:pt>
              <c:pt idx="8">
                <c:v>$580</c:v>
              </c:pt>
            </c:strLit>
          </c:cat>
          <c:val>
            <c:numLit>
              <c:formatCode>$#,##0</c:formatCode>
              <c:ptCount val="9"/>
              <c:pt idx="0">
                <c:v>634</c:v>
              </c:pt>
              <c:pt idx="1">
                <c:v>634</c:v>
              </c:pt>
              <c:pt idx="2">
                <c:v>634</c:v>
              </c:pt>
              <c:pt idx="3">
                <c:v>134</c:v>
              </c:pt>
              <c:pt idx="4">
                <c:v>-366</c:v>
              </c:pt>
              <c:pt idx="5">
                <c:v>-366</c:v>
              </c:pt>
              <c:pt idx="6">
                <c:v>-366</c:v>
              </c:pt>
              <c:pt idx="7">
                <c:v>-366</c:v>
              </c:pt>
              <c:pt idx="8">
                <c:v>-366</c:v>
              </c:pt>
            </c:numLit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700"/>
          <c:min val="-4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DB"/>
              </a:solidFill>
              <a:prstDash val="solid"/>
            </a:ln>
          </c:spPr>
        </c:majorGridlines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8"/>
                </a:solidFill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6F1E8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6F1E8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9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69db1db024720"/>
          <a:stretch xmlns:a="http://schemas.openxmlformats.org/drawingml/2006/main"/>
        </p:blipFill>
        <p:spPr>
          <a:xfrm xmlns:a="http://schemas.openxmlformats.org/drawingml/2006/main">
            <a:off x="609600" y="3810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4F50D-03BF-4139-99B3-23ECBBC4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FINLY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DC85E-7E3B-4AF8-8732-A0DCD6AD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9DFD2"/>
                </a:solidFill>
              </a:defRPr>
            </a:pPr>
            <a:r>
              <a:rPr sz="1125" b="1" i="0">
                <a:solidFill>
                  <a:srgbClr val="B9DFD2"/>
                </a:solidFill>
              </a:rPr>
              <a:t>ONE AUTONOMOUS STRATEGY · TWO COORDINATED SLEEVES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1F84B-1DAD-4482-830C-089D1299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1435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Finly pairs a tested allocation with capped-risk AI options.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62E51-1140-47A0-9887-D40B0147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7E3E5"/>
                </a:solidFill>
              </a:defRPr>
            </a:pPr>
            <a:r>
              <a:rPr sz="1650" b="0" i="0">
                <a:solidFill>
                  <a:srgbClr val="D7E3E5"/>
                </a:solidFill>
              </a:rPr>
              <a:t>The allocation keeps the account invested. AI studies small options trades; fixed rules cap the risk and can still stop them.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2459C-7612-488E-9F3B-AE0F39A4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57300"/>
            <a:ext cx="9525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627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27564d75748fa"/>
          <a:stretch xmlns:a="http://schemas.openxmlformats.org/drawingml/2006/main"/>
        </p:blipFill>
        <p:spPr>
          <a:xfrm xmlns:a="http://schemas.openxmlformats.org/drawingml/2006/main">
            <a:off x="7848600" y="1257300"/>
            <a:ext cx="2286000" cy="228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CA1B6C-27D3-448D-A0E6-252C14BE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76650"/>
            <a:ext cx="432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ALLOCATION  +  OPTIONS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2DF6E-7F7C-4D6B-9F07-C2AD9D49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52900"/>
            <a:ext cx="3752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B9DFD2"/>
                </a:solidFill>
              </a:defRPr>
            </a:pPr>
            <a:r>
              <a:rPr sz="1350" b="0" i="0">
                <a:solidFill>
                  <a:srgbClr val="B9DFD2"/>
                </a:solidFill>
              </a:rPr>
              <a:t>One account  ·  one risk policy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43E8B-9D33-40C7-B33F-3CA2F0F1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006636-A8D7-44B2-969B-E463B7F9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2C66D"/>
                </a:solidFill>
              </a:defRPr>
            </a:pPr>
            <a:r>
              <a:rPr sz="2850" b="1" i="0">
                <a:solidFill>
                  <a:srgbClr val="F2C66D"/>
                </a:solidFill>
              </a:rPr>
              <a:t>$106,711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76C36-5A7D-41D6-BB89-E3FD168E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5D4D8"/>
                </a:solidFill>
              </a:defRPr>
            </a:pPr>
            <a:r>
              <a:rPr sz="1125" b="1" i="0">
                <a:solidFill>
                  <a:srgbClr val="C5D4D8"/>
                </a:solidFill>
              </a:rPr>
              <a:t>HISTORICAL ENDING WEALTH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75CBD-2826-4688-9CF2-AE1B037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578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+$38,629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E779D-EB07-4AA8-83E6-E7E3455C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816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D4D8"/>
                </a:solidFill>
              </a:defRPr>
            </a:pPr>
            <a:r>
              <a:rPr sz="900" b="1" i="0">
                <a:solidFill>
                  <a:srgbClr val="C5D4D8"/>
                </a:solidFill>
              </a:rPr>
              <a:t>VERSUS THE S&amp;P 500 TRACKER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C65E72-F1B4-48F8-8252-BC7C3ABF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578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B9DFD2"/>
                </a:solidFill>
              </a:defRPr>
            </a:pPr>
            <a:r>
              <a:rPr sz="2850" b="1" i="0">
                <a:solidFill>
                  <a:srgbClr val="B9DFD2"/>
                </a:solidFill>
              </a:rPr>
              <a:t>+$153.31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5841B-3297-4C4A-B357-5EFBBC60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816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D4D8"/>
                </a:solidFill>
              </a:defRPr>
            </a:pPr>
            <a:r>
              <a:rPr sz="900" b="1" i="0">
                <a:solidFill>
                  <a:srgbClr val="C5D4D8"/>
                </a:solidFill>
              </a:rPr>
              <a:t>FIRST PAPER SESSION VS SPY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FBE3B5-E5CC-40D7-87E9-D56DC55D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2578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E56B5D"/>
                </a:solidFill>
              </a:defRPr>
            </a:pPr>
            <a:r>
              <a:rPr sz="2850" b="1" i="0">
                <a:solidFill>
                  <a:srgbClr val="E56B5D"/>
                </a:solidFill>
              </a:rPr>
              <a:t>$500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FAF199-8925-4DE4-877B-8C9344C7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816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5D4D8"/>
                </a:solidFill>
              </a:defRPr>
            </a:pPr>
            <a:r>
              <a:rPr sz="975" b="1" i="0">
                <a:solidFill>
                  <a:srgbClr val="C5D4D8"/>
                </a:solidFill>
              </a:rPr>
              <a:t>MAX LOSS / OPTIONS TRADE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E8874-18D1-475A-A738-67492B4D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2C8"/>
                </a:solidFill>
              </a:defRPr>
            </a:pPr>
            <a:r>
              <a:rPr sz="1200" b="0" i="0">
                <a:solidFill>
                  <a:srgbClr val="AFC2C8"/>
                </a:solidFill>
              </a:rPr>
              <a:t>Bruce Wen  ·  Brandeis University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E07CFD-BDE7-4C75-AF67-A51B9CE6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FC2C8"/>
                </a:solidFill>
              </a:defRPr>
            </a:pPr>
            <a:r>
              <a:rPr sz="825" b="1" i="0">
                <a:solidFill>
                  <a:srgbClr val="AFC2C8"/>
                </a:solidFill>
              </a:rPr>
              <a:t>FINLY  /  ALPACA AI TRADING AGENTS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8ED437-3A5F-4163-8DF8-FB48DDEA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2C8"/>
                </a:solidFill>
              </a:defRPr>
            </a:pPr>
            <a:r>
              <a:rPr sz="825" b="1" i="0">
                <a:solidFill>
                  <a:srgbClr val="AFC2C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147982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860672-BC2C-4AA1-9957-A9FB7194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D68"/>
                </a:solidFill>
              </a:defRPr>
            </a:pPr>
            <a:r>
              <a:rPr sz="1125" b="1" i="0">
                <a:solidFill>
                  <a:srgbClr val="2F7D68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10EF8-C582-4379-8DA9-3390956D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22A3E"/>
                </a:solidFill>
              </a:defRPr>
            </a:pPr>
            <a:r>
              <a:rPr sz="3300" b="1" i="0">
                <a:solidFill>
                  <a:srgbClr val="122A3E"/>
                </a:solidFill>
              </a:rPr>
              <a:t>A trading bot is hard to trust when one model can research, size, and send.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3932A-6F26-40B4-91CA-D7593B44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56B5D"/>
                </a:solidFill>
              </a:defRPr>
            </a:pPr>
            <a:r>
              <a:rPr sz="1275" b="1" i="0">
                <a:solidFill>
                  <a:srgbClr val="E56B5D"/>
                </a:solidFill>
              </a:rPr>
              <a:t>COMMON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2429D-549C-4ABE-B964-CD13DAEE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20955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7DED8"/>
          </a:solidFill>
          <a:ln xmlns:a="http://schemas.openxmlformats.org/drawingml/2006/main" w="19050">
            <a:solidFill>
              <a:srgbClr val="E56B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3DE5F-17C6-4891-B594-6BB4686E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22A3E"/>
                </a:solidFill>
              </a:defRPr>
            </a:pPr>
            <a:r>
              <a:rPr sz="1725" b="1" i="0">
                <a:solidFill>
                  <a:srgbClr val="122A3E"/>
                </a:solidFill>
              </a:rPr>
              <a:t>ONE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9AFF3-8924-4AE1-A648-5D45F313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27078"/>
                </a:solidFill>
              </a:defRPr>
            </a:pPr>
            <a:r>
              <a:rPr sz="1275" b="0" i="0">
                <a:solidFill>
                  <a:srgbClr val="627078"/>
                </a:solidFill>
              </a:rPr>
              <a:t>reads · sizes · writes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6F4A0-C5F9-49D1-B46F-83121BCF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5750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E56B5D"/>
                </a:solidFill>
              </a:defRPr>
            </a:pPr>
            <a:r>
              <a:rPr sz="3450" b="1" i="0">
                <a:solidFill>
                  <a:srgbClr val="E56B5D"/>
                </a:solidFill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6D5E1-E820-40DA-BDD1-36AD2199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90800"/>
            <a:ext cx="17145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B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D0A87-862E-4DA9-B80C-631A6B42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051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22A3E"/>
                </a:solidFill>
              </a:defRPr>
            </a:pPr>
            <a:r>
              <a:rPr sz="1725" b="1" i="0">
                <a:solidFill>
                  <a:srgbClr val="122A3E"/>
                </a:solidFill>
              </a:rPr>
              <a:t>ACCOUNT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517CE-D583-455B-B6EE-D506C07E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766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E56B5D"/>
                </a:solidFill>
              </a:defRPr>
            </a:pPr>
            <a:r>
              <a:rPr sz="1200" b="0" i="0">
                <a:solidFill>
                  <a:srgbClr val="E56B5D"/>
                </a:solidFill>
              </a:rPr>
              <a:t>one confident error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AA106-1F30-4C46-8FF9-D74A837E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52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F7D68"/>
                </a:solidFill>
              </a:defRPr>
            </a:pPr>
            <a:r>
              <a:rPr sz="1275" b="1" i="0">
                <a:solidFill>
                  <a:srgbClr val="2F7D68"/>
                </a:solidFill>
              </a:rPr>
              <a:t>FINLY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5CE591-40F1-463F-81AA-27ACD3F6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90800"/>
            <a:ext cx="13144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3F0EA"/>
          </a:solidFill>
          <a:ln xmlns:a="http://schemas.openxmlformats.org/drawingml/2006/main" w="19050">
            <a:solidFill>
              <a:srgbClr val="2F7D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0C1C1A-496B-4359-B458-626BC157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F7D68"/>
                </a:solidFill>
              </a:defRPr>
            </a:pPr>
            <a:r>
              <a:rPr sz="1875" b="1" i="0">
                <a:solidFill>
                  <a:srgbClr val="2F7D68"/>
                </a:solidFill>
              </a:rPr>
              <a:t>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E41B3-1060-4D40-AA6E-84711AEA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480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27078"/>
                </a:solidFill>
              </a:defRPr>
            </a:pPr>
            <a:r>
              <a:rPr sz="1275" b="0" i="0">
                <a:solidFill>
                  <a:srgbClr val="627078"/>
                </a:solidFill>
              </a:rPr>
              <a:t>interprets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9746F2-6D69-4438-B49B-155EF1D3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5750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2F7D68"/>
                </a:solidFill>
              </a:defRPr>
            </a:pPr>
            <a:r>
              <a:rPr sz="3450" b="1" i="0">
                <a:solidFill>
                  <a:srgbClr val="2F7D68"/>
                </a:solidFill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86F04D-CC9E-4FC5-A3CE-81CF4252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90800"/>
            <a:ext cx="13144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D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EB8582-0428-43E3-8769-36601956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F7D68"/>
                </a:solidFill>
              </a:defRPr>
            </a:pPr>
            <a:r>
              <a:rPr sz="1875" b="1" i="0">
                <a:solidFill>
                  <a:srgbClr val="2F7D68"/>
                </a:solidFill>
              </a:rPr>
              <a:t>CODE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EA060A-8E3A-47B5-8691-7FF1A1BE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480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27078"/>
                </a:solidFill>
              </a:defRPr>
            </a:pPr>
            <a:r>
              <a:rPr sz="1275" b="0" i="0">
                <a:solidFill>
                  <a:srgbClr val="627078"/>
                </a:solidFill>
              </a:rPr>
              <a:t>fixes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F51657-4727-4158-9025-41465511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5750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2F7D68"/>
                </a:solidFill>
              </a:defRPr>
            </a:pPr>
            <a:r>
              <a:rPr sz="3450" b="1" i="0">
                <a:solidFill>
                  <a:srgbClr val="2F7D68"/>
                </a:solidFill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18DD95-FD5C-4601-8403-B85E544E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90800"/>
            <a:ext cx="13144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D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215438-B7C2-4D64-B6DE-9835C34C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575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F7D68"/>
                </a:solidFill>
              </a:defRPr>
            </a:pPr>
            <a:r>
              <a:rPr sz="1875" b="1" i="0">
                <a:solidFill>
                  <a:srgbClr val="2F7D68"/>
                </a:solidFill>
              </a:rPr>
              <a:t>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8B5C7D-AF49-467A-9F96-138A335E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480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27078"/>
                </a:solidFill>
              </a:defRPr>
            </a:pPr>
            <a:r>
              <a:rPr sz="1275" b="0" i="0">
                <a:solidFill>
                  <a:srgbClr val="627078"/>
                </a:solidFill>
              </a:rPr>
              <a:t>permits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9D7135-6486-49AD-8608-79ACBDEB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2F7D68"/>
                </a:solidFill>
              </a:defRPr>
            </a:pPr>
            <a:r>
              <a:rPr sz="3450" b="1" i="0">
                <a:solidFill>
                  <a:srgbClr val="2F7D68"/>
                </a:solidFill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E67877-D58E-4314-815B-6A94A090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590800"/>
            <a:ext cx="704850" cy="1085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2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424B1B-1CAB-4E25-9353-47B51EEC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99085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SEND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9F909A-F172-4293-9A9F-025FEC0E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03A21B-85F6-4BFC-84FE-409177FF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F7D68"/>
                </a:solidFill>
              </a:defRPr>
            </a:pPr>
            <a:r>
              <a:rPr sz="2400" b="1" i="0">
                <a:solidFill>
                  <a:srgbClr val="2F7D68"/>
                </a:solidFill>
              </a:rPr>
              <a:t>Useful AI judgment—without handing the model the account keys.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EA65DC-D337-4DDE-B730-3BAAC9E1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27078"/>
                </a:solidFill>
              </a:defRPr>
            </a:pPr>
            <a:r>
              <a:rPr sz="1725" b="0" i="0">
                <a:solidFill>
                  <a:srgbClr val="627078"/>
                </a:solidFill>
              </a:rPr>
              <a:t>Finly's rules choose the maximum risk, the exact option pair, the order details, and whether a trade may be sent.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843913-7D41-4A03-8049-856E4580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27078"/>
                </a:solidFill>
              </a:defRPr>
            </a:pPr>
            <a:r>
              <a:rPr sz="825" b="1" i="0">
                <a:solidFill>
                  <a:srgbClr val="627078"/>
                </a:solidFill>
              </a:rPr>
              <a:t>FINLY  /  ALPACA AI TRADING AGENTS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7B7792-BF7C-496E-B125-F2C0D4CE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27078"/>
                </a:solidFill>
              </a:defRPr>
            </a:pPr>
            <a:r>
              <a:rPr sz="825" b="1" i="0">
                <a:solidFill>
                  <a:srgbClr val="62707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20642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29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CE8F17-4E24-4248-B534-CF6B196D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9DFD2"/>
                </a:solidFill>
              </a:defRPr>
            </a:pPr>
            <a:r>
              <a:rPr sz="1125" b="1" i="0">
                <a:solidFill>
                  <a:srgbClr val="B9DFD2"/>
                </a:solidFill>
              </a:rPr>
              <a:t>HOW THE PRODUCT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7CCCB-2AF6-4585-9BED-60D2DECC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AI explains the opportunity. Rules decide whether money can move.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61E24-AB58-484C-AF06-48CC5D0F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8575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53A55"/>
          </a:solidFill>
          <a:ln xmlns:a="http://schemas.openxmlformats.org/drawingml/2006/main" w="19050">
            <a:solidFill>
              <a:srgbClr val="B9DF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70713-7292-4674-BEDB-DE4B7684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9DFD2"/>
                </a:solidFill>
              </a:defRPr>
            </a:pPr>
            <a:r>
              <a:rPr sz="1200" b="1" i="0">
                <a:solidFill>
                  <a:srgbClr val="B9DFD2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0A3C7-D581-4180-98B8-D12DC481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62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9DFD2"/>
                </a:solidFill>
              </a:defRPr>
            </a:pPr>
            <a:r>
              <a:rPr sz="1200" b="1" i="0">
                <a:solidFill>
                  <a:srgbClr val="B9DFD2"/>
                </a:solidFill>
              </a:rPr>
              <a:t>FINLY READS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F9338-D1E2-4549-8D2D-8F81260F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Bounded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60672-D665-45E3-8774-6F3021D1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400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7E3E5"/>
                </a:solidFill>
              </a:defRPr>
            </a:pPr>
            <a:r>
              <a:rPr sz="1500" b="0" i="0">
                <a:solidFill>
                  <a:srgbClr val="D7E3E5"/>
                </a:solidFill>
              </a:rPr>
              <a:t>Code reads prices and options; AI reads public Alpaca news.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3C9E7-80FB-4966-BB23-92426AA5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52650"/>
            <a:ext cx="28575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53A55"/>
          </a:solidFill>
          <a:ln xmlns:a="http://schemas.openxmlformats.org/drawingml/2006/main" w="19050">
            <a:solidFill>
              <a:srgbClr val="F2C6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0E696-05C3-455F-A04A-5EFEDBE3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62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2C66D"/>
                </a:solidFill>
              </a:defRPr>
            </a:pPr>
            <a:r>
              <a:rPr sz="1200" b="1" i="0">
                <a:solidFill>
                  <a:srgbClr val="F2C66D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2C657-5674-45C2-9A78-3A4B1C81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62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2C66D"/>
                </a:solidFill>
              </a:defRPr>
            </a:pPr>
            <a:r>
              <a:rPr sz="1200" b="1" i="0">
                <a:solidFill>
                  <a:srgbClr val="F2C66D"/>
                </a:solidFill>
              </a:rPr>
              <a:t>CODE BUILDS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36630-6FD7-4CF5-96A1-5780A7EA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765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Exact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665BD-2D6C-431E-BCC0-0D62A6D6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2400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7E3E5"/>
                </a:solidFill>
              </a:defRPr>
            </a:pPr>
            <a:r>
              <a:rPr sz="1500" b="0" i="0">
                <a:solidFill>
                  <a:srgbClr val="D7E3E5"/>
                </a:solidFill>
              </a:rPr>
              <a:t>Position size, maximum loss, and every broker-order field.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C921A-B721-49BC-9F32-A1B23BCA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05150"/>
            <a:ext cx="514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B9DFD2"/>
                </a:solidFill>
              </a:defRPr>
            </a:pPr>
            <a:r>
              <a:rPr sz="3300" b="1" i="0">
                <a:solidFill>
                  <a:srgbClr val="B9DFD2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F9813-F4B3-4A76-9DB6-EFD39438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05150"/>
            <a:ext cx="514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F2C66D"/>
                </a:solidFill>
              </a:defRPr>
            </a:pPr>
            <a:r>
              <a:rPr sz="3300" b="1" i="0">
                <a:solidFill>
                  <a:srgbClr val="F2C66D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A34140-3A6F-44A5-9A40-6A7862A3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52650"/>
            <a:ext cx="40005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53A55"/>
          </a:solidFill>
          <a:ln xmlns:a="http://schemas.openxmlformats.org/drawingml/2006/main" w="19050">
            <a:solidFill>
              <a:srgbClr val="E56B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781A88-0677-4328-BCE7-21713B72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62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56B5D"/>
                </a:solidFill>
              </a:defRPr>
            </a:pPr>
            <a:r>
              <a:rPr sz="1200" b="1" i="0">
                <a:solidFill>
                  <a:srgbClr val="E56B5D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0B9E49-0F51-44A8-BA22-F1A216D3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62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56B5D"/>
                </a:solidFill>
              </a:defRPr>
            </a:pPr>
            <a:r>
              <a:rPr sz="1200" b="1" i="0">
                <a:solidFill>
                  <a:srgbClr val="E56B5D"/>
                </a:solidFill>
              </a:rPr>
              <a:t>RULES DECIDE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4B7418-2B2F-4642-99A5-5E416B55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03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Can money move?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1B0B06-3363-400C-982B-FF320049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90900"/>
            <a:ext cx="16383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F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36D930-1BEC-4AED-A704-FD13CC11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242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81C4A9-7A6A-4F22-A094-05C2A06B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909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ORDER READY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7838CB-922F-402A-BAB0-38F60DC3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390900"/>
            <a:ext cx="1676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56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3A5AC9-D6DA-4731-BB00-C120F8EA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5242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FAIL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04A6C9-F79A-426E-ABC9-7EBB3066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909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NO TRADE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DABBA9-1F7F-41B1-A2EF-43F06109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B2BBA7-67FE-4553-AACC-5504405F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9DFD2"/>
                </a:solidFill>
              </a:defRPr>
            </a:pPr>
            <a:r>
              <a:rPr sz="1800" b="1" i="0">
                <a:solidFill>
                  <a:srgbClr val="B9DFD2"/>
                </a:solidFill>
              </a:rPr>
              <a:t>One strategy, two sleeves: allocation carries exposure; options activate only when every extra gate passes.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61C1A8-82C0-49E9-9805-C0F87915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FC2C8"/>
                </a:solidFill>
              </a:defRPr>
            </a:pPr>
            <a:r>
              <a:rPr sz="825" b="1" i="0">
                <a:solidFill>
                  <a:srgbClr val="AFC2C8"/>
                </a:solidFill>
              </a:rPr>
              <a:t>FINLY  /  ALPACA AI TRADING AGENTS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106B8B-FD42-4A48-88C7-A39C8325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2C8"/>
                </a:solidFill>
              </a:defRPr>
            </a:pPr>
            <a:r>
              <a:rPr sz="825" b="1" i="0">
                <a:solidFill>
                  <a:srgbClr val="AFC2C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824132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DB000-BB0A-4B56-A914-FF02662F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D68"/>
                </a:solidFill>
              </a:defRPr>
            </a:pPr>
            <a:r>
              <a:rPr sz="1125" b="1" i="0">
                <a:solidFill>
                  <a:srgbClr val="2F7D68"/>
                </a:solidFill>
              </a:rPr>
              <a:t>HISTORICAL REPLAY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B68B0-305F-4293-9266-71075121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22A3E"/>
                </a:solidFill>
              </a:defRPr>
            </a:pPr>
            <a:r>
              <a:rPr sz="3300" b="1" i="0">
                <a:solidFill>
                  <a:srgbClr val="122A3E"/>
                </a:solidFill>
              </a:rPr>
              <a:t>$10,000 became $106,711: $38,629 ahead of SPY.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FC407-D485-435F-9DF1-86896A2F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7078"/>
                </a:solidFill>
              </a:defRPr>
            </a:pPr>
            <a:r>
              <a:rPr sz="1200" b="0" i="0">
                <a:solidFill>
                  <a:srgbClr val="627078"/>
                </a:solidFill>
              </a:rPr>
              <a:t>Historical rule: 50% QQQ + 50% across three trend-selected sectors. Competition deployment: 97% of those weights + 3% cash.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291FC-36E0-469A-BAA7-48F398CF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7078"/>
                </a:solidFill>
              </a:defRPr>
            </a:pPr>
            <a:r>
              <a:rPr sz="1200" b="0" i="0">
                <a:solidFill>
                  <a:srgbClr val="627078"/>
                </a:solidFill>
              </a:rPr>
              <a:t>2013–2026 · same $10,000 start · modeled 0.05% cost per buy or sell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8667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69f262bb3f453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4A3E1-644E-4B63-B649-096412EE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336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F7D68"/>
                </a:solidFill>
              </a:defRPr>
            </a:pPr>
            <a:r>
              <a:rPr sz="3000" b="1" i="0">
                <a:solidFill>
                  <a:srgbClr val="2F7D68"/>
                </a:solidFill>
              </a:rPr>
              <a:t>$106,711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7961C-7241-4EEB-90BC-3B522F4C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574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27078"/>
                </a:solidFill>
              </a:defRPr>
            </a:pPr>
            <a:r>
              <a:rPr sz="1125" b="1" i="0">
                <a:solidFill>
                  <a:srgbClr val="627078"/>
                </a:solidFill>
              </a:rPr>
              <a:t>FINLY ENDING WEALTH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6FA10B-997D-49C6-92A1-C7E43BAB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813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2942"/>
                </a:solidFill>
              </a:defRPr>
            </a:pPr>
            <a:r>
              <a:rPr sz="2700" b="1" i="0">
                <a:solidFill>
                  <a:srgbClr val="0B2942"/>
                </a:solidFill>
              </a:rPr>
              <a:t>$68,082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CCB56-1D97-4C26-A719-754381AA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052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27078"/>
                </a:solidFill>
              </a:defRPr>
            </a:pPr>
            <a:r>
              <a:rPr sz="1125" b="1" i="0">
                <a:solidFill>
                  <a:srgbClr val="627078"/>
                </a:solidFill>
              </a:rPr>
              <a:t>SPY ENDING WEALTH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C9BC10-853D-4362-8D1A-751ED734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291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F7D68"/>
                </a:solidFill>
              </a:defRPr>
            </a:pPr>
            <a:r>
              <a:rPr sz="2550" b="1" i="0">
                <a:solidFill>
                  <a:srgbClr val="2F7D68"/>
                </a:solidFill>
              </a:rPr>
              <a:t>+967.11%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D114E-0C84-488F-AC96-74651879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529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27078"/>
                </a:solidFill>
              </a:defRPr>
            </a:pPr>
            <a:r>
              <a:rPr sz="1125" b="1" i="0">
                <a:solidFill>
                  <a:srgbClr val="627078"/>
                </a:solidFill>
              </a:rPr>
              <a:t>FINLY TOTAL RETURN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DC4DD-5CAE-47E6-926D-B0CAC8FD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3530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27078"/>
                </a:solidFill>
              </a:defRPr>
            </a:pPr>
            <a:r>
              <a:rPr sz="975" b="1" i="0">
                <a:solidFill>
                  <a:srgbClr val="627078"/>
                </a:solidFill>
              </a:rPr>
              <a:t>WORST DECLINE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8765CE-C517-4EE5-8207-52775317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626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A3E"/>
                </a:solidFill>
              </a:defRPr>
            </a:pPr>
            <a:r>
              <a:rPr sz="1350" b="1" i="0">
                <a:solidFill>
                  <a:srgbClr val="122A3E"/>
                </a:solidFill>
              </a:rPr>
              <a:t>Finly −28.99%</a:t>
            </a:r>
          </a:p>
          <a:p xmlns:a="http://schemas.openxmlformats.org/drawingml/2006/main">
            <a:pPr algn="l">
              <a:defRPr sz="1350" b="1" i="0">
                <a:solidFill>
                  <a:srgbClr val="122A3E"/>
                </a:solidFill>
              </a:defRPr>
            </a:pPr>
            <a:r>
              <a:rPr sz="1350" b="1" i="0">
                <a:solidFill>
                  <a:srgbClr val="122A3E"/>
                </a:solidFill>
              </a:rPr>
              <a:t>SPY −33.72%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57200-598E-4032-B253-7C08A490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27078"/>
                </a:solidFill>
              </a:defRPr>
            </a:pPr>
            <a:r>
              <a:rPr sz="825" b="1" i="0">
                <a:solidFill>
                  <a:srgbClr val="627078"/>
                </a:solidFill>
              </a:rPr>
              <a:t>FINLY  /  ALPACA AI TRADING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3305D5-9690-48FF-9D74-B0C7B586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27078"/>
                </a:solidFill>
              </a:defRPr>
            </a:pPr>
            <a:r>
              <a:rPr sz="825" b="1" i="0">
                <a:solidFill>
                  <a:srgbClr val="62707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778775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29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C06751-8F50-4FFA-9BF6-55166E85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2C66D"/>
                </a:solidFill>
              </a:defRPr>
            </a:pPr>
            <a:r>
              <a:rPr sz="1125" b="1" i="0">
                <a:solidFill>
                  <a:srgbClr val="F2C66D"/>
                </a:solidFill>
              </a:rPr>
              <a:t>A SECOND HISTORICAL STRESS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483A5-15F1-4794-ABB4-60A1FEFD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</a:defRPr>
            </a:pPr>
            <a:r>
              <a:rPr sz="3075" b="1" i="0">
                <a:solidFill>
                  <a:srgbClr val="FFFFFF"/>
                </a:solidFill>
              </a:rPr>
              <a:t>An 80-year market test stayed ahead across all 21 tested monthly rebalance schedules.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1EE97-3A40-438A-AD31-86C97525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1028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7B602-F778-403A-808C-92321F2F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F7741-6876-4FA4-B013-565E0C99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400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D7716-0E67-49A5-8BAF-8C5723AE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2C66D"/>
                </a:solidFill>
              </a:defRPr>
            </a:pPr>
            <a:r>
              <a:rPr sz="1425" b="1" i="0">
                <a:solidFill>
                  <a:srgbClr val="F2C66D"/>
                </a:solidFill>
              </a:rPr>
              <a:t>1927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24F11-FCA4-497F-BFD4-54ADA4EB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24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2C66D"/>
                </a:solidFill>
              </a:defRPr>
            </a:pPr>
            <a:r>
              <a:rPr sz="1425" b="1" i="0">
                <a:solidFill>
                  <a:srgbClr val="F2C66D"/>
                </a:solidFill>
              </a:rPr>
              <a:t>2007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AB0336-2D04-44BB-B552-4FA8CFA1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336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21,218 public market days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1E1BC-ACB7-45B9-9463-4405C8B6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2C66D"/>
                </a:solidFill>
              </a:defRPr>
            </a:pPr>
            <a:r>
              <a:rPr sz="975" b="1" i="0">
                <a:solidFill>
                  <a:srgbClr val="F2C66D"/>
                </a:solidFill>
              </a:rPr>
              <a:t>PUBLIC INDUSTRY DATASET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684DF-6D2B-4E9A-86DE-1F7BF45B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B9DFD2"/>
                </a:solidFill>
              </a:defRPr>
            </a:pPr>
            <a:r>
              <a:rPr sz="3600" b="1" i="0">
                <a:solidFill>
                  <a:srgbClr val="B9DFD2"/>
                </a:solidFill>
              </a:rPr>
              <a:t>13.37%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0C98C-FE05-419E-B44F-4B8E7DD7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4D4D8"/>
                </a:solidFill>
              </a:defRPr>
            </a:pPr>
            <a:r>
              <a:rPr sz="1125" b="1" i="0">
                <a:solidFill>
                  <a:srgbClr val="C4D4D8"/>
                </a:solidFill>
              </a:rPr>
              <a:t>FINLY GROWTH PER YEAR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F2E2C-E8FC-4E90-89C0-D92C53E3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FFF"/>
                </a:solidFill>
              </a:defRPr>
            </a:pPr>
            <a:r>
              <a:rPr sz="1650" b="0" i="0">
                <a:solidFill>
                  <a:srgbClr val="FFFFFF"/>
                </a:solidFill>
              </a:rPr>
              <a:t>vs 9.48% market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05C2A1-76F5-465D-B672-41535D5B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528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2C66D"/>
                </a:solidFill>
              </a:defRPr>
            </a:pPr>
            <a:r>
              <a:rPr sz="3600" b="1" i="0">
                <a:solidFill>
                  <a:srgbClr val="F2C66D"/>
                </a:solidFill>
              </a:rPr>
              <a:t>21 / 21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D5BDF2-17FF-4A61-8AEA-39BDD8AF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766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4D4D8"/>
                </a:solidFill>
              </a:defRPr>
            </a:pPr>
            <a:r>
              <a:rPr sz="1125" b="1" i="0">
                <a:solidFill>
                  <a:srgbClr val="C4D4D8"/>
                </a:solidFill>
              </a:rPr>
              <a:t>TESTED MONTHLY REBALANCE SCHEDULES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D51F67-3B68-4FFD-804B-CE5AF0DC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EB6EED-3B3F-4114-9F03-62F2A326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0F98EA-4258-4AEE-B6D6-A7A25649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1F66D7-D6E8-4DEB-A0FC-13215230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50CA9B-9169-4070-804A-ADC59808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99DF87-8F2C-448E-8B37-38793290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02CAF9-EDA0-4F3F-BEE0-ED15C540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8DA48B-6FCB-403C-BEB4-FC652658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CD7C63-0A9E-4C46-A747-30213450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904DF5-A3AA-4058-98EF-319A1AD1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1795BA-0533-4B04-A47D-5F860963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9911ED-4E99-4AE7-9532-EC4D7503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10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079DF7-56D4-4166-A275-3B57D2B7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610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1C88CE-BA59-4E95-B3AE-CEA1B67E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10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24E6EA-B742-4FDC-B9DA-15130F71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610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EECFEA-D970-4AAE-8508-A1438C9B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610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7F343D-9A5D-4D2E-8DCD-0ADE8CA9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610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BF9CB1-B626-4887-9995-3044A08C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610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19CB6F-A217-4265-B791-BA9B0963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610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B6FAC5-5D69-40BA-AD39-37C727A4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10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C92D47-1C04-49BE-8120-5CE4DDA5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610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28A325-7264-4A61-BA6D-D2E746FF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528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2C66D"/>
                </a:solidFill>
              </a:defRPr>
            </a:pPr>
            <a:r>
              <a:rPr sz="3000" b="1" i="0">
                <a:solidFill>
                  <a:srgbClr val="F2C66D"/>
                </a:solidFill>
              </a:rPr>
              <a:t>+2.45 points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DC2435-73A1-4805-B1DF-FCD77D55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766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4D4D8"/>
                </a:solidFill>
              </a:defRPr>
            </a:pPr>
            <a:r>
              <a:rPr sz="1125" b="1" i="0">
                <a:solidFill>
                  <a:srgbClr val="C4D4D8"/>
                </a:solidFill>
              </a:rPr>
              <a:t>ANNUALIZED GROWTH EDGE AFTER 0.25% COSTS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F16F14-89D7-4FE0-BCAB-13C02FE9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86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0.05%  →  0.10%  →  0.25%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E7F849-48C7-40F8-9D43-79E44C9D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24400"/>
            <a:ext cx="22098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58B2D3-3079-4156-8F53-F52DBFE6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24400"/>
            <a:ext cx="742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D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D4B11C-9717-49D4-8262-E6FF0E07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F2377C-F467-4AAD-8655-37A59F2F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B9DFD2"/>
                </a:solidFill>
              </a:defRPr>
            </a:pPr>
            <a:r>
              <a:rPr sz="1950" b="1" i="0">
                <a:solidFill>
                  <a:srgbClr val="B9DFD2"/>
                </a:solidFill>
              </a:rPr>
              <a:t>Its worst decline was 16.31 percentage points smaller than the market proxy.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F39256-D622-4783-AF1D-E4A4163F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FC2C8"/>
                </a:solidFill>
              </a:defRPr>
            </a:pPr>
            <a:r>
              <a:rPr sz="825" b="1" i="0">
                <a:solidFill>
                  <a:srgbClr val="AFC2C8"/>
                </a:solidFill>
              </a:rPr>
              <a:t>FINLY  /  ALPACA AI TRADING AGENTS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8EB09A-F01B-4C8E-96CB-8D9854EC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2C8"/>
                </a:solidFill>
              </a:defRPr>
            </a:pPr>
            <a:r>
              <a:rPr sz="825" b="1" i="0">
                <a:solidFill>
                  <a:srgbClr val="AFC2C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412304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66ED0C-0A3E-4549-B1B9-F73A508B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D68"/>
                </a:solidFill>
              </a:defRPr>
            </a:pPr>
            <a:r>
              <a:rPr sz="1125" b="1" i="0">
                <a:solidFill>
                  <a:srgbClr val="2F7D68"/>
                </a:solidFill>
              </a:rPr>
              <a:t>ILLUSTRATIVE OPTIONS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33B87-3EC4-441D-9678-A9E5F9A8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22A3E"/>
                </a:solidFill>
              </a:defRPr>
            </a:pPr>
            <a:r>
              <a:rPr sz="3300" b="1" i="0">
                <a:solidFill>
                  <a:srgbClr val="122A3E"/>
                </a:solidFill>
              </a:rPr>
              <a:t>Before Finly prepares an options order, it fixes the most the trade can lose.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6191250" cy="3371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ca10f5fabe45e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141AF-8049-48F4-A32F-E97513AA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7078"/>
                </a:solidFill>
              </a:defRPr>
            </a:pPr>
            <a:r>
              <a:rPr sz="1050" b="1" i="0">
                <a:solidFill>
                  <a:srgbClr val="627078"/>
                </a:solidFill>
              </a:rPr>
              <a:t>PAYOFF AT EXPIRY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FA881-1B67-4B51-BEA7-7F65403F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383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F7D68"/>
                </a:solidFill>
              </a:defRPr>
            </a:pPr>
            <a:r>
              <a:rPr sz="2100" b="1" i="0">
                <a:solidFill>
                  <a:srgbClr val="2F7D68"/>
                </a:solidFill>
              </a:rPr>
              <a:t>+$634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146B5-BAEA-4145-B179-84517B1E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2100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E56B5D"/>
                </a:solidFill>
              </a:defRPr>
            </a:pPr>
            <a:r>
              <a:rPr sz="2100" b="1" i="0">
                <a:solidFill>
                  <a:srgbClr val="E56B5D"/>
                </a:solidFill>
              </a:rPr>
              <a:t>−$366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1167C-9352-4C75-B32D-F1C03D78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47850"/>
            <a:ext cx="4343400" cy="356235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0B294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2F07D-52DB-4F13-AE36-E5A4AA16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14550"/>
            <a:ext cx="363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9DFD2"/>
                </a:solidFill>
              </a:defRPr>
            </a:pPr>
            <a:r>
              <a:rPr sz="1200" b="1" i="0">
                <a:solidFill>
                  <a:srgbClr val="B9DFD2"/>
                </a:solidFill>
              </a:rPr>
              <a:t>ILLUSTRATIVE TWO-OPTION TRADE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2B4D9-20C0-49AF-951A-1A9F67C8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717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SPY falling-price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45466-3FF1-4501-9191-160DDF17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432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2C66D"/>
                </a:solidFill>
              </a:defRPr>
            </a:pPr>
            <a:r>
              <a:rPr sz="1200" b="1" i="0">
                <a:solidFill>
                  <a:srgbClr val="F2C66D"/>
                </a:solidFill>
              </a:rPr>
              <a:t>BUY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B0B630-7BA6-4FF6-86B1-A1198332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1 × SPY 560 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4E695-5111-4855-B70C-71642D38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766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56B5D"/>
                </a:solidFill>
              </a:defRPr>
            </a:pPr>
            <a:r>
              <a:rPr sz="1200" b="1" i="0">
                <a:solidFill>
                  <a:srgbClr val="E56B5D"/>
                </a:solidFill>
              </a:rPr>
              <a:t>SELL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FA041-15CB-4CCF-943C-C86792A7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76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1 × SPY 550 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B7EFA8-A01A-4971-B8E0-FCA25E13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100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2C66D"/>
                </a:solidFill>
              </a:defRPr>
            </a:pPr>
            <a:r>
              <a:rPr sz="1200" b="1" i="0">
                <a:solidFill>
                  <a:srgbClr val="F2C66D"/>
                </a:solidFill>
              </a:rPr>
              <a:t>LIMIT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05489A-8874-4217-97E9-DF04DFDE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10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$3.66 debit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9080BB-9F40-4F57-A168-2302871F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7625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C2EC79-0840-41A9-A4C5-4D560FDE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9339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C4D4D8"/>
                </a:solidFill>
              </a:defRPr>
            </a:pPr>
            <a:r>
              <a:rPr sz="1275" b="0" i="0">
                <a:solidFill>
                  <a:srgbClr val="C4D4D8"/>
                </a:solidFill>
              </a:rPr>
              <a:t>Simulated plan · no broker order or fill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9843B5-D428-46EA-BF84-3CE627EC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E56B5D"/>
                </a:solidFill>
              </a:defRPr>
            </a:pPr>
            <a:r>
              <a:rPr sz="2850" b="1" i="0">
                <a:solidFill>
                  <a:srgbClr val="E56B5D"/>
                </a:solidFill>
              </a:rPr>
              <a:t>$366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67664-0C7D-4082-9813-027D50D4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674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27078"/>
                </a:solidFill>
              </a:defRPr>
            </a:pPr>
            <a:r>
              <a:rPr sz="1125" b="1" i="0">
                <a:solidFill>
                  <a:srgbClr val="627078"/>
                </a:solidFill>
              </a:rPr>
              <a:t>MAXIMUM LOSS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2D6713-2919-44A8-BD1E-85770A6B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5435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F7D68"/>
                </a:solidFill>
              </a:defRPr>
            </a:pPr>
            <a:r>
              <a:rPr sz="2850" b="1" i="0">
                <a:solidFill>
                  <a:srgbClr val="2F7D68"/>
                </a:solidFill>
              </a:rPr>
              <a:t>$634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298AAB-A7BD-4E49-BAB1-9D751632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60674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27078"/>
                </a:solidFill>
              </a:defRPr>
            </a:pPr>
            <a:r>
              <a:rPr sz="1125" b="1" i="0">
                <a:solidFill>
                  <a:srgbClr val="627078"/>
                </a:solidFill>
              </a:rPr>
              <a:t>MAXIMUM GAIN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EBE965-4401-4A18-B67D-B1B29616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054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F7D68"/>
                </a:solidFill>
              </a:defRPr>
            </a:pPr>
            <a:r>
              <a:rPr sz="2700" b="1" i="0">
                <a:solidFill>
                  <a:srgbClr val="2F7D68"/>
                </a:solidFill>
              </a:rPr>
              <a:t>4 /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27B6D0-D02D-4261-9D0E-C14DC8DB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198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27078"/>
                </a:solidFill>
              </a:defRPr>
            </a:pPr>
            <a:r>
              <a:rPr sz="825" b="1" i="0">
                <a:solidFill>
                  <a:srgbClr val="627078"/>
                </a:solidFill>
              </a:rPr>
              <a:t>SAME DECISION AFTER EACH SOURCE REMOVAL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F2EA16-30D2-4E69-9087-13BD6725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054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F7D68"/>
                </a:solidFill>
              </a:defRPr>
            </a:pPr>
            <a:r>
              <a:rPr sz="2700" b="1" i="0">
                <a:solidFill>
                  <a:srgbClr val="2F7D68"/>
                </a:solidFill>
              </a:rPr>
              <a:t>32 / 32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79B613-713C-473A-B8CC-39D3636D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27078"/>
                </a:solidFill>
              </a:defRPr>
            </a:pPr>
            <a:r>
              <a:rPr sz="825" b="1" i="0">
                <a:solidFill>
                  <a:srgbClr val="627078"/>
                </a:solidFill>
              </a:rPr>
              <a:t>SAME DECISION AFTER SMALL INPUT CHANGES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B5FA5C-661C-480F-90DA-553459D1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27078"/>
                </a:solidFill>
              </a:defRPr>
            </a:pPr>
            <a:r>
              <a:rPr sz="825" b="1" i="0">
                <a:solidFill>
                  <a:srgbClr val="627078"/>
                </a:solidFill>
              </a:rPr>
              <a:t>FINLY  /  ALPACA AI TRADING AGENTS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541C69-DB0E-4321-B1BB-C3F675D8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27078"/>
                </a:solidFill>
              </a:defRPr>
            </a:pPr>
            <a:r>
              <a:rPr sz="825" b="1" i="0">
                <a:solidFill>
                  <a:srgbClr val="62707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513821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29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C17819-8D9D-4E83-B3E6-0751E933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9DFD2"/>
                </a:solidFill>
              </a:defRPr>
            </a:pPr>
            <a:r>
              <a:rPr sz="1125" b="1" i="0">
                <a:solidFill>
                  <a:srgbClr val="B9DFD2"/>
                </a:solidFill>
              </a:rPr>
              <a:t>VERIFIED $100,000 PAPER ACCOUNT / FIRST 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80D21-357E-4C17-9B0F-BA4C1762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FFFF"/>
                </a:solidFill>
              </a:defRPr>
            </a:pPr>
            <a:r>
              <a:rPr sz="3300" b="1" i="0">
                <a:solidFill>
                  <a:srgbClr val="FFFFFF"/>
                </a:solidFill>
              </a:rPr>
              <a:t>Finly closed its first paper session $153.31 ahead of SPY.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638E4-AC6E-4A30-BD78-0A3096B2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71056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19050">
            <a:solidFill>
              <a:srgbClr val="B9DF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35DFA-D8F5-4D16-AADD-F797FA5A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F7D68"/>
                </a:solidFill>
              </a:defRPr>
            </a:pPr>
            <a:r>
              <a:rPr sz="1125" b="1" i="0">
                <a:solidFill>
                  <a:srgbClr val="2F7D68"/>
                </a:solidFill>
              </a:rPr>
              <a:t>SAME $100,000 START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481EC-4F0A-4E9B-B5C3-38E8EE1B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627078"/>
                </a:solidFill>
              </a:defRPr>
            </a:pPr>
            <a:r>
              <a:rPr sz="1350" b="1" i="0">
                <a:solidFill>
                  <a:srgbClr val="627078"/>
                </a:solidFill>
              </a:rPr>
              <a:t>9:30 A.M.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E9C29-C806-40F7-B350-86840BEB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B2942"/>
                </a:solidFill>
              </a:defRPr>
            </a:pPr>
            <a:r>
              <a:rPr sz="2550" b="1" i="0">
                <a:solidFill>
                  <a:srgbClr val="0B2942"/>
                </a:solidFill>
              </a:rPr>
              <a:t>$100,000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64A13-BB99-4320-A142-6954E405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1945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2F7D68"/>
                </a:solidFill>
              </a:defRPr>
            </a:pPr>
            <a:r>
              <a:rPr sz="3450" b="1" i="0">
                <a:solidFill>
                  <a:srgbClr val="2F7D68"/>
                </a:solidFill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F0B8D-10F3-400E-A12A-C389482A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24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F7D68"/>
                </a:solidFill>
              </a:defRPr>
            </a:pPr>
            <a:r>
              <a:rPr sz="1350" b="1" i="0">
                <a:solidFill>
                  <a:srgbClr val="2F7D68"/>
                </a:solidFill>
              </a:rPr>
              <a:t>4:00 P.M.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F50BA-A1C5-4328-A392-4B7BB0E6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05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F7D68"/>
                </a:solidFill>
              </a:defRPr>
            </a:pPr>
            <a:r>
              <a:rPr sz="1200" b="1" i="0">
                <a:solidFill>
                  <a:srgbClr val="2F7D68"/>
                </a:solidFill>
              </a:rPr>
              <a:t>Finly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794F2F-D7E9-493C-B538-BF4ED0F0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90900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B2942"/>
                </a:solidFill>
              </a:defRPr>
            </a:pPr>
            <a:r>
              <a:rPr sz="2175" b="1" i="0">
                <a:solidFill>
                  <a:srgbClr val="0B2942"/>
                </a:solidFill>
              </a:rPr>
              <a:t>$100,095.32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9327C-26AD-4805-8F97-010B3C8D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05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E56B5D"/>
                </a:solidFill>
              </a:defRPr>
            </a:pPr>
            <a:r>
              <a:rPr sz="1200" b="1" i="0">
                <a:solidFill>
                  <a:srgbClr val="E56B5D"/>
                </a:solidFill>
              </a:rPr>
              <a:t>SPY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B3F24B-6E7C-4D11-B2E0-841EC035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9090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B2942"/>
                </a:solidFill>
              </a:defRPr>
            </a:pPr>
            <a:r>
              <a:rPr sz="2175" b="1" i="0">
                <a:solidFill>
                  <a:srgbClr val="0B2942"/>
                </a:solidFill>
              </a:rPr>
              <a:t>$99,942.01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0A556-9F9B-4614-B98D-F5417CF1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628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BD15A3-26EE-4877-AFBD-7F950C9D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27078"/>
                </a:solidFill>
              </a:defRPr>
            </a:pPr>
            <a:r>
              <a:rPr sz="1275" b="0" i="0">
                <a:solidFill>
                  <a:srgbClr val="627078"/>
                </a:solidFill>
              </a:rPr>
              <a:t>15 ETF fill events built the allocation sleeve · no options position was open at the close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4A06B6-05C3-4F17-8B64-EE170800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7105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1C9B8D-3EE2-4790-ACD0-60FD3B52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710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B9DFD2"/>
                </a:solidFill>
              </a:defRPr>
            </a:pPr>
            <a:r>
              <a:rPr sz="1650" b="1" i="0">
                <a:solidFill>
                  <a:srgbClr val="B9DFD2"/>
                </a:solidFill>
              </a:rPr>
              <a:t>One start, one close, one fair comparison.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AB86C9-78BD-499F-80B4-AD1B9440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7105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One strategy made both decisions: the allocation traded; the options sleeve was flat at the close rather than forcing a trade.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35F6D5-E711-4F3B-9031-08C9373A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9DFD2"/>
                </a:solidFill>
              </a:defRPr>
            </a:pPr>
            <a:r>
              <a:rPr sz="1125" b="1" i="0">
                <a:solidFill>
                  <a:srgbClr val="B9DFD2"/>
                </a:solidFill>
              </a:rPr>
              <a:t>FINLY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C02452-107D-4C2E-AE99-81362E25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384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+$95.32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5F1D64-5CC8-42C1-8C43-9957A9E0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14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4D4D8"/>
                </a:solidFill>
              </a:defRPr>
            </a:pPr>
            <a:r>
              <a:rPr sz="1200" b="0" i="0">
                <a:solidFill>
                  <a:srgbClr val="C4D4D8"/>
                </a:solidFill>
              </a:rPr>
              <a:t>virtual-money account profit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19C084-DD9F-4F32-B5CE-4AD73DBD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76600"/>
            <a:ext cx="327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554998-A6A7-4B29-9CA1-EEB29E3D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24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56B5D"/>
                </a:solidFill>
              </a:defRPr>
            </a:pPr>
            <a:r>
              <a:rPr sz="1125" b="1" i="0">
                <a:solidFill>
                  <a:srgbClr val="E56B5D"/>
                </a:solidFill>
              </a:rPr>
              <a:t>SPY · S&amp;P 500 TRACKER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4B76CC-47A3-4EB3-9F3B-CA5F5BEA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100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−$57.99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5791F9-B342-43B5-A8A1-BB2FAC9C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86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4D4D8"/>
                </a:solidFill>
              </a:defRPr>
            </a:pPr>
            <a:r>
              <a:rPr sz="1200" b="0" i="0">
                <a:solidFill>
                  <a:srgbClr val="C4D4D8"/>
                </a:solidFill>
              </a:rPr>
              <a:t>same-clock price benchmark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F8A5C5-5363-4AEC-91B6-1446671B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67250"/>
            <a:ext cx="327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5D1ABD-FFB0-4445-9C6D-4BEDC9C0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76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2C66D"/>
                </a:solidFill>
              </a:defRPr>
            </a:pPr>
            <a:r>
              <a:rPr sz="1125" b="1" i="0">
                <a:solidFill>
                  <a:srgbClr val="F2C66D"/>
                </a:solidFill>
              </a:rPr>
              <a:t>FINLY ADVANTAGE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3D5644-AD24-419F-83D8-C68804E5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625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2C66D"/>
                </a:solidFill>
              </a:defRPr>
            </a:pPr>
            <a:r>
              <a:rPr sz="2550" b="1" i="0">
                <a:solidFill>
                  <a:srgbClr val="F2C66D"/>
                </a:solidFill>
              </a:rPr>
              <a:t>+$153.31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B0772F-0310-4119-ACA3-83645A0C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772150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9DFD2"/>
                </a:solidFill>
              </a:defRPr>
            </a:pPr>
            <a:r>
              <a:rPr sz="1200" b="1" i="0">
                <a:solidFill>
                  <a:srgbClr val="B9DFD2"/>
                </a:solidFill>
              </a:rPr>
              <a:t>Same $100k start · same 4:00 p.m. price · no deposits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836B8B-8DBF-4417-9802-E68BE5BF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FC2C8"/>
                </a:solidFill>
              </a:defRPr>
            </a:pPr>
            <a:r>
              <a:rPr sz="825" b="1" i="0">
                <a:solidFill>
                  <a:srgbClr val="AFC2C8"/>
                </a:solidFill>
              </a:rPr>
              <a:t>FINLY  /  ALPACA AI TRADING AGENTS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CA3082-8C70-407C-879D-5AC24F6C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2C8"/>
                </a:solidFill>
              </a:defRPr>
            </a:pPr>
            <a:r>
              <a:rPr sz="825" b="1" i="0">
                <a:solidFill>
                  <a:srgbClr val="AFC2C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822774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3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22F866-D31D-447F-936C-78A91647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D68"/>
                </a:solidFill>
              </a:defRPr>
            </a:pPr>
            <a:r>
              <a:rPr sz="1125" b="1" i="0">
                <a:solidFill>
                  <a:srgbClr val="2F7D68"/>
                </a:solidFill>
              </a:rPr>
              <a:t>WHAT HAPPENS WHEN A CHECK FAILS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11767-D89A-4C88-B9D7-D794EE49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22A3E"/>
                </a:solidFill>
              </a:defRPr>
            </a:pPr>
            <a:r>
              <a:rPr sz="3525" b="1" i="0">
                <a:solidFill>
                  <a:srgbClr val="122A3E"/>
                </a:solidFill>
              </a:rPr>
              <a:t>Finly stops the trade—and records why.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7BF31-CFCC-4C72-9635-44F0DBD3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F01AE-F35C-42F1-9282-392C8CEA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8F5AE-897E-4EA1-A2D0-AA2F4E68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56B5D"/>
                </a:solidFill>
              </a:defRPr>
            </a:pPr>
            <a:r>
              <a:rPr sz="1125" b="1" i="0">
                <a:solidFill>
                  <a:srgbClr val="E56B5D"/>
                </a:solidFill>
              </a:rPr>
              <a:t>EVIDENCE CONFLICTS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78504-AAEC-452D-AE14-A3C3FCAC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574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22A3E"/>
                </a:solidFill>
              </a:defRPr>
            </a:pPr>
            <a:r>
              <a:rPr sz="1725" b="1" i="0">
                <a:solidFill>
                  <a:srgbClr val="122A3E"/>
                </a:solidFill>
              </a:rPr>
              <a:t>One source points the other way.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71333-EAF7-461F-9A51-D5651AA6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41367-08E4-44BD-B49C-34CA7F97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CC4FD3-FCD3-4838-9848-C994F7F6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96210-F72D-4949-A44F-039D6777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09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2C66D"/>
                </a:solidFill>
              </a:defRPr>
            </a:pPr>
            <a:r>
              <a:rPr sz="1125" b="1" i="0">
                <a:solidFill>
                  <a:srgbClr val="F2C66D"/>
                </a:solidFill>
              </a:rPr>
              <a:t>TEST FAILS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642266-92F0-4FA1-99B9-2FE11884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956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22A3E"/>
                </a:solidFill>
              </a:defRPr>
            </a:pPr>
            <a:r>
              <a:rPr sz="1725" b="1" i="0">
                <a:solidFill>
                  <a:srgbClr val="122A3E"/>
                </a:solidFill>
              </a:rPr>
              <a:t>Finly retests the idea without each source.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9E6E8-D926-429E-A7A3-3E5BB81F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941B4F-7D3A-42B7-92DC-42832D7F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377109-CBAA-4831-B50C-028CFBE7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9C1B22-F1D3-41AD-B0B2-EC76EA42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48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2942"/>
                </a:solidFill>
              </a:defRPr>
            </a:pPr>
            <a:r>
              <a:rPr sz="1125" b="1" i="0">
                <a:solidFill>
                  <a:srgbClr val="0B2942"/>
                </a:solidFill>
              </a:rPr>
              <a:t>ORDER BLOCKED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93DBC-AB92-44C2-91D7-564FCEF0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338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22A3E"/>
                </a:solidFill>
              </a:defRPr>
            </a:pPr>
            <a:r>
              <a:rPr sz="1725" b="1" i="0">
                <a:solidFill>
                  <a:srgbClr val="122A3E"/>
                </a:solidFill>
              </a:rPr>
              <a:t>No options instruction reaches Alpaca.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2CB470-3A29-4E62-8677-FBF10047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D87F31-F9E7-40E2-9186-CEF819FE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04E6C6-03DA-4AEB-9DD8-211FB38B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165A02-AF1B-4064-BAF1-3FA7831B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86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D68"/>
                </a:solidFill>
              </a:defRPr>
            </a:pPr>
            <a:r>
              <a:rPr sz="1125" b="1" i="0">
                <a:solidFill>
                  <a:srgbClr val="2F7D68"/>
                </a:solidFill>
              </a:rPr>
              <a:t>RECEIPT SAVED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5E2E57-5351-4A6A-857B-3DC42E61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22A3E"/>
                </a:solidFill>
              </a:defRPr>
            </a:pPr>
            <a:r>
              <a:rPr sz="1725" b="1" i="0">
                <a:solidFill>
                  <a:srgbClr val="122A3E"/>
                </a:solidFill>
              </a:rPr>
              <a:t>The refusal and its reason remain inspectable.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7FB714-5544-44C1-9AAA-BAD82F51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90700"/>
            <a:ext cx="405765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0B2942"/>
          </a:solidFill>
          <a:ln xmlns:a="http://schemas.openxmlformats.org/drawingml/2006/main" w="19050">
            <a:solidFill>
              <a:srgbClr val="E56B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C01B7D-5188-489E-B021-661F6184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14550"/>
            <a:ext cx="3371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E56B5D"/>
                </a:solidFill>
              </a:defRPr>
            </a:pPr>
            <a:r>
              <a:rPr sz="1125" b="1" i="0">
                <a:solidFill>
                  <a:srgbClr val="E56B5D"/>
                </a:solidFill>
              </a:rPr>
              <a:t>DECISION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D25700-52AA-430E-B29F-DFBD01C6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5270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 i="0">
                <a:solidFill>
                  <a:srgbClr val="FFFFFF"/>
                </a:solidFill>
              </a:defRPr>
            </a:pPr>
            <a:r>
              <a:rPr sz="3375" b="1" i="0">
                <a:solidFill>
                  <a:srgbClr val="FFFFFF"/>
                </a:solidFill>
              </a:rPr>
              <a:t>NO TRADE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EDC479-F23A-498B-AB7F-0216BA37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95650"/>
            <a:ext cx="3371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 i="0">
                <a:solidFill>
                  <a:srgbClr val="B9DFD2"/>
                </a:solidFill>
              </a:defRPr>
            </a:pPr>
            <a:r>
              <a:rPr sz="4800" b="1" i="0">
                <a:solidFill>
                  <a:srgbClr val="B9DFD2"/>
                </a:solidFill>
              </a:rPr>
              <a:t>$0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1D4BAA-7EF0-4746-8A9F-769D3145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5765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NEW OPTIONS RISK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08EE12-41DA-4208-A61C-B7226787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76750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D7E3E5"/>
                </a:solidFill>
              </a:defRPr>
            </a:pPr>
            <a:r>
              <a:rPr sz="1350" b="0" i="0">
                <a:solidFill>
                  <a:srgbClr val="D7E3E5"/>
                </a:solidFill>
              </a:rPr>
              <a:t>The safest trade can be no trade.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758DA3-AB28-4B4F-A0F0-860EB100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4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FECD7A-E4A6-4800-9779-15913866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8640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F7D68"/>
                </a:solidFill>
              </a:defRPr>
            </a:pPr>
            <a:r>
              <a:rPr sz="2850" b="1" i="0">
                <a:solidFill>
                  <a:srgbClr val="2F7D68"/>
                </a:solidFill>
              </a:rPr>
              <a:t>809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98FED1-FBDE-4C01-8830-94473B62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27078"/>
                </a:solidFill>
              </a:defRPr>
            </a:pPr>
            <a:r>
              <a:rPr sz="1275" b="1" i="0">
                <a:solidFill>
                  <a:srgbClr val="627078"/>
                </a:solidFill>
              </a:rPr>
              <a:t>AUTOMATED TESTS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890DA8-4A1D-4285-B6DD-4E833E50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62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F7D68"/>
                </a:solidFill>
              </a:defRPr>
            </a:pPr>
            <a:r>
              <a:rPr sz="1350" b="1" i="0">
                <a:solidFill>
                  <a:srgbClr val="2F7D68"/>
                </a:solidFill>
              </a:rPr>
              <a:t>807 PASSED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81EB25-3DAE-43B5-ABF8-220AE96B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62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2942"/>
                </a:solidFill>
              </a:defRPr>
            </a:pPr>
            <a:r>
              <a:rPr sz="1350" b="1" i="0">
                <a:solidFill>
                  <a:srgbClr val="0B2942"/>
                </a:solidFill>
              </a:rPr>
              <a:t>0 FAILED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FBE4E2-8AEE-4462-8418-BEE483A6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562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627078"/>
                </a:solidFill>
              </a:defRPr>
            </a:pPr>
            <a:r>
              <a:rPr sz="1350" b="1" i="0">
                <a:solidFill>
                  <a:srgbClr val="627078"/>
                </a:solidFill>
              </a:rPr>
              <a:t>2 SKIPPED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6EA4EC-39A9-46A7-A9D9-9ADA964C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27078"/>
                </a:solidFill>
              </a:defRPr>
            </a:pPr>
            <a:r>
              <a:rPr sz="825" b="1" i="0">
                <a:solidFill>
                  <a:srgbClr val="627078"/>
                </a:solidFill>
              </a:rPr>
              <a:t>FINLY  /  ALPACA AI TRADING AGENTS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326AE5-DE0B-4710-BBE4-5BB8F24A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27078"/>
                </a:solidFill>
              </a:defRPr>
            </a:pPr>
            <a:r>
              <a:rPr sz="825" b="1" i="0">
                <a:solidFill>
                  <a:srgbClr val="62707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272057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D9C08A-73DF-4435-AADD-3707DF03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D68"/>
                </a:solidFill>
              </a:defRPr>
            </a:pPr>
            <a:r>
              <a:rPr sz="1125" b="1" i="0">
                <a:solidFill>
                  <a:srgbClr val="2F7D68"/>
                </a:solidFill>
              </a:rPr>
              <a:t>JUDGE 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4C39D-3775-4E0A-BBE3-D63EF551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7524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22A3E"/>
                </a:solidFill>
              </a:defRPr>
            </a:pPr>
            <a:r>
              <a:rPr sz="3750" b="1" i="0">
                <a:solidFill>
                  <a:srgbClr val="122A3E"/>
                </a:solidFill>
              </a:rPr>
              <a:t>Watch the account. Try the decision. Inspect the proof.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8D3FE-6150-4587-90E9-E8FFE458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627078"/>
                </a:solidFill>
              </a:defRPr>
            </a:pPr>
            <a:r>
              <a:rPr sz="2025" b="0" i="0">
                <a:solidFill>
                  <a:srgbClr val="627078"/>
                </a:solidFill>
              </a:rPr>
              <a:t>$153.31 ahead after session one—and every headline links to evidence you can rerun.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830A4-BE5A-4706-8890-373E5854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66750"/>
            <a:ext cx="310515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D6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e703127c24c3f"/>
          <a:stretch xmlns:a="http://schemas.openxmlformats.org/drawingml/2006/main"/>
        </p:blipFill>
        <p:spPr>
          <a:xfrm xmlns:a="http://schemas.openxmlformats.org/drawingml/2006/main">
            <a:off x="8743950" y="933450"/>
            <a:ext cx="2571750" cy="2571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DD7D9-35BB-448A-BBC9-D5C56986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052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2F7D68"/>
                </a:solidFill>
              </a:defRPr>
            </a:pPr>
            <a:r>
              <a:rPr sz="1125" b="1" u="sng">
                <a:solidFill>
                  <a:srgbClr val="2F7D68"/>
                </a:solidFill>
                <a:latin typeface="Arial"/>
                <a:ea typeface="Arial"/>
                <a:cs typeface="Arial"/>
                <a:hlinkClick xmlns:r="http://schemas.openxmlformats.org/officeDocument/2006/relationships" r:id="Re2bf7524ad964680"/>
              </a:rPr>
              <a:t>SCAN TO OPEN FINLY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935A1-DF36-461E-B576-03235B88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F7D68"/>
                </a:solidFill>
              </a:defRPr>
            </a:pPr>
            <a:r>
              <a:rPr sz="1350" b="1" i="0">
                <a:solidFill>
                  <a:srgbClr val="2F7D68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5B213-C69D-4F3D-97E9-FD665870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28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F7D68"/>
                </a:solidFill>
              </a:defRPr>
            </a:pPr>
            <a:r>
              <a:rPr sz="1350" b="1" i="0">
                <a:solidFill>
                  <a:srgbClr val="2F7D68"/>
                </a:solidFill>
              </a:rPr>
              <a:t>WATCH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CD8B5-54CD-49F3-B8F2-C54BA85C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099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2A3E"/>
                </a:solidFill>
              </a:defRPr>
            </a:pPr>
            <a:r>
              <a:rPr sz="1875" b="1" i="0">
                <a:solidFill>
                  <a:srgbClr val="122A3E"/>
                </a:solidFill>
              </a:rPr>
              <a:t>Live $100k paper account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0D8A1-1579-4D3E-9AC8-4B3DBFE9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05200"/>
            <a:ext cx="607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E18DA-B9E8-4766-A703-21B0D6BB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56B5D"/>
                </a:solidFill>
              </a:defRPr>
            </a:pPr>
            <a:r>
              <a:rPr sz="1350" b="1" i="0">
                <a:solidFill>
                  <a:srgbClr val="E56B5D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316C2-CAFD-476F-ACC8-E05ED71E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10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56B5D"/>
                </a:solidFill>
              </a:defRPr>
            </a:pPr>
            <a:r>
              <a:rPr sz="1350" b="1" i="0">
                <a:solidFill>
                  <a:srgbClr val="E56B5D"/>
                </a:solidFill>
              </a:rPr>
              <a:t>TRY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2A9104-1269-4FFD-B1B2-A923D323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909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2A3E"/>
                </a:solidFill>
              </a:defRPr>
            </a:pPr>
            <a:r>
              <a:rPr sz="1875" b="1" i="0">
                <a:solidFill>
                  <a:srgbClr val="122A3E"/>
                </a:solidFill>
              </a:rPr>
              <a:t>Aligned decision vs refusal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DBE3A-0D86-4E40-8470-1443DCDB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86250"/>
            <a:ext cx="607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F276DF-FA93-4065-B8D2-A12927C5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2942"/>
                </a:solidFill>
              </a:defRPr>
            </a:pPr>
            <a:r>
              <a:rPr sz="1350" b="1" i="0">
                <a:solidFill>
                  <a:srgbClr val="0B2942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F2CD99-2915-4569-A148-80085A70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91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2942"/>
                </a:solidFill>
              </a:defRPr>
            </a:pPr>
            <a:r>
              <a:rPr sz="1350" b="1" i="0">
                <a:solidFill>
                  <a:srgbClr val="0B2942"/>
                </a:solidFill>
              </a:rPr>
              <a:t>INSPECT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7B03A0-3BCE-4B5B-B2A5-87EB6680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720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2A3E"/>
                </a:solidFill>
              </a:defRPr>
            </a:pPr>
            <a:r>
              <a:rPr sz="1875" b="1" i="0">
                <a:solidFill>
                  <a:srgbClr val="122A3E"/>
                </a:solidFill>
              </a:rPr>
              <a:t>Code, tests, and decision records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698171-A5E6-496A-BC9A-CBBDC104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70759A-B281-4CD8-BFD2-2CF3F5D6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2F7D68"/>
                </a:solidFill>
              </a:defRPr>
            </a:pPr>
            <a:r>
              <a:rPr sz="2175" b="1" i="0">
                <a:solidFill>
                  <a:srgbClr val="2F7D68"/>
                </a:solidFill>
              </a:rPr>
              <a:t>Historical results. First-session proof. Every decision inspectable.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2FE161-9555-43E7-B1AA-6005C81F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B2942"/>
                </a:solidFill>
              </a:defRPr>
            </a:pPr>
            <a:r>
              <a:rPr sz="1500" b="1" u="sng">
                <a:solidFill>
                  <a:srgbClr val="0B2942"/>
                </a:solidFill>
                <a:latin typeface="Arial"/>
                <a:ea typeface="Arial"/>
                <a:cs typeface="Arial"/>
                <a:hlinkClick xmlns:r="http://schemas.openxmlformats.org/officeDocument/2006/relationships" r:id="R36bcd518a31f43e5"/>
              </a:rPr>
              <a:t>owlsowo.github.io/finly-bot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38A189-1117-417D-9065-2C77E5BD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26745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627078"/>
                </a:solidFill>
              </a:defRPr>
            </a:pPr>
            <a:r>
              <a:rPr sz="1350" b="0" i="0">
                <a:solidFill>
                  <a:srgbClr val="627078"/>
                </a:solidFill>
              </a:rPr>
              <a:t>Bruce Wen  ·  bwen412@brandeis.edu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176F10-9957-47EF-917D-42DB7F29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27078"/>
                </a:solidFill>
              </a:defRPr>
            </a:pPr>
            <a:r>
              <a:rPr sz="825" b="1" i="0">
                <a:solidFill>
                  <a:srgbClr val="627078"/>
                </a:solidFill>
              </a:rPr>
              <a:t>FINLY  /  ALPACA AI TRADING AGENTS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408AE0-F5E6-44AA-9AC6-65709B9D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27078"/>
                </a:solidFill>
              </a:defRPr>
            </a:pPr>
            <a:r>
              <a:rPr sz="825" b="1" i="0">
                <a:solidFill>
                  <a:srgbClr val="62707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92117944"/>
      </p:ext>
    </p:extLst>
  </p:cSld>
</p:sld>
</file>

<file path=ppt/theme/theme1.xml><?xml version="1.0" encoding="utf-8"?>
<a:theme xmlns:a="http://schemas.openxmlformats.org/drawingml/2006/main" name="Finly">
  <a:themeElements>
    <a:clrScheme name="Finly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inl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Finly Presentation Builder</ap:Application>
  <ap:PresentationFormat>On-screen Show (16:9)</ap:PresentationFormat>
  <ap:Slides>9</ap:Slides>
  <ap:Notes>9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Bruce Wen</dc:creator>
  <lastModifiedBy>Bruce Wen</lastModifiedBy>
  <dc:title>Finly: Proof Before Authority</dc:title>
  <dcterms:created xsi:type="dcterms:W3CDTF">2026-08-29T12:00:00Z</dcterms:created>
  <dcterms:modified xsi:type="dcterms:W3CDTF">2026-08-29T12:00:00Z</dcterms:modified>
  <dc:subject>Alpaca AI Trading Agents Hackathon presentation</dc:subject>
  <keywords>Finly, Alpaca, AI trading, built-in risk checks</keywords>
  <dc:description>Finly judge presentation prepared by Bruce Wen.</dc:description>
</coreProperties>
</file>