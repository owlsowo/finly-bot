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dc333443f34f23" /><Relationship Type="http://schemas.openxmlformats.org/officeDocument/2006/relationships/extended-properties" Target="/docProps/app.xml" Id="R170c280d82114c1b" /><Relationship Type="http://schemas.openxmlformats.org/officeDocument/2006/relationships/officeDocument" Target="/ppt/presentation.xml" Id="R338f08459c8c4d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be78f04b114eed"/>
  </p:sldMasterIdLst>
  <p:notesMasterIdLst>
    <p:notesMasterId xmlns:r="http://schemas.openxmlformats.org/officeDocument/2006/relationships" r:id="Rca8a8f1d5e3d46f0"/>
  </p:notesMasterIdLst>
  <p:sldIdLst>
    <p:sldId xmlns:r="http://schemas.openxmlformats.org/officeDocument/2006/relationships" id="256" r:id="Redd0969a76114319"/>
    <p:sldId xmlns:r="http://schemas.openxmlformats.org/officeDocument/2006/relationships" id="257" r:id="R33811576ea544c56"/>
    <p:sldId xmlns:r="http://schemas.openxmlformats.org/officeDocument/2006/relationships" id="258" r:id="R76293acc265943cc"/>
    <p:sldId xmlns:r="http://schemas.openxmlformats.org/officeDocument/2006/relationships" id="259" r:id="R9d38ec2053d145e0"/>
    <p:sldId xmlns:r="http://schemas.openxmlformats.org/officeDocument/2006/relationships" id="260" r:id="R43d85ff21c38427c"/>
    <p:sldId xmlns:r="http://schemas.openxmlformats.org/officeDocument/2006/relationships" id="261" r:id="R2b3010a07a2f4d0b"/>
    <p:sldId xmlns:r="http://schemas.openxmlformats.org/officeDocument/2006/relationships" id="262" r:id="R6716859556b2467b"/>
    <p:sldId xmlns:r="http://schemas.openxmlformats.org/officeDocument/2006/relationships" id="263" r:id="R136e481041f24e21"/>
    <p:sldId xmlns:r="http://schemas.openxmlformats.org/officeDocument/2006/relationships" id="264" r:id="R631cd177f5184b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bfd0a7183d4c6a" /><Relationship Type="http://schemas.openxmlformats.org/officeDocument/2006/relationships/slideMaster" Target="/ppt/slideMasters/slideMaster1.xml" Id="Rebbe78f04b114eed" /><Relationship Type="http://schemas.openxmlformats.org/officeDocument/2006/relationships/notesMaster" Target="/ppt/notesMasters/notesMaster1.xml" Id="Rca8a8f1d5e3d46f0" /><Relationship Type="http://schemas.openxmlformats.org/officeDocument/2006/relationships/presProps" Target="/ppt/presProps.xml" Id="R4defeeb2b6e74bab" /><Relationship Type="http://schemas.openxmlformats.org/officeDocument/2006/relationships/tableStyles" Target="/ppt/tableStyles.xml" Id="R7f5e8df961434739" /><Relationship Type="http://schemas.openxmlformats.org/officeDocument/2006/relationships/slide" Target="/ppt/slides/slide1.xml" Id="Redd0969a76114319" /><Relationship Type="http://schemas.openxmlformats.org/officeDocument/2006/relationships/slide" Target="/ppt/slides/slide2.xml" Id="R33811576ea544c56" /><Relationship Type="http://schemas.openxmlformats.org/officeDocument/2006/relationships/slide" Target="/ppt/slides/slide3.xml" Id="R76293acc265943cc" /><Relationship Type="http://schemas.openxmlformats.org/officeDocument/2006/relationships/slide" Target="/ppt/slides/slide4.xml" Id="R9d38ec2053d145e0" /><Relationship Type="http://schemas.openxmlformats.org/officeDocument/2006/relationships/slide" Target="/ppt/slides/slide5.xml" Id="R43d85ff21c38427c" /><Relationship Type="http://schemas.openxmlformats.org/officeDocument/2006/relationships/slide" Target="/ppt/slides/slide6.xml" Id="R2b3010a07a2f4d0b" /><Relationship Type="http://schemas.openxmlformats.org/officeDocument/2006/relationships/slide" Target="/ppt/slides/slide7.xml" Id="R6716859556b2467b" /><Relationship Type="http://schemas.openxmlformats.org/officeDocument/2006/relationships/slide" Target="/ppt/slides/slide8.xml" Id="R136e481041f24e21" /><Relationship Type="http://schemas.openxmlformats.org/officeDocument/2006/relationships/slide" Target="/ppt/slides/slide9.xml" Id="R631cd177f5184b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d4d1da50474d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904098a75b4670" /><Relationship Type="http://schemas.openxmlformats.org/officeDocument/2006/relationships/notesMaster" Target="/ppt/notesMasters/notesMaster1.xml" Id="Ra8c6fef3d32645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fd09be01764788" /><Relationship Type="http://schemas.openxmlformats.org/officeDocument/2006/relationships/notesMaster" Target="/ppt/notesMasters/notesMaster1.xml" Id="R3592e4784a724c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95a62d3ce74ac5" /><Relationship Type="http://schemas.openxmlformats.org/officeDocument/2006/relationships/notesMaster" Target="/ppt/notesMasters/notesMaster1.xml" Id="R8b7bee325e5b44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e754fd057a4aad" /><Relationship Type="http://schemas.openxmlformats.org/officeDocument/2006/relationships/notesMaster" Target="/ppt/notesMasters/notesMaster1.xml" Id="R11d1e5039fae40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f6a3a0e5b44ac3" /><Relationship Type="http://schemas.openxmlformats.org/officeDocument/2006/relationships/notesMaster" Target="/ppt/notesMasters/notesMaster1.xml" Id="R4ca7675ca8b64e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2551a8095d4c4b" /><Relationship Type="http://schemas.openxmlformats.org/officeDocument/2006/relationships/notesMaster" Target="/ppt/notesMasters/notesMaster1.xml" Id="R731e5d0d689d48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0eef81ec444b69" /><Relationship Type="http://schemas.openxmlformats.org/officeDocument/2006/relationships/notesMaster" Target="/ppt/notesMasters/notesMaster1.xml" Id="R0fa90430c2c243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47f18b69614a01" /><Relationship Type="http://schemas.openxmlformats.org/officeDocument/2006/relationships/notesMaster" Target="/ppt/notesMasters/notesMaster1.xml" Id="Rc1de9a1e84de48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f7013851da4311" /><Relationship Type="http://schemas.openxmlformats.org/officeDocument/2006/relationships/notesMaster" Target="/ppt/notesMasters/notesMaster1.xml" Id="R1fce281b658f4a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Deployed Qwen3-32B evidence path: https://github.com/owlsowo/finly-bot/blob/main/lib/evidence_extractor.mjs</a:t>
            </a:r>
          </a:p>
          <a:p xmlns:a="http://schemas.openxmlformats.org/drawingml/2006/main">
            <a:r>
              <a:t>- Cloud model runner: https://github.com/owlsowo/finly-bot/blob/main/.github/workflows/paper-agent-cloud.yml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https://owlsowo.github.io/finly-bot/#controls</a:t>
            </a:r>
          </a:p>
          <a:p xmlns:a="http://schemas.openxmlformats.org/drawingml/2006/main">
            <a:r>
              <a:t>- Deployed Qwen3-32B evidence path: https://github.com/owlsowo/finly-bot/blob/main/lib/evidence_extractor.mjs</a:t>
            </a:r>
          </a:p>
          <a:p xmlns:a="http://schemas.openxmlformats.org/drawingml/2006/main">
            <a:r>
              <a:t>- Hosted-model readiness gate: https://github.com/owlsowo/finly-bot/blob/main/scripts/featherless_readiness_check.mjs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schedule offsets.</a:t>
            </a:r>
          </a:p>
          <a:p xmlns:a="http://schemas.openxmlformats.org/drawingml/2006/main">
            <a:r>
              <a:t>- Industry-proxy reconstruction; separate from live broker performance and not independent validation. It passed 8/9 precommitted gates but failed the multiple-testing-adjusted statistical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Calibration artifact: https://owlsowo.github.io/finly-bot/data/options_policy_calibration.json</a:t>
            </a:r>
          </a:p>
          <a:p xmlns:a="http://schemas.openxmlformats.org/drawingml/2006/main">
            <a:r>
              <a:t>- Reproduce with: npm run options:calibration</a:t>
            </a:r>
          </a:p>
          <a:p xmlns:a="http://schemas.openxmlformats.org/drawingml/2006/main">
            <a:r>
              <a:t>- The test uses historical SPY signals and one fixed symmetric modeled quote surface. It does not use historical option quotes, orders, fills, or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September 2 same-clock measurement: https://owlsowo.github.io/finly-bot/data/competition_forward_profit_2026_09_02.json</a:t>
            </a:r>
          </a:p>
          <a:p xmlns:a="http://schemas.openxmlformats.org/drawingml/2006/main">
            <a:r>
              <a:t>- Exact close: Finly +$141.24, SPY -$284.76, excess +$426.00.</a:t>
            </a:r>
          </a:p>
          <a:p xmlns:a="http://schemas.openxmlformats.org/drawingml/2006/main">
            <a:r>
              <a:t>- Paper account only. The comparison uses SPY raw IEX price return, not total return or alpha.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decision record: https://owlsowo.github.io/finly-bot/data/options_live_decision_funnel_2026_09_02.json</a:t>
            </a:r>
          </a:p>
          <a:p xmlns:a="http://schemas.openxmlformats.org/drawingml/2006/main">
            <a:r>
              <a:t>- Public cloud run: https://github.com/owlsowo/finly-bot/actions/runs/33662758327</a:t>
            </a:r>
          </a:p>
          <a:p xmlns:a="http://schemas.openxmlformats.org/drawingml/2006/main">
            <a:r>
              <a:t>- The 24 cycles are decision-process evidence. No live options order, fill, or options P&amp;L is claimed.</a:t>
            </a:r>
          </a:p>
          <a:p xmlns:a="http://schemas.openxmlformats.org/drawingml/2006/main">
            <a:r>
              <a:t>- Automated verification: https://github.com/owlsowo/finly-bot/actions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e9b4b51b041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5baa93ec694aad" /><Relationship Type="http://schemas.openxmlformats.org/officeDocument/2006/relationships/slideLayout" Target="/ppt/slideLayouts/slideLayout1.xml" Id="R0430a9c0a66a45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30a9c0a66a45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9b9a8cea740df" /><Relationship Type="http://schemas.openxmlformats.org/officeDocument/2006/relationships/image" Target="/ppt/media/image.png" Id="R450a8d8907534736" /><Relationship Type="http://schemas.openxmlformats.org/officeDocument/2006/relationships/image" Target="/ppt/media/image2.png" Id="R7cd7a5cbd99149ef" /><Relationship Type="http://schemas.openxmlformats.org/officeDocument/2006/relationships/notesSlide" Target="/ppt/notesSlides/notesSlide1.xml" Id="Rb0d57620435941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8fa9df38845b1" /><Relationship Type="http://schemas.openxmlformats.org/officeDocument/2006/relationships/notesSlide" Target="/ppt/notesSlides/notesSlide2.xml" Id="Ra8d87f210e5a4b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2b032465e9409a" /><Relationship Type="http://schemas.openxmlformats.org/officeDocument/2006/relationships/notesSlide" Target="/ppt/notesSlides/notesSlide3.xml" Id="Rf3470f30bbdc4f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8f1fa2c6c4203" /><Relationship Type="http://schemas.openxmlformats.org/officeDocument/2006/relationships/chart" Target="/ppt/slides/charts/chart1.xml" Id="R932e0c2c59be4f54" /><Relationship Type="http://schemas.openxmlformats.org/officeDocument/2006/relationships/notesSlide" Target="/ppt/notesSlides/notesSlide4.xml" Id="R48b643113c4941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8a0fb88e84c99" /><Relationship Type="http://schemas.openxmlformats.org/officeDocument/2006/relationships/notesSlide" Target="/ppt/notesSlides/notesSlide5.xml" Id="R254c45ab63ea4f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3af36729e423a" /><Relationship Type="http://schemas.openxmlformats.org/officeDocument/2006/relationships/notesSlide" Target="/ppt/notesSlides/notesSlide6.xml" Id="R36f06a6de75146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c5986f28f4f21" /><Relationship Type="http://schemas.openxmlformats.org/officeDocument/2006/relationships/notesSlide" Target="/ppt/notesSlides/notesSlide7.xml" Id="Rda6a76a4080246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f35a14d17466a" /><Relationship Type="http://schemas.openxmlformats.org/officeDocument/2006/relationships/notesSlide" Target="/ppt/notesSlides/notesSlide8.xml" Id="R742d52919f914c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bfa4d3ce04019" /><Relationship Type="http://schemas.openxmlformats.org/officeDocument/2006/relationships/image" Target="/ppt/media/image3.png" Id="Rbd6266fdcecf422d" /><Relationship Type="http://schemas.openxmlformats.org/officeDocument/2006/relationships/hyperlink" Target="https://owlsowo.github.io/finly-bot/" TargetMode="External" Id="Rf9d940d1142a4da8" /><Relationship Type="http://schemas.openxmlformats.org/officeDocument/2006/relationships/hyperlink" Target="https://owlsowo.github.io/finly-bot/" TargetMode="External" Id="R61c03be733904d37" /><Relationship Type="http://schemas.openxmlformats.org/officeDocument/2006/relationships/notesSlide" Target="/ppt/notesSlides/notesSlide9.xml" Id="Rd91c85bdd8f149e7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 · S&amp;P 500 tracker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0a8d8907534736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CC831-8E0E-4CD5-BECF-8F13B22F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153D6-F897-4DEC-B634-35DDD41E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2013–2026 HISTORICAL SIMULATION · AFTER MODELED COSTS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E9883-D1DD-4BF9-918A-63717C4C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FFFFFF"/>
                </a:solidFill>
              </a:defRPr>
            </a:pPr>
            <a:r>
              <a:rPr sz="4050" b="1" i="0">
                <a:solidFill>
                  <a:srgbClr val="FFFFFF"/>
                </a:solidFill>
              </a:rPr>
              <a:t>Finly finished $38,629 ahead of SPY.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C88D2-A8EB-428A-8AD8-397A9FBF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048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7E3E5"/>
                </a:solidFill>
              </a:defRPr>
            </a:pPr>
            <a:r>
              <a:rPr sz="1575" b="0" i="0">
                <a:solidFill>
                  <a:srgbClr val="D7E3E5"/>
                </a:solidFill>
              </a:rPr>
              <a:t>The same $10,000 became $106,711 with Finly and $68,082 with the S&amp;P 500 tracker. The strategy now runs as a checked Alpaca paper-trading product.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AB83E-36F4-4E97-B4EC-ECDA1FA6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d7a5cbd99149ef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8343C-600E-4C76-9115-981F3772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ALLOCATION  +  OPTIONS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40823-C12B-425A-9EE6-C4771AAA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One account  ·  one risk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BF725-7FE9-4AEA-AE44-CD4853A5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6A642-6BE4-41F8-910D-2DBE9362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30A4A-97CD-4672-B33D-565891C1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FINLY 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342DB-6994-45D2-8E3B-552C47A6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$68,082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0E952C-0F26-4251-84D8-B07A41E1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SPY HISTORICAL ENDING WEALTH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D0FC8-0BC8-497A-990D-1CCFE53D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+$426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E0629-C950-49D3-B1F7-F073C5FB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SEPARATE LIVE PAPER ADVANTAGE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CF0A75-E9DC-4FAD-80B8-1BFF8DE3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D7BC5C-006D-4CB3-BB0C-50230675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2F9DD4-E1C6-420E-A283-CB40C708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1DC580-6866-41A7-897A-75CFAEB2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C19FC1-F0CB-462F-AFA9-9E6239C4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137178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12C70C-C7C2-408F-B95C-C9B91BA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AB7B4-18E3-4B02-8CDE-BD37A195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A trading bot is hard to trust when one model can research, size, and send.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A608EE-3A01-4BC1-99CC-4B4737C5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F7E99-44DA-475F-BB10-FCA3CF41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B1DD4-3A12-4FC4-8FDB-B1C3FE95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EE7131-F065-46E0-9DAE-9537053D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338800-116F-4CE9-9130-7CDD51DB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485FA-D55F-4F9D-B369-21B37E24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3C897-22ED-4F7C-A98A-B61F4852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B58156-1462-46FD-936C-A84A6F42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8648C-688A-4AB7-B2EC-8D4AD08D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33F53F-1F5F-48C2-A1FC-6529CE83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95FFC5-AA4E-4C1F-A9C0-304A25EF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A132A-8192-49D0-ABB7-D054A4C4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D55616-7347-45D4-9BE6-384F346D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C46DE6-1056-4825-B7FF-20C2742B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92862-5C8B-4D35-94DA-96D3BEB5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7409D6-14A5-474F-87A3-6B21C8D6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3CCB1E-CD90-49CF-AF13-6C036AF9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E280DD-14A4-4260-BE3D-5C8BAA85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0F86E5-F1C0-4118-9343-FEEC6639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B4B4DE-4268-4A50-B3E4-CFE40E80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4454E-ADF1-4781-87D7-FD12640F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7EAD2F-FF27-4413-ADD8-AEE7F57F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049EDD-BF2C-43B8-8916-3C188542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C7508E-FC3C-4424-8C80-C1A02A03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CEFEC1-5F7D-408A-A3B3-BE765229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handing the model the account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CC1E47-028E-4971-B5BB-DF289311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27078"/>
                </a:solidFill>
              </a:defRPr>
            </a:pPr>
            <a:r>
              <a:rPr sz="1725" b="0" i="0">
                <a:solidFill>
                  <a:srgbClr val="627078"/>
                </a:solidFill>
              </a:rPr>
              <a:t>Finly's rules choose the maximum risk, the exact option pair, the order details, and whether a trade may be sent.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7EF1E5-E6AD-4FF8-B552-8C92ADE8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6DEA8C-3876-4EC6-A84C-1432303D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969706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E0F04F-64DD-4B5B-AF56-009FDE45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741AE-2289-40F0-87BA-03A1BC3E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Price sets the direction. AI explains the news. Rules control the money.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E925B-96BF-43CF-963F-773942C6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A2EB8-A057-431D-9A01-912A3370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7C6A7-C509-42B5-939A-3F600BE0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A9944-403B-4796-9A5E-8B180B24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Signed market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5BCFD2-EBCC-43CD-AA8C-A8C3A3C5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E3E5"/>
                </a:solidFill>
              </a:defRPr>
            </a:pPr>
            <a:r>
              <a:rPr sz="1500" b="0" i="0">
                <a:solidFill>
                  <a:srgbClr val="D7E3E5"/>
                </a:solidFill>
              </a:rPr>
              <a:t>Price momentum owns the sign. Options and AI-read news may only support, reduce, or stop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FD815-D0A4-4E94-8096-839ACC0C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52650"/>
            <a:ext cx="2857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F2C66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F5D26-2D3D-4960-98E0-A293BC5A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D4DF3-1A3E-48E6-B568-5498C554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62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CODE BUILDS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8CC20-06DB-4F17-9269-F4E8F84E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765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One exact spread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36A1E-D24D-4B16-862E-1DECADE0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43300"/>
            <a:ext cx="2400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7E3E5"/>
                </a:solidFill>
              </a:defRPr>
            </a:pPr>
            <a:r>
              <a:rPr sz="1500" b="0" i="0">
                <a:solidFill>
                  <a:srgbClr val="D7E3E5"/>
                </a:solidFill>
              </a:rPr>
              <a:t>Bull call, bear put, or no trade. One contract, capped loss, fixed broker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28235-13BA-416C-9DE7-2D6E71D2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B9DFD2"/>
                </a:solidFill>
              </a:defRPr>
            </a:pPr>
            <a:r>
              <a:rPr sz="3300" b="1" i="0">
                <a:solidFill>
                  <a:srgbClr val="B9DFD2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10E219-E4FC-457B-B200-252698AD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05150"/>
            <a:ext cx="514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F2C66D"/>
                </a:solidFill>
              </a:defRPr>
            </a:pPr>
            <a:r>
              <a:rPr sz="3300" b="1" i="0">
                <a:solidFill>
                  <a:srgbClr val="F2C66D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C45724-74CF-4E72-89AF-5B758844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52650"/>
            <a:ext cx="4000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153A55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D97EB-F221-48E0-B0EC-7298412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62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BFBF93-0FF4-4B70-A745-5D2BD128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RULES 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4D72F6-43E1-4B8B-962F-932065DE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Can money move?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CCCAB2-21AD-43F2-919C-EAE15134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90900"/>
            <a:ext cx="16383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74EBE5-79C2-41C5-A4C4-92927FF5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31C2BF-EEF2-41BB-9E97-DA921D3B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ORDER READY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5FD19A-1896-422D-ADCF-3F282906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90900"/>
            <a:ext cx="1676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64B9BB-E308-4286-B779-B24448C7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411B8D-0F71-409A-8F1A-003EC306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90950"/>
            <a:ext cx="1447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NO TRADE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6D0018-01AC-4B1F-BA08-2627A06A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DCB771-FCAF-48AA-9C4B-E2B3483B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B9DFD2"/>
                </a:solidFill>
              </a:defRPr>
            </a:pPr>
            <a:r>
              <a:rPr sz="1875" b="1" i="0">
                <a:solidFill>
                  <a:srgbClr val="B9DFD2"/>
                </a:solidFill>
              </a:rPr>
              <a:t>Three outcomes: bullish call spread · bearish put spread · no trade.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A61669-7E77-48AD-9569-2D86AB22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8EB34E-91FC-4953-9A16-812BA0B9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94661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F2E41-3E11-4D5C-AA97-4FCD2F06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1033C-BCB7-4E6A-8BE1-23A6091E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949C0-0E94-41D0-9DC9-77C5DAB7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Historical rule: 50% QQQ + 50% across three trend-selected sectors. Competition deployment: 97% of those weights + 3%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6CEB9-3FB0-43E1-9693-7D48937B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2013–2026 · same $10,000 start · modeled 0.05% cost per buy or sell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8667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2e0c2c59be4f5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573662-2E80-4110-BF2D-75AEF823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4C7F3-E1BE-4FD5-B5CC-FE281615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92732-D806-4E4F-82F2-60DC5FCB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3F4BE-290A-46B7-8C99-F5FA50BE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8E3D0-5792-414E-936D-0D6D1050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3324DA-194C-473F-BFDA-35F97476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39DD40-F52D-4918-A833-4237B805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WORST DECLINE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F65E5-1D6D-440D-A22F-C306A41C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1AB9F-06CF-459F-8B81-DBF3B483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5B92ED-CF1E-45E6-BBB4-CD20BAFA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231324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475A-2526-453B-9796-3E45D967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 SECOND HISTORICAL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3849C-121C-4EE9-9AD5-27897F79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FFFFFF"/>
                </a:solidFill>
              </a:defRPr>
            </a:pPr>
            <a:r>
              <a:rPr sz="3075" b="1" i="0">
                <a:solidFill>
                  <a:srgbClr val="FFFFFF"/>
                </a:solidFill>
              </a:rPr>
              <a:t>An 80-year market test stayed ahead across all 21 tested monthly rebalance schedules.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BC976-205C-4520-ABE2-5BBB25E1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F4D1A-B294-4509-BDC1-B7868840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B9D74-A17A-441C-9355-A651A643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28573C-F826-41F2-AE61-E28157E2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EC47E3-58E8-448C-9CFD-86B90B22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64663-B4EC-49A8-BDFC-45ADFA56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760B0-3A9B-4FA8-9146-2E081F4B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PUBLIC INDUSTRY DATASET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20CDE7-DE2A-410E-AACA-8DB32A1B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A83E7-FCCA-4C62-945E-0C463330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GROWTH PER 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AC5CD-6A3D-4A78-B73B-E114A8A9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E49331-B0C8-4305-ABB7-636FD2EB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A7C5C-DB1A-422E-96B3-7A8917D9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TESTED MONTHLY REBALANCE SCHEDULES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AAE38C-F27A-4809-9A80-E6B2CFA9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EBAB3-B3D5-43B9-A612-4D0B8B62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8FB372-5975-4CCB-A5D5-B10DCFC7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CC08A8-520A-4040-8F90-27C7553D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7EBE69-FDF2-4CBB-A25A-48C31959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79021E-1FED-4B22-85B0-76406D93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9BD540-EEC7-4FBF-B1D1-2F599288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AADD2-5B17-4DC8-B648-31674B76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E2D632-EB1A-43A1-84D7-1DF6C93F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F45FF0-ADA7-4248-A1EB-DEA52411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54ECD0-EC55-4559-B569-B30ECDE6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FCE1C-B793-469A-BD9F-D3AD074C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05B8A6-B149-4326-9F21-9EC7CD3A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7CE09C-9FF0-49A1-A47E-1CE5B9B2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F78EBC-F436-4A45-A362-4F9257C9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854343-9711-419C-8293-33E1296B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6404E8-759E-428D-8894-07E1EFA0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277E54-191D-445C-BFE9-6842B177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ACCF96-22D8-478A-B1D8-B5DA981A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BAE7F3-EAD3-44D7-BE45-A1C2B8F0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40A73C-3132-442F-9E7A-638D903F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79B35F-5CC4-43C0-9B19-CFCF05CD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2C66D"/>
                </a:solidFill>
              </a:defRPr>
            </a:pPr>
            <a:r>
              <a:rPr sz="3000" b="1" i="0">
                <a:solidFill>
                  <a:srgbClr val="F2C66D"/>
                </a:solidFill>
              </a:rPr>
              <a:t>+2.45 points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A1A6EE-7C25-4DF9-9304-0D13529E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ANNUALIZED GROWTH EDGE AFTER 0.25%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450BED-F472-48A7-AB52-A1B549B6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0.05%  →  0.10%  →  0.25%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AE5084-B0BB-4C6A-BBC9-BB1F1526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11C205-A843-4AD9-9C0C-BF2E79B9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C53C3E-F8E1-4F2E-9831-13B0D969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9CEFA7-F70C-4876-9F5B-A9E02250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Its worst decline was 16.31 percentage points smaller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79217AA-BE2C-4C41-BF4D-D8081B2A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E39BBD-DE97-4434-8CBB-CE5D3B57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51706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1FDA45-B653-4CF2-A0DD-289FE922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OPTIONS ELIGIBILITY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2980B-8BC1-427E-887C-C0F0FBC9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314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22A3E"/>
                </a:solidFill>
              </a:defRPr>
            </a:pPr>
            <a:r>
              <a:rPr sz="2850" b="1" i="0">
                <a:solidFill>
                  <a:srgbClr val="122A3E"/>
                </a:solidFill>
              </a:rPr>
              <a:t>11 ordinary-quote windows cleared every alpha 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1A863-93E9-4C7A-BA2D-F95FD5E5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517 sampled SPY signal windows · 2016–2026 · five-session stride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A1110-84C8-4C73-92EF-39F2E132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SYMMETRIC MODELED QUOTE SURFACE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4ED78-48B9-4CBA-A5FC-15A0D8A2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905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0EAA13-F3B2-4B25-B626-DB5C29A1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104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2F7D68"/>
                </a:solidFill>
              </a:defRPr>
            </a:pPr>
            <a:r>
              <a:rPr sz="3900" b="1" i="0">
                <a:solidFill>
                  <a:srgbClr val="2F7D68"/>
                </a:solidFill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C54C7-9B8A-48F3-994C-1117DFC6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241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eligible entries out of 517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3D42AC-6FAC-471F-B225-8AFA473D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051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27078"/>
                </a:solidFill>
              </a:defRPr>
            </a:pPr>
            <a:r>
              <a:rPr sz="1125" b="0" i="0">
                <a:solidFill>
                  <a:srgbClr val="627078"/>
                </a:solidFill>
              </a:rPr>
              <a:t>All retain positive conservative value after modeled costs.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ECD5C7-A9F8-49BE-ABD8-C8660687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BOTH DIRECTIONS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7EE0D-7BEA-45E0-A0A3-9EF4559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43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24C1F-8BFA-42E4-99EA-69055B38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2F7D68"/>
                </a:solidFill>
              </a:defRPr>
            </a:pPr>
            <a:r>
              <a:rPr sz="3300" b="1" i="0">
                <a:solidFill>
                  <a:srgbClr val="2F7D68"/>
                </a:solidFill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0E35E-B416-4469-82AA-C74886A0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38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A3E"/>
                </a:solidFill>
              </a:defRPr>
            </a:pPr>
            <a:r>
              <a:rPr sz="1425" b="1" i="0">
                <a:solidFill>
                  <a:srgbClr val="122A3E"/>
                </a:solidFill>
              </a:rPr>
              <a:t>bullish call spreads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32D393-AF12-4F20-8558-512A6234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210050"/>
            <a:ext cx="29718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00627-0527-4901-826C-B0378F64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86250"/>
            <a:ext cx="60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E56B5D"/>
                </a:solidFill>
              </a:defRPr>
            </a:pPr>
            <a:r>
              <a:rPr sz="3300" b="1" i="0">
                <a:solidFill>
                  <a:srgbClr val="E56B5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9C49E-0EE8-4D31-AD00-C3B030B8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386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A3E"/>
                </a:solidFill>
              </a:defRPr>
            </a:pPr>
            <a:r>
              <a:rPr sz="1425" b="1" i="0">
                <a:solidFill>
                  <a:srgbClr val="122A3E"/>
                </a:solidFill>
              </a:rPr>
              <a:t>bearish put spreads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0EBCB6-6778-46D6-9295-37ED249E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4362450" cy="333375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C21719-E779-446C-A2B6-8EED0AAC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ELIGIBLE-SPREAD RANGE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29D97-51A8-4D39-BA41-BBC8DFF6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9850"/>
            <a:ext cx="361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</a:defRPr>
            </a:pPr>
            <a:r>
              <a:rPr sz="2025" b="1" i="0">
                <a:solidFill>
                  <a:srgbClr val="FFFFFF"/>
                </a:solidFill>
              </a:rPr>
              <a:t>Positive value. Capped loss.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C5D7A2-9B25-4295-A55D-21DD28E4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390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MAX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20CF8-FBA8-48A6-8793-DF0FCDCD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718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$440–$455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DEBF33-0EF8-4783-BF30-8020E684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CONSERVATIVE VALUE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C3CEB7-6BCE-42ED-934E-0E574E42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290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$10.08–$22.26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8AB33E-11D9-4456-AD31-5A85DDCC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05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REWARD / RISK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A9308E-9744-483E-86E2-0B54D513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286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2.30–2.41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2E1EC0-F158-4E0D-B0B9-75A87D73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196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C4D4D8"/>
                </a:solidFill>
              </a:defRPr>
            </a:pPr>
            <a:r>
              <a:rPr sz="975" b="0" i="0">
                <a:solidFill>
                  <a:srgbClr val="C4D4D8"/>
                </a:solidFill>
              </a:rPr>
              <a:t>Signal + fixed quote-surface test—not historical option prices or P&amp;L.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BA5A96-D2E3-49DF-8A0D-E9A0E702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B2942"/>
                </a:solidFill>
              </a:defRPr>
            </a:pPr>
            <a:r>
              <a:rPr sz="2850" b="1" i="0">
                <a:solidFill>
                  <a:srgbClr val="0B2942"/>
                </a:solidFill>
              </a:rPr>
              <a:t>517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84DD10-8DEC-4579-BEC8-0D4EE097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912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SAMPLED SIGNAL WINDOWS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7F59DC-18A0-473A-A404-6A4CB1D4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67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11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879BD8-F502-4390-99A3-E9C14BA1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9912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CLEARED EVERY ALPHA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7E171-1660-4570-878D-519BEAE6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6735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B2942"/>
                </a:solidFill>
              </a:defRPr>
            </a:pPr>
            <a:r>
              <a:rPr sz="2850" b="1" i="0">
                <a:solidFill>
                  <a:srgbClr val="0B2942"/>
                </a:solidFill>
              </a:rPr>
              <a:t>7 / 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693755-BDBD-4131-9643-F5C7B687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9912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BULLISH / BEARISH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D0FE4B-29C7-4577-A2A5-955FE192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467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59209E-61D5-4D3A-A320-E8EACFD8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991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HARD LOSS CEILING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D36181-EAE5-4CB0-8A5C-36BA6155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23ACA9-7095-44B1-A73F-53070B07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191029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A1821D-DC49-48A5-ACB0-9A31361F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VERIFIED $100,000 PAPER ACCOUNT · THROUGH SEPTEMBER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FF6D5-67E1-499C-9D9A-0F07241C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FFFFFF"/>
                </a:solidFill>
              </a:defRPr>
            </a:pPr>
            <a:r>
              <a:rPr sz="3375" b="1" i="0">
                <a:solidFill>
                  <a:srgbClr val="FFFFFF"/>
                </a:solidFill>
              </a:rPr>
              <a:t>Finly finished $426 ahead of SPY at the same closing bell.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83C45-E71D-46A3-805F-8019F9F2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934200" cy="3028950"/>
          </a:xfrm>
          <a:prstGeom xmlns:a="http://schemas.openxmlformats.org/drawingml/2006/main" prst="roundRect">
            <a:avLst>
              <a:gd name="adj" fmla="val 5031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D4722-2D32-45D7-B756-FC28C8A5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636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SAME $100,000 START · SAME 4:00 P.M. PRICE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9EB811-DBCB-4242-BEC0-65D139D6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1940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FINLY PAPER ACCOUNT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12A257-4AD9-49AE-8A52-4CF6898C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B2942"/>
                </a:solidFill>
              </a:defRPr>
            </a:pPr>
            <a:r>
              <a:rPr sz="3600" b="1" i="0">
                <a:solidFill>
                  <a:srgbClr val="0B2942"/>
                </a:solidFill>
              </a:rPr>
              <a:t>+$141.24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5FB7E2-5331-4161-8DA3-0D295DB7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$100,141.24 ending value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5237E-DF95-4FF6-9122-F936984A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24150"/>
            <a:ext cx="952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FA2B8A-FFB8-49E8-B56A-85CF9E2A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1940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 · S&amp;P 500 TRACKER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860DC-F51E-4374-BB50-442DF5AA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B2942"/>
                </a:solidFill>
              </a:defRPr>
            </a:pPr>
            <a:r>
              <a:rPr sz="3600" b="1" i="0">
                <a:solidFill>
                  <a:srgbClr val="0B2942"/>
                </a:solidFill>
              </a:rPr>
              <a:t>−$284.76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680BB-C123-41A5-82AD-8C17620B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2724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$99,715.24 ending value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B2D65-39FA-4DDA-82C2-CC6A5CCD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605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ABD5C-0445-4A2A-922B-7229E2CE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15 ETF fill events · zero deposits or withdrawals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B3ED56-D836-49B9-A8CF-61B43DDB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43100"/>
            <a:ext cx="3562350" cy="3028950"/>
          </a:xfrm>
          <a:prstGeom xmlns:a="http://schemas.openxmlformats.org/drawingml/2006/main" prst="roundRect">
            <a:avLst>
              <a:gd name="adj" fmla="val 5031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CE69C-8685-43F1-B384-4E167687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241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 ADVANTAGE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E0A6E3-ED5A-4D42-BBE9-CF868942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8130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250" b="1" i="0">
                <a:solidFill>
                  <a:srgbClr val="FFFFFF"/>
                </a:solidFill>
              </a:defRPr>
            </a:pPr>
            <a:r>
              <a:rPr sz="5250" b="1" i="0">
                <a:solidFill>
                  <a:srgbClr val="FFFFFF"/>
                </a:solidFill>
              </a:rPr>
              <a:t>+$426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52E2F6-ED2B-46A0-8AED-854B42B5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147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versus SPY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D176CD-CEEF-476B-AA63-1C7A8FB8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481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B9DFD2"/>
                </a:solidFill>
              </a:defRPr>
            </a:pPr>
            <a:r>
              <a:rPr sz="1275" b="0" i="0">
                <a:solidFill>
                  <a:srgbClr val="B9DFD2"/>
                </a:solidFill>
              </a:rPr>
              <a:t>Measured from the same start at the exact same timestamp.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565EE-E694-425D-B762-B147FA18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FC69FE-AC01-4AA1-86C2-5A894CA4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B9DFD2"/>
                </a:solidFill>
              </a:defRPr>
            </a:pPr>
            <a:r>
              <a:rPr sz="1875" b="1" i="0">
                <a:solidFill>
                  <a:srgbClr val="B9DFD2"/>
                </a:solidFill>
              </a:rPr>
              <a:t>A live broker result—not a backtest—and every number links to the read-only measurement.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84B63-15A6-4C40-B3F4-AA61723F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72D948-4392-4E82-A919-D4606BFB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622046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6B0294-ADBC-42BB-8C58-A45982E3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WHAT THE OPTIONS AGENT DID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D0B58-AF01-4AAD-A066-7C264CF0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2A3E"/>
                </a:solidFill>
              </a:defRPr>
            </a:pPr>
            <a:r>
              <a:rPr sz="3225" b="1" i="0">
                <a:solidFill>
                  <a:srgbClr val="122A3E"/>
                </a:solidFill>
              </a:rPr>
              <a:t>24 live options checks ended with no trade—and every reason is counted.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AE0D8-4ABF-4D4C-BA09-878BD458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318135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991D4-FDDA-4C77-8C84-E361234C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SEPTEMBER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38570-074F-4AEA-A133-9224D6E6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571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850" b="1" i="0">
                <a:solidFill>
                  <a:srgbClr val="FFFFFF"/>
                </a:solidFill>
              </a:defRPr>
            </a:pPr>
            <a:r>
              <a:rPr sz="5850" b="1" i="0">
                <a:solidFill>
                  <a:srgbClr val="FFFFFF"/>
                </a:solidFill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D3C84C-3AA8-4181-AB48-E07280B2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66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LIVE EVALUATION CYCLES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80AD9-916D-4E98-82E9-C3CD2E40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BB09E-D21A-42CC-8EF3-39EED3FE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B9DFD2"/>
                </a:solidFill>
              </a:defRPr>
            </a:pPr>
            <a:r>
              <a:rPr sz="1575" b="1" i="0">
                <a:solidFill>
                  <a:srgbClr val="B9DFD2"/>
                </a:solidFill>
              </a:rPr>
              <a:t>$0 NEW OPTIONS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D410E-4049-459C-9EFB-B248019F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81200"/>
            <a:ext cx="7277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54032-AD7F-4924-BA53-8E6F9BD2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66925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E56B5D"/>
                </a:solidFill>
              </a:defRPr>
            </a:pPr>
            <a:r>
              <a:rPr sz="3150" b="1" i="0">
                <a:solidFill>
                  <a:srgbClr val="E56B5D"/>
                </a:solidFill>
              </a:rPr>
              <a:t>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D225DC-290A-4B80-B27B-D42E344D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05025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AA6A90-9656-45D0-92C0-04EE9C68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FAILED CERTIFICATION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D6D25-87FC-48F5-93BA-42FAA530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36220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A3E"/>
                </a:solidFill>
              </a:defRPr>
            </a:pPr>
            <a:r>
              <a:rPr sz="1275" b="0" i="0">
                <a:solidFill>
                  <a:srgbClr val="122A3E"/>
                </a:solidFill>
              </a:rPr>
              <a:t>A candidate did not clear every deterministic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0FCD56-DE2D-429F-8AA4-640691AD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52750"/>
            <a:ext cx="7277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B67201-E960-4737-8E2A-41C79FEC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38475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F2C66D"/>
                </a:solidFill>
              </a:defRPr>
            </a:pPr>
            <a:r>
              <a:rPr sz="3150" b="1" i="0">
                <a:solidFill>
                  <a:srgbClr val="F2C66D"/>
                </a:solidFill>
              </a:rPr>
              <a:t>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74B82D-44E4-4342-8411-BFB82494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76575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FFFA42-03DA-4FB0-A4FD-AD321569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067050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INSUFFICIENT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FDA39-9F16-4F50-B355-7E0B7B08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33375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A3E"/>
                </a:solidFill>
              </a:defRPr>
            </a:pPr>
            <a:r>
              <a:rPr sz="1275" b="0" i="0">
                <a:solidFill>
                  <a:srgbClr val="122A3E"/>
                </a:solidFill>
              </a:rPr>
              <a:t>The AI-read market case did not support an entry.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4C1C55-EE72-438E-B7D2-74C5BC40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24300"/>
            <a:ext cx="7277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A1F3CB-417D-48DA-A7B3-A8B68C6D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10025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2F7D68"/>
                </a:solidFill>
              </a:defRPr>
            </a:pPr>
            <a:r>
              <a:rPr sz="3150" b="1" i="0">
                <a:solidFill>
                  <a:srgbClr val="2F7D6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B8589D-6A37-42BD-9967-B83146BA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48125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AC950C-1575-42A9-81EB-CE947A51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38600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2F7D68"/>
                </a:solidFill>
              </a:defRPr>
            </a:pPr>
            <a:r>
              <a:rPr sz="1200" b="1" i="0">
                <a:solidFill>
                  <a:srgbClr val="2F7D68"/>
                </a:solidFill>
              </a:rPr>
              <a:t>AFTER THE CUTOFF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3A3113-F3A3-4A9C-86F2-3A6D697A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0530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A3E"/>
                </a:solidFill>
              </a:defRPr>
            </a:pPr>
            <a:r>
              <a:rPr sz="1275" b="0" i="0">
                <a:solidFill>
                  <a:srgbClr val="122A3E"/>
                </a:solidFill>
              </a:rPr>
              <a:t>The entry window had closed; monitoring continued.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375615-F5DF-4549-A5B4-3D03542E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086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B2942"/>
                </a:solidFill>
              </a:defRPr>
            </a:pPr>
            <a:r>
              <a:rPr sz="1575" b="1" i="0">
                <a:solidFill>
                  <a:srgbClr val="0B2942"/>
                </a:solidFill>
              </a:rPr>
              <a:t>0 orders submitted  ·  0 option fills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24922-3E04-4F9B-AD59-C09797F7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29250"/>
            <a:ext cx="708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2F7D68"/>
                </a:solidFill>
              </a:defRPr>
            </a:pPr>
            <a:r>
              <a:rPr sz="1650" b="0" i="0">
                <a:solidFill>
                  <a:srgbClr val="2F7D68"/>
                </a:solidFill>
              </a:rPr>
              <a:t>The agent was active; it simply found no setup that cleared the bar.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E11EE4-DCDB-40E6-BDA7-40A59616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874D9A-971D-4858-B262-08D16EDB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F7D68"/>
                </a:solidFill>
              </a:defRPr>
            </a:pPr>
            <a:r>
              <a:rPr sz="1650" b="1" i="0">
                <a:solidFill>
                  <a:srgbClr val="2F7D68"/>
                </a:solidFill>
              </a:rPr>
              <a:t>827 automated tests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A5D6A7-AB22-44CE-8CFD-E02E3484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1531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2942"/>
                </a:solidFill>
              </a:defRPr>
            </a:pPr>
            <a:r>
              <a:rPr sz="1425" b="1" i="0">
                <a:solidFill>
                  <a:srgbClr val="0B2942"/>
                </a:solidFill>
              </a:rPr>
              <a:t>825 passed  ·  0 failed  ·  2 optional checks skipped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874771-D836-4126-9190-A5D4F80A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E97D54-8026-40F3-8E23-CC1ACF47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657817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86007F-7F4F-449F-9D04-E226C63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B2037-8F0D-4D7D-8942-EBDA2C38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122A3E"/>
                </a:solidFill>
              </a:defRPr>
            </a:pPr>
            <a:r>
              <a:rPr sz="3750" b="1" i="0">
                <a:solidFill>
                  <a:srgbClr val="122A3E"/>
                </a:solidFill>
              </a:rPr>
              <a:t>See why Finly finished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CBB22-DAD1-4A91-B6BF-D946C3F9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27078"/>
                </a:solidFill>
              </a:defRPr>
            </a:pPr>
            <a:r>
              <a:rPr sz="1950" b="0" i="0">
                <a:solidFill>
                  <a:srgbClr val="627078"/>
                </a:solidFill>
              </a:rPr>
              <a:t>Explore the 2013–2026 cost-modeled replay, then inspect the separate +$426 Alpaca paper result and every decision behind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8F3DF-1DD1-4270-B00B-37C728CA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266fdcecf422d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76166-3409-43D3-B74F-BE7B9787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f9d940d1142a4da8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5317F-78D5-400A-A219-D64DC1AC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9A58F-E12A-4E8B-AF35-7D3F3859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A9EC4C-2E3A-49BE-8D9A-9D9920A6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paper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24F56-3CE0-43E3-AD00-459E8C68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42EED4-3E5F-41F0-96CE-C8ADA3DC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F478B-E37D-4FEE-BF82-CC19FA64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8CD28-9503-4CC1-8FBA-1C13AB6C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Bullish, bearish, or no trade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D0B28-0FA6-436D-BB8C-89F2510B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E2481-B0E1-4F17-948A-316F6922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1CB302-0EB1-4B66-86BA-AA68D9E0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6861AE-D567-43B5-85DA-379FBD34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decision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3F465E-F033-4BF5-8339-7CEB4DB8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456D27-C432-488E-BCA3-02FC890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Historical depth. Live account proof.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87E62A-F74D-425E-844F-852935BD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61c03be733904d37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1D78FC-C9B2-4054-AC75-6AF0AC34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513929-886E-4CEF-BB6C-E06FB7FB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608471-9BB0-4323-AAE5-0444D394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075867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2026-09-02T23:13:45.8820000Z</dcterms:created>
  <dcterms:modified xsi:type="dcterms:W3CDTF">2026-09-02T23:13:45.8820000Z</dcterms:modified>
</coreProperties>
</file>