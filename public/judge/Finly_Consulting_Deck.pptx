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1baa429ff743f9" /><Relationship Type="http://schemas.openxmlformats.org/officeDocument/2006/relationships/extended-properties" Target="/docProps/app.xml" Id="R186fadd47b6f4d5a" /><Relationship Type="http://schemas.openxmlformats.org/officeDocument/2006/relationships/officeDocument" Target="/ppt/presentation.xml" Id="R9067baad07a142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bbad41263a4bf6"/>
  </p:sldMasterIdLst>
  <p:notesMasterIdLst>
    <p:notesMasterId xmlns:r="http://schemas.openxmlformats.org/officeDocument/2006/relationships" r:id="R303e179a8621401c"/>
  </p:notesMasterIdLst>
  <p:sldIdLst>
    <p:sldId xmlns:r="http://schemas.openxmlformats.org/officeDocument/2006/relationships" id="256" r:id="R1e6ef01515724706"/>
    <p:sldId xmlns:r="http://schemas.openxmlformats.org/officeDocument/2006/relationships" id="257" r:id="R3e868b7825134a84"/>
    <p:sldId xmlns:r="http://schemas.openxmlformats.org/officeDocument/2006/relationships" id="258" r:id="R558b6678630844b6"/>
    <p:sldId xmlns:r="http://schemas.openxmlformats.org/officeDocument/2006/relationships" id="259" r:id="Rb028e3191ce24021"/>
    <p:sldId xmlns:r="http://schemas.openxmlformats.org/officeDocument/2006/relationships" id="260" r:id="R21cf18e55d614f87"/>
    <p:sldId xmlns:r="http://schemas.openxmlformats.org/officeDocument/2006/relationships" id="261" r:id="Rc9ac5de2f4504f1e"/>
    <p:sldId xmlns:r="http://schemas.openxmlformats.org/officeDocument/2006/relationships" id="262" r:id="R1be7132e55004cee"/>
    <p:sldId xmlns:r="http://schemas.openxmlformats.org/officeDocument/2006/relationships" id="263" r:id="R3556172378a64c12"/>
    <p:sldId xmlns:r="http://schemas.openxmlformats.org/officeDocument/2006/relationships" id="264" r:id="Rfab44cfb9e2c4a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6a8ba2114f438c" /><Relationship Type="http://schemas.openxmlformats.org/officeDocument/2006/relationships/slideMaster" Target="/ppt/slideMasters/slideMaster1.xml" Id="Rf3bbad41263a4bf6" /><Relationship Type="http://schemas.openxmlformats.org/officeDocument/2006/relationships/notesMaster" Target="/ppt/notesMasters/notesMaster1.xml" Id="R303e179a8621401c" /><Relationship Type="http://schemas.openxmlformats.org/officeDocument/2006/relationships/presProps" Target="/ppt/presProps.xml" Id="R29b5e7feb9fd4e47" /><Relationship Type="http://schemas.openxmlformats.org/officeDocument/2006/relationships/tableStyles" Target="/ppt/tableStyles.xml" Id="Rdc9139431f9b413d" /><Relationship Type="http://schemas.openxmlformats.org/officeDocument/2006/relationships/slide" Target="/ppt/slides/slide1.xml" Id="R1e6ef01515724706" /><Relationship Type="http://schemas.openxmlformats.org/officeDocument/2006/relationships/slide" Target="/ppt/slides/slide2.xml" Id="R3e868b7825134a84" /><Relationship Type="http://schemas.openxmlformats.org/officeDocument/2006/relationships/slide" Target="/ppt/slides/slide3.xml" Id="R558b6678630844b6" /><Relationship Type="http://schemas.openxmlformats.org/officeDocument/2006/relationships/slide" Target="/ppt/slides/slide4.xml" Id="Rb028e3191ce24021" /><Relationship Type="http://schemas.openxmlformats.org/officeDocument/2006/relationships/slide" Target="/ppt/slides/slide5.xml" Id="R21cf18e55d614f87" /><Relationship Type="http://schemas.openxmlformats.org/officeDocument/2006/relationships/slide" Target="/ppt/slides/slide6.xml" Id="Rc9ac5de2f4504f1e" /><Relationship Type="http://schemas.openxmlformats.org/officeDocument/2006/relationships/slide" Target="/ppt/slides/slide7.xml" Id="R1be7132e55004cee" /><Relationship Type="http://schemas.openxmlformats.org/officeDocument/2006/relationships/slide" Target="/ppt/slides/slide8.xml" Id="R3556172378a64c12" /><Relationship Type="http://schemas.openxmlformats.org/officeDocument/2006/relationships/slide" Target="/ppt/slides/slide9.xml" Id="Rfab44cfb9e2c4a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42c9be130c46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7e76681473439e" /><Relationship Type="http://schemas.openxmlformats.org/officeDocument/2006/relationships/notesMaster" Target="/ppt/notesMasters/notesMaster1.xml" Id="R39db2a02170640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bb0311220b4cb1" /><Relationship Type="http://schemas.openxmlformats.org/officeDocument/2006/relationships/notesMaster" Target="/ppt/notesMasters/notesMaster1.xml" Id="Rdd264ff229d444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5ef50070d642d5" /><Relationship Type="http://schemas.openxmlformats.org/officeDocument/2006/relationships/notesMaster" Target="/ppt/notesMasters/notesMaster1.xml" Id="Rc57ce6bc34e34b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e8e728dd7a4550" /><Relationship Type="http://schemas.openxmlformats.org/officeDocument/2006/relationships/notesMaster" Target="/ppt/notesMasters/notesMaster1.xml" Id="Rdfcc4505f9d74b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b9ee4232934f44" /><Relationship Type="http://schemas.openxmlformats.org/officeDocument/2006/relationships/notesMaster" Target="/ppt/notesMasters/notesMaster1.xml" Id="R9ccf3a76776944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e5a922eb794145" /><Relationship Type="http://schemas.openxmlformats.org/officeDocument/2006/relationships/notesMaster" Target="/ppt/notesMasters/notesMaster1.xml" Id="R51cdcc69c1b742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12250131754c63" /><Relationship Type="http://schemas.openxmlformats.org/officeDocument/2006/relationships/notesMaster" Target="/ppt/notesMasters/notesMaster1.xml" Id="Rb2ed88c1f7dd40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c446b94f244358" /><Relationship Type="http://schemas.openxmlformats.org/officeDocument/2006/relationships/notesMaster" Target="/ppt/notesMasters/notesMaster1.xml" Id="Rd5b1dc0854b242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06529d054d46cf" /><Relationship Type="http://schemas.openxmlformats.org/officeDocument/2006/relationships/notesMaster" Target="/ppt/notesMasters/notesMaster1.xml" Id="R2f11a013e7664e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Deployed Qwen3-32B evidence path: https://github.com/owlsowo/finly-bot/blob/main/lib/evidence_extractor.mjs</a:t>
            </a:r>
          </a:p>
          <a:p xmlns:a="http://schemas.openxmlformats.org/drawingml/2006/main">
            <a:r>
              <a:t>- Cloud model runner: https://github.com/owlsowo/finly-bot/blob/main/.github/workflows/paper-agent-cloud.yml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https://owlsowo.github.io/finly-bot/#controls</a:t>
            </a:r>
          </a:p>
          <a:p xmlns:a="http://schemas.openxmlformats.org/drawingml/2006/main">
            <a:r>
              <a:t>- Deployed Qwen3-32B evidence path: https://github.com/owlsowo/finly-bot/blob/main/lib/evidence_extractor.mjs</a:t>
            </a:r>
          </a:p>
          <a:p xmlns:a="http://schemas.openxmlformats.org/drawingml/2006/main">
            <a:r>
              <a:t>- Hosted-model readiness gate: https://github.com/owlsowo/finly-bot/blob/main/scripts/featherless_readiness_check.mjs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schedule offsets.</a:t>
            </a:r>
          </a:p>
          <a:p xmlns:a="http://schemas.openxmlformats.org/drawingml/2006/main">
            <a:r>
              <a:t>- Industry-proxy reconstruction; separate from live broker performance and not independent validation. It passed 8/9 precommitted gates but failed the multiple-testing-adjusted statistical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Calibration artifact: https://owlsowo.github.io/finly-bot/data/options_policy_calibration.json</a:t>
            </a:r>
          </a:p>
          <a:p xmlns:a="http://schemas.openxmlformats.org/drawingml/2006/main">
            <a:r>
              <a:t>- Reproduce with: npm run options:calibration</a:t>
            </a:r>
          </a:p>
          <a:p xmlns:a="http://schemas.openxmlformats.org/drawingml/2006/main">
            <a:r>
              <a:t>- The test uses historical SPY signals and one fixed symmetric modeled quote surface. It does not use historical option quotes, orders, fills, or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Current options-policy revision: https://github.com/owlsowo/finly-bot/blob/main/config/options-policy-revision-v3-2026-09-02.json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First-close measurement: https://owlsowo.github.io/finly-bot/data/competition_forward_profit_2026_08_31.json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Exact first-close result: Finly +$95.32, SPY -$57.99, excess +$153.31.</a:t>
            </a:r>
          </a:p>
          <a:p xmlns:a="http://schemas.openxmlformats.org/drawingml/2006/main">
            <a:r>
              <a:t>- Screenshot is project-owned and records the public paper-account 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3cc42a7e5b44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e49e1b93ab422c" /><Relationship Type="http://schemas.openxmlformats.org/officeDocument/2006/relationships/slideLayout" Target="/ppt/slideLayouts/slideLayout1.xml" Id="R40f1ef245b6649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f1ef245b6649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894857ff046d7" /><Relationship Type="http://schemas.openxmlformats.org/officeDocument/2006/relationships/image" Target="/ppt/media/image.png" Id="Ra8ae3c25005e4dd1" /><Relationship Type="http://schemas.openxmlformats.org/officeDocument/2006/relationships/image" Target="/ppt/media/image2.png" Id="Rc81c45fa51e24d72" /><Relationship Type="http://schemas.openxmlformats.org/officeDocument/2006/relationships/notesSlide" Target="/ppt/notesSlides/notesSlide1.xml" Id="R855571108d0f4b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c9eedb133422b" /><Relationship Type="http://schemas.openxmlformats.org/officeDocument/2006/relationships/notesSlide" Target="/ppt/notesSlides/notesSlide2.xml" Id="R50bb632f29bd41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e62958d2e4279" /><Relationship Type="http://schemas.openxmlformats.org/officeDocument/2006/relationships/notesSlide" Target="/ppt/notesSlides/notesSlide3.xml" Id="R3b35c6d8eb7547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1697acf1548e7" /><Relationship Type="http://schemas.openxmlformats.org/officeDocument/2006/relationships/chart" Target="/ppt/slides/charts/chart1.xml" Id="R25b1c0cbc1d646a1" /><Relationship Type="http://schemas.openxmlformats.org/officeDocument/2006/relationships/notesSlide" Target="/ppt/notesSlides/notesSlide4.xml" Id="R1451f78be2bf49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10f1dcb504d77" /><Relationship Type="http://schemas.openxmlformats.org/officeDocument/2006/relationships/notesSlide" Target="/ppt/notesSlides/notesSlide5.xml" Id="Ra684f7b7d80143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d4be7f7ba44c4" /><Relationship Type="http://schemas.openxmlformats.org/officeDocument/2006/relationships/notesSlide" Target="/ppt/notesSlides/notesSlide6.xml" Id="R6c65f0f26bb64a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81a1dc50f45d5" /><Relationship Type="http://schemas.openxmlformats.org/officeDocument/2006/relationships/notesSlide" Target="/ppt/notesSlides/notesSlide7.xml" Id="R5504ef6d60484c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c7d0823d94d41" /><Relationship Type="http://schemas.openxmlformats.org/officeDocument/2006/relationships/notesSlide" Target="/ppt/notesSlides/notesSlide8.xml" Id="R2b2007c5a4b040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5d5c783924bc0" /><Relationship Type="http://schemas.openxmlformats.org/officeDocument/2006/relationships/image" Target="/ppt/media/image3.png" Id="R5703321d372b40e9" /><Relationship Type="http://schemas.openxmlformats.org/officeDocument/2006/relationships/hyperlink" Target="https://owlsowo.github.io/finly-bot/" TargetMode="External" Id="Re73d88082cf64165" /><Relationship Type="http://schemas.openxmlformats.org/officeDocument/2006/relationships/hyperlink" Target="https://owlsowo.github.io/finly-bot/" TargetMode="External" Id="Ra05064262f274577" /><Relationship Type="http://schemas.openxmlformats.org/officeDocument/2006/relationships/notesSlide" Target="/ppt/notesSlides/notesSlide9.xml" Id="Re202af152c174884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 · S&amp;P 500 tracker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e3c25005e4dd1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353BA-B436-4DCD-8D8A-BFAB057A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58E049-7385-4DC0-86F3-0D4971BD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ONE AUTONOMOUS STRATEGY · TWO COORDINATED SLEEVES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3F8C5-43F1-4D38-A59A-7A2299BB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</a:defRPr>
            </a:pPr>
            <a:r>
              <a:rPr sz="3600" b="1" i="0">
                <a:solidFill>
                  <a:srgbClr val="FFFFFF"/>
                </a:solidFill>
              </a:rPr>
              <a:t>Finly pairs a tested allocation with capped-risk AI options.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FEA58-461D-44BC-A2D4-B164820E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7E3E5"/>
                </a:solidFill>
              </a:defRPr>
            </a:pPr>
            <a:r>
              <a:rPr sz="1650" b="0" i="0">
                <a:solidFill>
                  <a:srgbClr val="D7E3E5"/>
                </a:solidFill>
              </a:rPr>
              <a:t>The allocation keeps the account invested. AI studies small options trades; fixed rules cap the risk and can still stop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42583-1E8B-49A8-953F-12AC3ED9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c45fa51e24d72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824B2-44DA-474A-B25D-94564C38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ALLOCATION  +  OPTIONS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2B443-690C-46D6-8E62-F355D7C5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One account  ·  one risk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6F82F-657E-4373-B0A1-BF97E3AC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5F585-8507-4722-BC38-7C0C7B99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57186B-E6E6-4213-AEDB-976CF81D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11A38B-6B7E-4D0C-829D-DFFE29E5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CDC325-2036-41CC-8850-680A6DE5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VERSUS THE S&amp;P 500 TRACKER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FD6F5E-8E7F-4195-9F7B-76402C32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+$153.31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4B9C8-EC51-432E-9409-B0E44696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FIRST PAPER SESSION VS SPY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23E8CD-1F3B-45A2-9EB6-6DB139AA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4BFA26-62AE-42CE-A7DE-896B5543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A5FDF2-FDCE-4948-BFC0-F64DACF8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7AB3D4-992F-4A6C-B085-4A58296F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0F35F-23C1-4353-B7D1-1E8E2E1D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377209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70D5D8-FFAA-4405-816D-0D3DCF94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90F70-FE14-4C0C-8B06-9595E574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A trading bot is hard to trust when one model can research, size, and send.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827A88-7A78-4ECA-95BB-E6135883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BECE6-710D-4CE2-9712-D59D7519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C3A1F-929E-4D75-B48D-A06F2500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89E24-EE7D-4D28-ABA3-EF781999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ECCA2-8881-46CD-99A8-C2EEDCBD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FF2051-BCE0-4D8E-BF14-8A779B91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C3379-6B82-4527-9607-BC3DC330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D0DB4-CB5D-49CC-8E16-3CD9A234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13059-3021-4D60-BCEC-20FF507C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818D01-9B47-4047-8BD0-D1AF7E5E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B68A4-EDEE-481D-8288-FA6FEBA8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D6E85-EA86-4AF6-9D8C-6FCDA834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E88739-4759-4E02-9494-5D5C4130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DAC070-6129-480F-BB79-C0BFF890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67B775-6177-4AA9-A189-47181DAA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E2C2B6-2877-4328-8F5A-D60A795B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D2CB2D-F07C-40E9-B69B-3B04B5DF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EA954A-B951-4B77-AE3F-A094370F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593653-4B46-497A-BF04-C508C1EF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816474-92CF-43CE-B137-3822DD49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431FA-3615-4836-9430-67A5F7D2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6214A-067B-4BED-BF97-969DF0D7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079DF5-5070-461B-A522-3A77FE2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F265DF-9CCA-493F-8852-217D5DFB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ECA4CD-40DC-4777-BE30-68DF968D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handing the model the account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0B664E-EA72-43E7-A5AC-20C670BF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27078"/>
                </a:solidFill>
              </a:defRPr>
            </a:pPr>
            <a:r>
              <a:rPr sz="1725" b="0" i="0">
                <a:solidFill>
                  <a:srgbClr val="627078"/>
                </a:solidFill>
              </a:rPr>
              <a:t>Finly's rules choose the maximum risk, the exact option pair, the order details, and whether a trade may be sent.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ABE30B-D6FE-4D4D-AB68-76058EC7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FD281D-7757-46EC-8AD7-22749E99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604653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E4D160-09F8-4C64-BE9C-D09EF3DA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CFE8E-51B9-4A92-BE67-BA302781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Price sets the direction. AI explains the news. Rules control the money.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1F2D8-5AF7-4FFF-836D-31CA96DC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27680-7723-4189-A490-F4780890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A6D64-7133-4063-B634-179013ED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9798A-2686-44BC-A241-A08A7165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Signed market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E953E-6740-421A-8328-619C2E14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E3E5"/>
                </a:solidFill>
              </a:defRPr>
            </a:pPr>
            <a:r>
              <a:rPr sz="1500" b="0" i="0">
                <a:solidFill>
                  <a:srgbClr val="D7E3E5"/>
                </a:solidFill>
              </a:rPr>
              <a:t>Price momentum owns the sign. Options and AI-read news may only support, reduce, or stop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211A3-2D2B-49C6-A1CD-6196F8C7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F2C6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C70C5-994C-4C8D-BBC1-609AFFF9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BE490-919B-47D0-BFAC-97571210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CODE BUILDS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192F0-41B6-47AB-91FA-87B9A6F1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One exact spread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FDF88D-9B6C-4ED3-9784-884AEFF1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E3E5"/>
                </a:solidFill>
              </a:defRPr>
            </a:pPr>
            <a:r>
              <a:rPr sz="1500" b="0" i="0">
                <a:solidFill>
                  <a:srgbClr val="D7E3E5"/>
                </a:solidFill>
              </a:rPr>
              <a:t>Bull call, bear put, or no trade. One contract, capped loss, fixed broker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28885-F7E3-4E0B-B59E-531AC7D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B9DFD2"/>
                </a:solidFill>
              </a:defRPr>
            </a:pPr>
            <a:r>
              <a:rPr sz="3300" b="1" i="0">
                <a:solidFill>
                  <a:srgbClr val="B9DFD2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308FB-1088-4EBF-B69B-9022964C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F2C66D"/>
                </a:solidFill>
              </a:defRPr>
            </a:pPr>
            <a:r>
              <a:rPr sz="3300" b="1" i="0">
                <a:solidFill>
                  <a:srgbClr val="F2C66D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682A9-96C3-49D7-AD30-37BB31A8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52650"/>
            <a:ext cx="4000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A03931-D48C-4092-A278-058EA6B4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D5AED-A208-4EAD-B2C1-41A51574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RULES 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09DDC4-598C-42B3-AF33-F8631886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Can money move?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1386EE-4A75-485E-A8B8-ECBC82E2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90900"/>
            <a:ext cx="16383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2946A2-FC99-4CE4-859B-2BC98FE4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4EF877-ACF1-47DA-BAC7-EFCB8188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ORDER READY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CB1385-3C2D-4607-8692-4B64E312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90900"/>
            <a:ext cx="1676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7595D3-6319-4D65-81B6-3E77500F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B6465B-26E6-4F0B-9CF0-7C9F346B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9095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NO TRADE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5FC76C-F569-4E2F-804E-8A78968F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EE25E5-A790-4D37-B058-0BD69D45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B9DFD2"/>
                </a:solidFill>
              </a:defRPr>
            </a:pPr>
            <a:r>
              <a:rPr sz="1875" b="1" i="0">
                <a:solidFill>
                  <a:srgbClr val="B9DFD2"/>
                </a:solidFill>
              </a:rPr>
              <a:t>Three outcomes: bullish call spread · bearish put spread · no trade.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930B25-D2DB-447C-942D-835055B1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576A82-8D54-4271-A43C-4C6C0CC0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05156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05CCFB-E1F4-42CD-81D9-F112CC06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4225F-DF9B-4773-B004-525AAA88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6A702-9305-4F9E-8BB8-33075DCD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Historical rule: 50% QQQ + 50% across three trend-selected sectors. Competition deployment: 97% of those weights + 3%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0A06F-A5AE-4B6D-881F-98C78F89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2013–2026 · same $10,000 start · modeled 0.05% cost per buy or sell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8667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b1c0cbc1d646a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B9534-28E3-49B5-951F-A73686A7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38C2F-B3D9-4665-80D6-ED695FF8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B3679-3FF2-4FA9-BD71-1C790B19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058F7-943A-4E96-B782-8BF5283E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CF8E6-9B8D-4B69-BCF6-BC686B7C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93692-CBDB-4455-B61A-EF0666BA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EC0DE8-1405-4418-86D9-1153E4C5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WORST DECLINE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600848-4107-4794-9BC8-EAAC1C31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521EB-2AAC-4C09-AB03-C5B77667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E429C8-9199-4726-86B1-D9E01770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280493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93AB359-675E-4100-8571-6DD97C4D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 SECOND HISTORICAL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89996-A0A9-430A-9EB5-DF3BB8B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FFFFFF"/>
                </a:solidFill>
              </a:defRPr>
            </a:pPr>
            <a:r>
              <a:rPr sz="3075" b="1" i="0">
                <a:solidFill>
                  <a:srgbClr val="FFFFFF"/>
                </a:solidFill>
              </a:rPr>
              <a:t>An 80-year market test stayed ahead across all 21 tested monthly rebalance schedules.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4D3307-BC69-4A1F-90A5-FD24B33D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2830F-C053-4B98-B4D6-FD5FB030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18A2F-A958-40F5-A80B-7C6236C1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88E48-FA4E-4495-936A-A9426369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D322C-C2B5-4DD9-84B2-89A0A861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7D79E-71AD-4BC0-A465-919879A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5C721-E228-4CF0-B8AB-B158D136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PUBLIC INDUSTRY DATASET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980B75-ED9A-4F2D-BCB2-67D01959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802FB-20DB-422C-9A74-C3C566A4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GROWTH PER 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ABF03A-FC64-4C2E-9122-AF10897A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ED295C-062A-4B71-A3A1-59A4465A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8A8117-76D6-4766-9B7F-2CBA0DBE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TESTED MONTHLY REBALANCE SCHEDULES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3260BB-2DD7-4BA0-8F6B-4AE3DF78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1308F0-54C4-45A6-8F83-1CE89E40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C0C80-83C3-4E58-8C59-CF6E73CE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55409B-B085-4CEB-BBB8-6D53BDB5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ED549-0C8C-4F22-BAB7-4B2EE7F3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22CA85-891A-49C0-85EA-87CCA98E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C7C18B-7071-4DCF-9065-4DDE5342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18C600-A5A3-4BC9-A4A9-91F81C77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77E021-5D62-4771-9968-BF611592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04D686-9D54-4670-AE7D-9B5874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397752-47D7-4971-82D6-0BB1A89D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1D9FCA-83EF-4DDA-B807-2A9C5066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79EDE4-6422-4C43-B066-B05FE310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03763B-2F55-444B-9E2E-AC272A69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B09E58-9CE6-4994-A73E-DD58EFA9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09CC1A-7D76-418B-8347-374E21F5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8FA900-194E-4E0F-88A4-AD003857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316FF7-D806-4FA1-BE6E-161DE332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311D9C-C927-4557-B76F-441FEC8E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ABE60A-3165-4709-8FE9-2746E87C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3A49C5-6FBF-40FA-9F6E-6F7F8395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CFA850-53A1-4847-B057-607FF971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2C66D"/>
                </a:solidFill>
              </a:defRPr>
            </a:pPr>
            <a:r>
              <a:rPr sz="3000" b="1" i="0">
                <a:solidFill>
                  <a:srgbClr val="F2C66D"/>
                </a:solidFill>
              </a:rPr>
              <a:t>+2.45 points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08DC1A-B698-40CB-9BA2-80E4FC23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ANNUALIZED GROWTH EDGE AFTER 0.25%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16D432-D2E1-4ED3-82E2-082BE4BE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0.05%  →  0.10%  →  0.25%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86C1DC2-FCF6-442D-84A8-D9D63352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CB0DDD-AA99-4D82-981C-061F9502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62B50CD-BAB6-4B48-B224-BC513A90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A1A6BD-3680-44FC-AA0A-A3929951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Its worst decline was 16.31 percentage points smaller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01D32C-5757-4FEA-9E6E-03ACBD54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0BD451-78D8-4C9A-BBE4-C4C9B08E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708152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39CF04-80AD-4FB8-8D4B-5A22B288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OPTIONS ELIGIBILITY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F57B6-52CB-491D-812E-3EBEDEEB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314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22A3E"/>
                </a:solidFill>
              </a:defRPr>
            </a:pPr>
            <a:r>
              <a:rPr sz="2850" b="1" i="0">
                <a:solidFill>
                  <a:srgbClr val="122A3E"/>
                </a:solidFill>
              </a:rPr>
              <a:t>11 ordinary-quote windows cleared every alpha 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AAE44-9E98-4C0D-82F4-CC680CFC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517 sampled SPY signal windows · 2016–2026 · five-session stride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F5AB1-F34C-4309-9645-086A5918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SYMMETRIC MODELED QUOTE SURFACE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2CF3F6-4BF1-4E23-9E4F-AAFE01CA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905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4D123-F053-4DD4-BA3F-E7303A41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104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2F7D68"/>
                </a:solidFill>
              </a:defRPr>
            </a:pPr>
            <a:r>
              <a:rPr sz="3900" b="1" i="0">
                <a:solidFill>
                  <a:srgbClr val="2F7D68"/>
                </a:solidFill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39A62-F6DD-4FE9-92D3-B3A2FCED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241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eligible entries out of 517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EDC9F-CE00-499E-80FB-C8D876C2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051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27078"/>
                </a:solidFill>
              </a:defRPr>
            </a:pPr>
            <a:r>
              <a:rPr sz="1125" b="0" i="0">
                <a:solidFill>
                  <a:srgbClr val="627078"/>
                </a:solidFill>
              </a:rPr>
              <a:t>All retain positive conservative value after modeled costs.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6E64EF-DF44-43FD-947D-1D2855AA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BOTH DIRECTIONS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C3390-62F9-44F0-98E3-80EE58EE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43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2A293-1863-4667-9A23-4A8FB925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2F7D68"/>
                </a:solidFill>
              </a:defRPr>
            </a:pPr>
            <a:r>
              <a:rPr sz="3300" b="1" i="0">
                <a:solidFill>
                  <a:srgbClr val="2F7D68"/>
                </a:solidFill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274344-6861-4E48-90FB-9937A7C8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38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A3E"/>
                </a:solidFill>
              </a:defRPr>
            </a:pPr>
            <a:r>
              <a:rPr sz="1425" b="1" i="0">
                <a:solidFill>
                  <a:srgbClr val="122A3E"/>
                </a:solidFill>
              </a:rPr>
              <a:t>bullish call spreads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E359E2-012D-4831-BDB4-5824AD77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210050"/>
            <a:ext cx="29718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77334-A416-41DE-B85B-966B08F3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862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E56B5D"/>
                </a:solidFill>
              </a:defRPr>
            </a:pPr>
            <a:r>
              <a:rPr sz="3300" b="1" i="0">
                <a:solidFill>
                  <a:srgbClr val="E56B5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038F6F-654B-4DCC-ADB8-60C8A1FD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386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A3E"/>
                </a:solidFill>
              </a:defRPr>
            </a:pPr>
            <a:r>
              <a:rPr sz="1425" b="1" i="0">
                <a:solidFill>
                  <a:srgbClr val="122A3E"/>
                </a:solidFill>
              </a:rPr>
              <a:t>bearish put spreads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98F287-D60B-4224-AE02-3812613D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43624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548ADF-4E9A-445F-AD21-EBE8DD65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ELIGIBLE-SPREAD RANGE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23B70A-CA41-460F-A5BB-4CA7E352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479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Positive value. Capped loss.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E058F-7797-48CB-ABE8-F8DF4FB4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57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MAX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05B39E-7862-4AB3-8ED7-D3FCFB6E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194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$440–$455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35632E-E075-4321-83D2-E70EA8B7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7719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CONSERVATIVE VALUE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4A9DF5-6823-45EA-8718-DF7E6E98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33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$10.08–$22.26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38BEA-EE91-4202-8F5C-8F0E0000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86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REWARD / RISK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9064EE-35CC-4D10-AD94-F073CBD9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481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2.30–2.41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0A3373-C38E-40AE-AAD7-72470ABE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7244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C4D4D8"/>
                </a:solidFill>
              </a:defRPr>
            </a:pPr>
            <a:r>
              <a:rPr sz="1125" b="0" i="0">
                <a:solidFill>
                  <a:srgbClr val="C4D4D8"/>
                </a:solidFill>
              </a:rPr>
              <a:t>Signal + fixed quote-surface test—not historical option prices or P&amp;L.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C32654-E481-4ADD-B0E2-070A9F80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B2942"/>
                </a:solidFill>
              </a:defRPr>
            </a:pPr>
            <a:r>
              <a:rPr sz="2850" b="1" i="0">
                <a:solidFill>
                  <a:srgbClr val="0B2942"/>
                </a:solidFill>
              </a:rPr>
              <a:t>517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4E1F23-CE82-447F-9475-7081B2CA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912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SAMPLED SIGNAL WINDOWS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376942-CEF7-4651-BAC8-BAC2C62C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67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11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05553A-C744-46C7-A571-5DFE1E94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9912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CLEARED EVERY ALPHA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6CAFC7-FE63-4203-907E-2DB2FC9C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673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B2942"/>
                </a:solidFill>
              </a:defRPr>
            </a:pPr>
            <a:r>
              <a:rPr sz="2850" b="1" i="0">
                <a:solidFill>
                  <a:srgbClr val="0B2942"/>
                </a:solidFill>
              </a:rPr>
              <a:t>7 / 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881324-C3C1-4BA1-A8DC-61074FB9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9912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BULLISH / BEARISH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0706B7-E9DA-4180-903A-960F0B41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467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4D7F86-7538-4BF7-87B3-3F2EE6FE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991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HARD LOSS CEILING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8642E9-396F-4C92-9EFA-F12402A1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BB60F7-E6C7-4A09-9034-61E2EC55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45313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F6A008-D6A4-43F5-8EC3-8D595D8D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VERIFIED $100,000 PAPER ACCOUNT / FIRST 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0FA20-C4A6-4916-9E82-FBB507B8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closed its first paper session $153.31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756B1-1117-4B35-95CB-4D8F9E60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710565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0BBB9-AE11-479A-8699-66666B6C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SAME $100,000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5907D-39D8-4F23-BEB4-537E53B4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627078"/>
                </a:solidFill>
              </a:defRPr>
            </a:pPr>
            <a:r>
              <a:rPr sz="1350" b="1" i="0">
                <a:solidFill>
                  <a:srgbClr val="627078"/>
                </a:solidFill>
              </a:rPr>
              <a:t>9:30 A.M.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80BA8-8EB4-48DC-9254-1970DE47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0B2942"/>
                </a:solidFill>
              </a:defRPr>
            </a:pPr>
            <a:r>
              <a:rPr sz="2550" b="1" i="0">
                <a:solidFill>
                  <a:srgbClr val="0B2942"/>
                </a:solidFill>
              </a:rPr>
              <a:t>$100,000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11B7DC-F73D-4E03-AE40-E6476CB6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1945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EFA22-629F-4463-AD16-B1E20361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4:00 P.M.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FB6F9F-6A37-43D4-BAC8-7CC57F94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2F7D68"/>
                </a:solidFill>
              </a:defRPr>
            </a:pPr>
            <a:r>
              <a:rPr sz="1200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55F69-6C5B-41D0-AD01-75CF7EE9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90900"/>
            <a:ext cx="2228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$100,095.32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531F34-EC64-4BFA-96BF-A0AA8371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05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84BFF-3FCE-4E76-BF0E-5978113C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909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$99,942.01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1A5ED6-8E7D-476D-B49A-CA1CE010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E10FF5-B269-4E1A-AD92-7C4A0F95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15 ETF fill events built the allocation sleeve · no options position was open at the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9017CD-B947-4ED5-A1CF-6F1D2A0F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710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05BF4-ABCC-4C17-B76D-4774B00A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710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9DFD2"/>
                </a:solidFill>
              </a:defRPr>
            </a:pPr>
            <a:r>
              <a:rPr sz="1650" b="1" i="0">
                <a:solidFill>
                  <a:srgbClr val="B9DFD2"/>
                </a:solidFill>
              </a:rPr>
              <a:t>One start, one close, one fair comparison.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B863A-1639-4390-BCFE-E6A68FE9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0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</a:defRPr>
            </a:pPr>
            <a:r>
              <a:rPr sz="1275" b="0" i="0">
                <a:solidFill>
                  <a:srgbClr val="FFFFFF"/>
                </a:solidFill>
              </a:rPr>
              <a:t>Aug 31: allocation traded and stayed unchanged. Sep 1: options v2 was versioned separately after a published no-trade diagnostic.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6547E3-4B6D-449F-A266-F9AEAD6A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9BB027-D4E7-4B66-8044-17EDAD74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38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+$95.32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9CBCE3-3D5D-4BF1-A1B0-5C86797A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virtual-money account profit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F782E2-7191-4FBD-91D7-C0D7C725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7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7E3D80-4E0B-4F57-829D-8D883742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 · S&amp;P 500 TRACKER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05B9C6-9173-413B-ADEF-98713C72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10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−$57.99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A28845-EB23-4DDC-9EB7-04FF5DAD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86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same-clock price benchmark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5F5CF9-18E1-43B2-9909-0B7C4519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672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F99544-A120-49EC-A430-312AFD91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76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FINLY ADVANTAGE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BF8EC0-5E64-4B93-8978-D1D77D70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2C66D"/>
                </a:solidFill>
              </a:defRPr>
            </a:pPr>
            <a:r>
              <a:rPr sz="2550" b="1" i="0">
                <a:solidFill>
                  <a:srgbClr val="F2C66D"/>
                </a:solidFill>
              </a:rPr>
              <a:t>+$153.31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C8B708-39A2-4D06-B028-8CE73837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72150"/>
            <a:ext cx="3276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Same $100k start · same 4:00 p.m. price · no deposits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17259F-DDEE-41BF-BBCD-3D3420C3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56F6A3-58E4-478F-989F-B37BCD0E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443111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431411-7963-4F14-B1B5-84894EF7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RECEIPTS FOR BOTH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27E92-3129-44F7-8813-544A32E4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122A3E"/>
                </a:solidFill>
              </a:defRPr>
            </a:pPr>
            <a:r>
              <a:rPr sz="3375" b="1" i="0">
                <a:solidFill>
                  <a:srgbClr val="122A3E"/>
                </a:solidFill>
              </a:rPr>
              <a:t>Trade or no trade—Finly records what happened and why.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5870C-4EFB-4A43-9663-A9A84304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A4E7D-DB73-40D1-8C7B-B4FC5F8F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FD400-3637-45BB-A939-63F44BF2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71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EVIDENCE CONFLICTS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573B4-701E-438A-8A22-3642430A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574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source points the other way.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59CCD-B3F4-4FDF-B88F-44F3E3DF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2FD8F-E5C0-4932-B883-8AAEA6F7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EEAD0-0C9A-4393-96D1-CBEA89CB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DABE8-E50F-471C-B80A-7EEA296B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09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TEST FAILS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875440-1850-4053-B55F-B7DE8DCF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956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Finly retests the idea without each source.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C99179-46A1-4628-9B20-72525C4A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A5FB8-2F4D-405E-B255-10BAD02E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49CA3-EEF0-4C8A-828B-746913DE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01632-ED98-4DE1-BF74-44BB875D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48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B2942"/>
                </a:solidFill>
              </a:defRPr>
            </a:pPr>
            <a:r>
              <a:rPr sz="1125" b="1" i="0">
                <a:solidFill>
                  <a:srgbClr val="0B2942"/>
                </a:solidFill>
              </a:rPr>
              <a:t>ORDER BLOCKED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670EF-1DA9-426D-A3EA-69377315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338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No options instruction reaches Alpaca.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0A75F7-F890-4DA8-AC43-78A0C6BE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1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0C21D6-AE78-4A39-84C5-7D902CC0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E8C000-D1F6-46BF-8D3C-D1F37F27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0C91FB-62C5-41C1-9A18-3C38027D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86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RECEIPT SAVED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8E664-FD7C-48F3-A099-BBE7D7D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The refusal and its reason remain inspectable.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09C1C4-EEEA-44FD-870D-C939214D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40576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47741-0FDA-4B2D-85EF-78D97727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1455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DECISION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DA67A9-85FC-406B-9E02-5A045E5E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52700"/>
            <a:ext cx="3371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75" b="1" i="0">
                <a:solidFill>
                  <a:srgbClr val="FFFFFF"/>
                </a:solidFill>
              </a:defRPr>
            </a:pPr>
            <a:r>
              <a:rPr sz="3375" b="1" i="0">
                <a:solidFill>
                  <a:srgbClr val="FFFFFF"/>
                </a:solidFill>
              </a:rPr>
              <a:t>NO TRADE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6698CC-E1CA-463B-A9F7-AD20C530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95650"/>
            <a:ext cx="3371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 i="0">
                <a:solidFill>
                  <a:srgbClr val="B9DFD2"/>
                </a:solidFill>
              </a:defRPr>
            </a:pPr>
            <a:r>
              <a:rPr sz="4800" b="1" i="0">
                <a:solidFill>
                  <a:srgbClr val="B9DFD2"/>
                </a:solidFill>
              </a:rPr>
              <a:t>$0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D41FF2-CDEC-4EA5-BCEE-D46210D6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NEW OPTIONS RISK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666B4F-754D-4416-8AD4-BB3F917C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76750"/>
            <a:ext cx="3371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D7E3E5"/>
                </a:solidFill>
              </a:defRPr>
            </a:pPr>
            <a:r>
              <a:rPr sz="1350" b="0" i="0">
                <a:solidFill>
                  <a:srgbClr val="D7E3E5"/>
                </a:solidFill>
              </a:rPr>
              <a:t>The safest trade can be no trade.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E573E2-E5BC-4DB2-A899-181231DF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5DACCD-78EF-4117-B2D3-35C0BB5A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864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826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AE5463-90B2-496D-BBF1-CEDB3158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627078"/>
                </a:solidFill>
              </a:defRPr>
            </a:pPr>
            <a:r>
              <a:rPr sz="1275" b="1" i="0">
                <a:solidFill>
                  <a:srgbClr val="627078"/>
                </a:solidFill>
              </a:rPr>
              <a:t>AUTOMATED TESTS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2A5A87-DCB4-4252-8FEA-E65215AA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562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824 PASSED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B43F6C-4313-44C6-A75C-8673D52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5626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 FAILED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FB59B2-0244-4548-A7F3-BB50C3CF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562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627078"/>
                </a:solidFill>
              </a:defRPr>
            </a:pPr>
            <a:r>
              <a:rPr sz="1350" b="1" i="0">
                <a:solidFill>
                  <a:srgbClr val="627078"/>
                </a:solidFill>
              </a:rPr>
              <a:t>2 SKIPPED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C82217-AB56-4F78-9306-0457C3E3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BEB691-C6D5-4CB5-9EE9-9A2E3BD3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51013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EB92A-7D23-4C38-A7F7-AA53FFD0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B4FFD-F6D3-454B-BCCC-1F2D256C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22A3E"/>
                </a:solidFill>
              </a:defRPr>
            </a:pPr>
            <a:r>
              <a:rPr sz="3750" b="1" i="0">
                <a:solidFill>
                  <a:srgbClr val="122A3E"/>
                </a:solidFill>
              </a:rPr>
              <a:t>Watch the account. Try the decision. Inspect the proof.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2396A-A027-4E7C-845A-AF6A4253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27078"/>
                </a:solidFill>
              </a:defRPr>
            </a:pPr>
            <a:r>
              <a:rPr sz="2025" b="0" i="0">
                <a:solidFill>
                  <a:srgbClr val="627078"/>
                </a:solidFill>
              </a:rPr>
              <a:t>$153.31 ahead after session one—and every headline links to evidence you can rerun.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66670-22CC-4F25-9C03-2BACD2B9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3321d372b40e9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BCDA6D-8854-4E72-B068-75BF248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e73d88082cf64165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EE0DC-5312-405B-AFC3-7DBCACD2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85BCE-B589-4681-86DC-A7015B7E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1C2EE-196C-4CFC-9A04-645C2729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paper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8C2ED-7255-4F2A-8359-44F6D8A7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352DFA-6536-4AB4-9DCD-A3EFD74E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65A0F-D9C1-4797-BF06-31C2CF0E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8D8944-7D7E-467C-90A1-B945E39B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Bullish, bearish, or no trade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62D5B-9E73-415F-8263-F69CAE53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CEBB6-5417-4E61-A203-4D4B506F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4353F9-1285-4F1C-983D-2DDF75BD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B0F2A1-1BF9-4E03-AACE-D6DB8C34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decision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A10142-5355-4299-AF16-3CA91F50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2C0EBF-8459-4D37-863A-ABCA71DC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Historical results. First-session proof.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9B843F-CE5F-4A6A-B81D-BD309C7F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a05064262f274577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56DE-671D-4BAA-BBAC-134BA353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E889E9-C19B-460A-9B8A-26BCB2E4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23ADA-440C-4978-AD96-ED8061E2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806052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2026-09-02T04:13:09.4090000Z</dcterms:created>
  <dcterms:modified xsi:type="dcterms:W3CDTF">2026-09-02T04:13:09.4090000Z</dcterms:modified>
</coreProperties>
</file>