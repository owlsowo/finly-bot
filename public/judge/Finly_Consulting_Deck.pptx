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86c85043b5451c" /><Relationship Type="http://schemas.openxmlformats.org/officeDocument/2006/relationships/extended-properties" Target="/docProps/app.xml" Id="Re2319d28bf3249b5" /><Relationship Type="http://schemas.openxmlformats.org/officeDocument/2006/relationships/officeDocument" Target="/ppt/presentation.xml" Id="Raabff433c5e649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f529b458934cdb"/>
  </p:sldMasterIdLst>
  <p:notesMasterIdLst>
    <p:notesMasterId xmlns:r="http://schemas.openxmlformats.org/officeDocument/2006/relationships" r:id="R3a55c03941804719"/>
  </p:notesMasterIdLst>
  <p:sldIdLst>
    <p:sldId xmlns:r="http://schemas.openxmlformats.org/officeDocument/2006/relationships" id="256" r:id="Rb10d2897871e4422"/>
    <p:sldId xmlns:r="http://schemas.openxmlformats.org/officeDocument/2006/relationships" id="257" r:id="R24f43ffa38694634"/>
    <p:sldId xmlns:r="http://schemas.openxmlformats.org/officeDocument/2006/relationships" id="258" r:id="Ra71773b2f54f480f"/>
    <p:sldId xmlns:r="http://schemas.openxmlformats.org/officeDocument/2006/relationships" id="259" r:id="R539fe2b5a0254154"/>
    <p:sldId xmlns:r="http://schemas.openxmlformats.org/officeDocument/2006/relationships" id="260" r:id="Re987b4a311f34677"/>
    <p:sldId xmlns:r="http://schemas.openxmlformats.org/officeDocument/2006/relationships" id="261" r:id="R70229dad9a2143ec"/>
    <p:sldId xmlns:r="http://schemas.openxmlformats.org/officeDocument/2006/relationships" id="262" r:id="R63ce5be70dcf43f0"/>
    <p:sldId xmlns:r="http://schemas.openxmlformats.org/officeDocument/2006/relationships" id="263" r:id="R45d5562bd1184143"/>
    <p:sldId xmlns:r="http://schemas.openxmlformats.org/officeDocument/2006/relationships" id="264" r:id="R52c3c9cc0fe64fe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fb497e9a7447a7" /><Relationship Type="http://schemas.openxmlformats.org/officeDocument/2006/relationships/slideMaster" Target="/ppt/slideMasters/slideMaster1.xml" Id="Rdaf529b458934cdb" /><Relationship Type="http://schemas.openxmlformats.org/officeDocument/2006/relationships/notesMaster" Target="/ppt/notesMasters/notesMaster1.xml" Id="R3a55c03941804719" /><Relationship Type="http://schemas.openxmlformats.org/officeDocument/2006/relationships/presProps" Target="/ppt/presProps.xml" Id="Rf96597cf9773441a" /><Relationship Type="http://schemas.openxmlformats.org/officeDocument/2006/relationships/tableStyles" Target="/ppt/tableStyles.xml" Id="Rac8f6b67668f462d" /><Relationship Type="http://schemas.openxmlformats.org/officeDocument/2006/relationships/slide" Target="/ppt/slides/slide1.xml" Id="Rb10d2897871e4422" /><Relationship Type="http://schemas.openxmlformats.org/officeDocument/2006/relationships/slide" Target="/ppt/slides/slide2.xml" Id="R24f43ffa38694634" /><Relationship Type="http://schemas.openxmlformats.org/officeDocument/2006/relationships/slide" Target="/ppt/slides/slide3.xml" Id="Ra71773b2f54f480f" /><Relationship Type="http://schemas.openxmlformats.org/officeDocument/2006/relationships/slide" Target="/ppt/slides/slide4.xml" Id="R539fe2b5a0254154" /><Relationship Type="http://schemas.openxmlformats.org/officeDocument/2006/relationships/slide" Target="/ppt/slides/slide5.xml" Id="Re987b4a311f34677" /><Relationship Type="http://schemas.openxmlformats.org/officeDocument/2006/relationships/slide" Target="/ppt/slides/slide6.xml" Id="R70229dad9a2143ec" /><Relationship Type="http://schemas.openxmlformats.org/officeDocument/2006/relationships/slide" Target="/ppt/slides/slide7.xml" Id="R63ce5be70dcf43f0" /><Relationship Type="http://schemas.openxmlformats.org/officeDocument/2006/relationships/slide" Target="/ppt/slides/slide8.xml" Id="R45d5562bd1184143" /><Relationship Type="http://schemas.openxmlformats.org/officeDocument/2006/relationships/slide" Target="/ppt/slides/slide9.xml" Id="R52c3c9cc0fe64f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d73dbd3d8e4e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765ab1f3014361" /><Relationship Type="http://schemas.openxmlformats.org/officeDocument/2006/relationships/notesMaster" Target="/ppt/notesMasters/notesMaster1.xml" Id="R894da81578274c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b40b2834b34dda" /><Relationship Type="http://schemas.openxmlformats.org/officeDocument/2006/relationships/notesMaster" Target="/ppt/notesMasters/notesMaster1.xml" Id="Rff9c1950fee04d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3fad9d92294261" /><Relationship Type="http://schemas.openxmlformats.org/officeDocument/2006/relationships/notesMaster" Target="/ppt/notesMasters/notesMaster1.xml" Id="Rd736e4357d9c48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61f8e0fe7f4311" /><Relationship Type="http://schemas.openxmlformats.org/officeDocument/2006/relationships/notesMaster" Target="/ppt/notesMasters/notesMaster1.xml" Id="Rd40c53d0ce484d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f0381a8b6a42d5" /><Relationship Type="http://schemas.openxmlformats.org/officeDocument/2006/relationships/notesMaster" Target="/ppt/notesMasters/notesMaster1.xml" Id="R14124140cd5641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262c8dfc6c41a3" /><Relationship Type="http://schemas.openxmlformats.org/officeDocument/2006/relationships/notesMaster" Target="/ppt/notesMasters/notesMaster1.xml" Id="Rfe7ad6015c7f41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50f0da03344b07" /><Relationship Type="http://schemas.openxmlformats.org/officeDocument/2006/relationships/notesMaster" Target="/ppt/notesMasters/notesMaster1.xml" Id="R60c0b863247a42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c3082807ff4334" /><Relationship Type="http://schemas.openxmlformats.org/officeDocument/2006/relationships/notesMaster" Target="/ppt/notesMasters/notesMaster1.xml" Id="Rcdfc4cd63de141b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c99ef14cc1440d" /><Relationship Type="http://schemas.openxmlformats.org/officeDocument/2006/relationships/notesMaster" Target="/ppt/notesMasters/notesMaster1.xml" Id="Rb9e093920a8445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execution-realism result and claim boundaries: public/data/submission_claims_lock.json</a:t>
            </a:r>
          </a:p>
          <a:p xmlns:a="http://schemas.openxmlformats.org/drawingml/2006/main">
            <a:r>
              <a:t>- The 15.39% result is a consumed adjusted-OHLC replay, not a broker fill, options P&amp;L, alpha claim, forecast, or proof of future profit.</a:t>
            </a:r>
          </a:p>
          <a:p xmlns:a="http://schemas.openxmlformats.org/drawingml/2006/main">
            <a:r>
              <a:t>- Finly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technical paper, Sections 1 and 3.</a:t>
            </a:r>
          </a:p>
          <a:p xmlns:a="http://schemas.openxmlformats.org/drawingml/2006/main">
            <a:r>
              <a:t>- Authority and claim boundaries: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Project-owned product capture from the current local Finly build.</a:t>
            </a:r>
          </a:p>
          <a:p xmlns:a="http://schemas.openxmlformats.org/drawingml/2006/main">
            <a:r>
              <a:t>- Exact values and boundaries: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technical paper, controlled-delegation architecture and checked fixture.</a:t>
            </a:r>
          </a:p>
          <a:p xmlns:a="http://schemas.openxmlformats.org/drawingml/2006/main">
            <a:r>
              <a:t>- Exact checked results: public/data/submission_claims_lock.json.</a:t>
            </a:r>
          </a:p>
          <a:p xmlns:a="http://schemas.openxmlformats.org/drawingml/2006/main">
            <a:r>
              <a:t>- Alpaca order interface: https://docs.alpaca.markets/reference/postorder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Execution-realism artifact: research/output/equity_execution_realism.json.</a:t>
            </a:r>
          </a:p>
          <a:p xmlns:a="http://schemas.openxmlformats.org/drawingml/2006/main">
            <a:r>
              <a:t>- Exact safe claim and underperformance boundary: public/data/submission_claims_lock.json.</a:t>
            </a:r>
          </a:p>
          <a:p xmlns:a="http://schemas.openxmlformats.org/drawingml/2006/main">
            <a:r>
              <a:t>- Result is a consumed retrospective theoretical ledger, not a broker fill, options P&amp;L, alpha claim, forecast, or proof of future profit.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Small-account shadow and execution assumptions: research/output/equity_execution_realism.json.</a:t>
            </a:r>
          </a:p>
          <a:p xmlns:a="http://schemas.openxmlformats.org/drawingml/2006/main">
            <a:r>
              <a:t>- Exact summary and assurance boundary: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Locked G4 series: public/data/g4_wealth_drawdown.json.</a:t>
            </a:r>
          </a:p>
          <a:p xmlns:a="http://schemas.openxmlformats.org/drawingml/2006/main">
            <a:r>
              <a:t>- Promotion-gate evidence: public/data/submission_claims_lock.json.</a:t>
            </a:r>
          </a:p>
          <a:p xmlns:a="http://schemas.openxmlformats.org/drawingml/2006/main">
            <a:r>
              <a:t>- White (2000) and Bailey &amp; López de Prado (2014) motivate the multiple-testing and deflated-Sharpe controls cited in the technical paper.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Attempt 114 publication receipt: research/prospective_attempt114/publication_receipts/a10099fa3931c9ef6d40446486744dde72f1efb5538515d03c015cd7c1a87fbb.json.</a:t>
            </a:r>
          </a:p>
          <a:p xmlns:a="http://schemas.openxmlformats.org/drawingml/2006/main">
            <a:r>
              <a:t>- Public commit: https://github.com/owlsowo/finly-bot/commit/38a999cdf5db98f3a831d137b799ff8a48248e71</a:t>
            </a:r>
          </a:p>
          <a:p xmlns:a="http://schemas.openxmlformats.org/drawingml/2006/main">
            <a:r>
              <a:t>- Successful workflow: https://github.com/owlsowo/finly-bot/actions/runs/33293038439</a:t>
            </a:r>
          </a:p>
          <a:p xmlns:a="http://schemas.openxmlformats.org/drawingml/2006/main">
            <a:r>
              <a:t>- Exact safe claim and current zero-observation boundary: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Official Alpaca AI Trading Agents Hackathon judging criteria: P&amp;L Performance, Technology Implementation, Creativity &amp; Originality, and Presentation &amp; Execution.</a:t>
            </a:r>
          </a:p>
          <a:p xmlns:a="http://schemas.openxmlformats.org/drawingml/2006/main">
            <a:r>
              <a:t>- Event page: https://lablab.ai/ai-hackathons/alpaca-ai-trading-agents-hackathon</a:t>
            </a:r>
          </a:p>
          <a:p xmlns:a="http://schemas.openxmlformats.org/drawingml/2006/main">
            <a:r>
              <a:t>- Finly claim registry: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a869b93ebc42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34e4bcb5e24126" /><Relationship Type="http://schemas.openxmlformats.org/officeDocument/2006/relationships/slideLayout" Target="/ppt/slideLayouts/slideLayout1.xml" Id="R9ac47f1208ba44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c47f1208ba44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cf603f18d143b5" /><Relationship Type="http://schemas.openxmlformats.org/officeDocument/2006/relationships/image" Target="/ppt/media/image.png" Id="R721bb82dec374a03" /><Relationship Type="http://schemas.openxmlformats.org/officeDocument/2006/relationships/notesSlide" Target="/ppt/notesSlides/notesSlide1.xml" Id="Rce59bf790f074c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7fd6eca3d44d5" /><Relationship Type="http://schemas.openxmlformats.org/officeDocument/2006/relationships/notesSlide" Target="/ppt/notesSlides/notesSlide2.xml" Id="R8a34a3b267b24f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3574775084be3" /><Relationship Type="http://schemas.openxmlformats.org/officeDocument/2006/relationships/image" Target="/ppt/media/image.jpeg" Id="Ref87124664ea4854" /><Relationship Type="http://schemas.openxmlformats.org/officeDocument/2006/relationships/notesSlide" Target="/ppt/notesSlides/notesSlide3.xml" Id="Ra09a0d99044c4e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b204c1dd8f4536" /><Relationship Type="http://schemas.openxmlformats.org/officeDocument/2006/relationships/notesSlide" Target="/ppt/notesSlides/notesSlide4.xml" Id="R061a03c2db414b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d0e4f580d4306" /><Relationship Type="http://schemas.openxmlformats.org/officeDocument/2006/relationships/chart" Target="/ppt/slides/charts/chart1.xml" Id="R653e81b1df1e455d" /><Relationship Type="http://schemas.openxmlformats.org/officeDocument/2006/relationships/notesSlide" Target="/ppt/notesSlides/notesSlide5.xml" Id="Rc69d8acc026449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0b5bb98224b09" /><Relationship Type="http://schemas.openxmlformats.org/officeDocument/2006/relationships/notesSlide" Target="/ppt/notesSlides/notesSlide6.xml" Id="R7c9072c6c5f742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2ddd22c6446e0" /><Relationship Type="http://schemas.openxmlformats.org/officeDocument/2006/relationships/image" Target="/ppt/media/image2.png" Id="Rc984e8c542ce4ca5" /><Relationship Type="http://schemas.openxmlformats.org/officeDocument/2006/relationships/notesSlide" Target="/ppt/notesSlides/notesSlide7.xml" Id="R7ae0aacf9ea442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94bdbec7834c78" /><Relationship Type="http://schemas.openxmlformats.org/officeDocument/2006/relationships/notesSlide" Target="/ppt/notesSlides/notesSlide8.xml" Id="R7cdc574c1be442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b17e9b76949ac" /><Relationship Type="http://schemas.openxmlformats.org/officeDocument/2006/relationships/notesSlide" Target="/ppt/notesSlides/notesSlide9.xml" Id="R032c66d5b8614da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Finly</c:v>
          </c:tx>
          <c:spPr>
            <a:solidFill xmlns:a="http://schemas.openxmlformats.org/drawingml/2006/main">
              <a:srgbClr val="2E6F5C"/>
            </a:solidFill>
          </c:spPr>
          <c:cat>
            <c:strLit>
              <c:ptCount val="4"/>
              <c:pt idx="0">
                <c:v>1 bp</c:v>
              </c:pt>
              <c:pt idx="1">
                <c:v>5 bp</c:v>
              </c:pt>
              <c:pt idx="2">
                <c:v>10 bp</c:v>
              </c:pt>
              <c:pt idx="3">
                <c:v>25 bp</c:v>
              </c:pt>
            </c:strLit>
          </c:cat>
          <c:val>
            <c:numLit>
              <c:formatCode>General</c:formatCode>
              <c:ptCount val="4"/>
              <c:pt idx="0">
                <c:v>16.38</c:v>
              </c:pt>
              <c:pt idx="1">
                <c:v>15.39</c:v>
              </c:pt>
              <c:pt idx="2">
                <c:v>14.16</c:v>
              </c:pt>
              <c:pt idx="3">
                <c:v>10.56</c:v>
              </c:pt>
            </c:numLit>
          </c:val>
        </c:ser>
        <c:ser>
          <c:idx val="1"/>
          <c:order val="1"/>
          <c:tx>
            <c:v>SPY</c:v>
          </c:tx>
          <c:spPr>
            <a:solidFill xmlns:a="http://schemas.openxmlformats.org/drawingml/2006/main">
              <a:srgbClr val="0D2B43"/>
            </a:solidFill>
          </c:spPr>
          <c:cat>
            <c:strLit>
              <c:ptCount val="4"/>
              <c:pt idx="0">
                <c:v>1 bp</c:v>
              </c:pt>
              <c:pt idx="1">
                <c:v>5 bp</c:v>
              </c:pt>
              <c:pt idx="2">
                <c:v>10 bp</c:v>
              </c:pt>
              <c:pt idx="3">
                <c:v>25 bp</c:v>
              </c:pt>
            </c:strLit>
          </c:cat>
          <c:val>
            <c:numLit>
              <c:formatCode>General</c:formatCode>
              <c:ptCount val="4"/>
              <c:pt idx="0">
                <c:v>33.52</c:v>
              </c:pt>
              <c:pt idx="1">
                <c:v>33.52</c:v>
              </c:pt>
              <c:pt idx="2">
                <c:v>33.52</c:v>
              </c:pt>
              <c:pt idx="3">
                <c:v>33.52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4E1D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8A91D7F6-C48B-444A-850C-4F14FFA8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2" name="page-1">
            <a:extLst xmlns:a="http://schemas.openxmlformats.org/drawingml/2006/main">
              <a:ext uri="{FF2B5EF4-FFF2-40B4-BE49-F238E27FC236}">
                <a16:creationId xmlns:a16="http://schemas.microsoft.com/office/drawing/2014/main" id="{C675E2CD-2BA8-4557-939D-3BAB6C6A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1bb82dec374a03"/>
          <a:stretch xmlns:a="http://schemas.openxmlformats.org/drawingml/2006/main"/>
        </p:blipFill>
        <p:spPr>
          <a:xfrm xmlns:a="http://schemas.openxmlformats.org/drawingml/2006/main">
            <a:off x="590550" y="523875"/>
            <a:ext cx="723900" cy="723900"/>
          </a:xfrm>
          <a:prstGeom xmlns:a="http://schemas.openxmlformats.org/drawingml/2006/main" prst="rect">
            <a:avLst/>
          </a:prstGeom>
        </p:spPr>
      </p:pic>
      <p:sp>
        <p:nvSpPr>
          <p:cNvPr id="4" name="title-wordmark">
            <a:extLst xmlns:a="http://schemas.openxmlformats.org/drawingml/2006/main">
              <a:ext uri="{FF2B5EF4-FFF2-40B4-BE49-F238E27FC236}">
                <a16:creationId xmlns:a16="http://schemas.microsoft.com/office/drawing/2014/main" id="{0FAB8BC6-5342-456D-9B6F-FC0C8AAA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5" name="label-Execution-realistic controlled delegation-62-169">
            <a:extLst xmlns:a="http://schemas.openxmlformats.org/drawingml/2006/main">
              <a:ext uri="{FF2B5EF4-FFF2-40B4-BE49-F238E27FC236}">
                <a16:creationId xmlns:a16="http://schemas.microsoft.com/office/drawing/2014/main" id="{42C7D3C1-1118-4DDB-B587-F3AC8AE1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972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EXECUTION-REALISTIC CONTROLLED DELEGATION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66857545-29C3-4A86-8C0F-9A8AE8C1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100012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Positive after next-open execution.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Still honest about what is unproven.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1731F3-4B08-4458-B65B-ADBC7C20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291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EB8A7"/>
            </a:solidFill>
            <a:prstDash val="solid"/>
          </a:ln>
        </p:spPr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325E2EEC-962A-410B-B682-82974CA0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902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0" i="0">
                <a:solidFill>
                  <a:srgbClr val="D5DDDF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5DDDF"/>
                </a:solidFill>
                <a:latin typeface="Arial"/>
                <a:ea typeface="Arial"/>
                <a:cs typeface="Arial"/>
              </a:rPr>
              <a:t>Finly returned 15.39% across 415 consumed sessions at next-open fills and five basis points per traded leg. Deterministic code—not an AI model—owns exposure, order fields, maximum loss, and permission to trade.</a:t>
            </a:r>
          </a:p>
        </p:txBody>
      </p:sp>
      <p:sp>
        <p:nvSpPr>
          <p:cNvPr id="9" name="author">
            <a:extLst xmlns:a="http://schemas.openxmlformats.org/drawingml/2006/main">
              <a:ext uri="{FF2B5EF4-FFF2-40B4-BE49-F238E27FC236}">
                <a16:creationId xmlns:a16="http://schemas.microsoft.com/office/drawing/2014/main" id="{3CA727E4-B134-42E4-A440-6795E135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5312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9FB1B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1B8"/>
                </a:solidFill>
                <a:latin typeface="Arial"/>
                <a:ea typeface="Arial"/>
                <a:cs typeface="Arial"/>
              </a:rPr>
              <a:t>Bruce Wen · Brandeis University · Alpaca AI Trading Agents Hackathon</a:t>
            </a:r>
          </a:p>
        </p:txBody>
      </p:sp>
    </p:spTree>
    <p:extLst>
      <p:ext uri="{BB962C8B-B14F-4D97-AF65-F5344CB8AC3E}">
        <p14:creationId xmlns:p14="http://schemas.microsoft.com/office/powerpoint/2010/main" val="13229611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label-The design problem-58-32">
            <a:extLst xmlns:a="http://schemas.openxmlformats.org/drawingml/2006/main">
              <a:ext uri="{FF2B5EF4-FFF2-40B4-BE49-F238E27FC236}">
                <a16:creationId xmlns:a16="http://schemas.microsoft.com/office/drawing/2014/main" id="{14B342C5-8173-4ADF-8268-0CD9A9DA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THE DESIGN PROBLEM</a:t>
            </a:r>
          </a:p>
        </p:txBody>
      </p:sp>
      <p:sp>
        <p:nvSpPr>
          <p:cNvPr id="2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4A55530E-15A1-40D1-ADF5-62447CF4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Most trading agents collapse judgment, sizing, and execution into one opaque 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80201-02CC-4EC7-9BE5-BE308ED2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FB3C0E1D-A449-477C-9DAC-767E3BA3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A99B005A-E06B-431B-BA68-77809572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label-Typical agent-74-215">
            <a:extLst xmlns:a="http://schemas.openxmlformats.org/drawingml/2006/main">
              <a:ext uri="{FF2B5EF4-FFF2-40B4-BE49-F238E27FC236}">
                <a16:creationId xmlns:a16="http://schemas.microsoft.com/office/drawing/2014/main" id="{805C9520-35E0-4390-9D01-92AB5ED2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TYPICAL AGENT</a:t>
            </a:r>
          </a:p>
        </p:txBody>
      </p:sp>
      <p:sp>
        <p:nvSpPr>
          <p:cNvPr id="7" name="judgment-question">
            <a:extLst xmlns:a="http://schemas.openxmlformats.org/drawingml/2006/main">
              <a:ext uri="{FF2B5EF4-FFF2-40B4-BE49-F238E27FC236}">
                <a16:creationId xmlns:a16="http://schemas.microsoft.com/office/drawing/2014/main" id="{70139F40-8588-4B3E-A35C-C0F6B9EB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428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 persuasive answer becomes an order.</a:t>
            </a:r>
          </a:p>
        </p:txBody>
      </p:sp>
      <p:sp>
        <p:nvSpPr>
          <p:cNvPr id="8" name="judgment-copy">
            <a:extLst xmlns:a="http://schemas.openxmlformats.org/drawingml/2006/main">
              <a:ext uri="{FF2B5EF4-FFF2-40B4-BE49-F238E27FC236}">
                <a16:creationId xmlns:a16="http://schemas.microsoft.com/office/drawing/2014/main" id="{F4050492-8BFE-47F1-8075-D1C60F3B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4095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The same probabilistic component interprets evidence, chooses direction, sizes risk, writes order fields, and explains itself after the fact.</a:t>
            </a:r>
          </a:p>
        </p:txBody>
      </p:sp>
      <p:sp>
        <p:nvSpPr>
          <p:cNvPr id="9" name="divider">
            <a:extLst xmlns:a="http://schemas.openxmlformats.org/drawingml/2006/main">
              <a:ext uri="{FF2B5EF4-FFF2-40B4-BE49-F238E27FC236}">
                <a16:creationId xmlns:a16="http://schemas.microsoft.com/office/drawing/2014/main" id="{DD9F4DEA-4CB6-4BDD-9BEC-482A8394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000250"/>
            <a:ext cx="190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bel-Finly-654-215">
            <a:extLst xmlns:a="http://schemas.openxmlformats.org/drawingml/2006/main">
              <a:ext uri="{FF2B5EF4-FFF2-40B4-BE49-F238E27FC236}">
                <a16:creationId xmlns:a16="http://schemas.microsoft.com/office/drawing/2014/main" id="{AC59237F-693B-4131-9A7D-C2DBB0ED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11" name="authority-question">
            <a:extLst xmlns:a="http://schemas.openxmlformats.org/drawingml/2006/main">
              <a:ext uri="{FF2B5EF4-FFF2-40B4-BE49-F238E27FC236}">
                <a16:creationId xmlns:a16="http://schemas.microsoft.com/office/drawing/2014/main" id="{35B32B44-9023-4ABF-9B1E-7251FE07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7172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Interpretation can inform capital without controlling it.</a:t>
            </a:r>
          </a:p>
        </p:txBody>
      </p:sp>
      <p:sp>
        <p:nvSpPr>
          <p:cNvPr id="12" name="authority-copy">
            <a:extLst xmlns:a="http://schemas.openxmlformats.org/drawingml/2006/main">
              <a:ext uri="{FF2B5EF4-FFF2-40B4-BE49-F238E27FC236}">
                <a16:creationId xmlns:a16="http://schemas.microsoft.com/office/drawing/2014/main" id="{43AE2F26-7587-4C9E-BA57-FC839A56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57575"/>
            <a:ext cx="46291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The model may score bounded evidence, explain uncertainty, or veto. Deterministic code owns exposure, costs, option structure, order fields, and the final permit decision.</a:t>
            </a:r>
          </a:p>
        </p:txBody>
      </p:sp>
      <p:sp>
        <p:nvSpPr>
          <p:cNvPr id="13" name="core-thesis">
            <a:extLst xmlns:a="http://schemas.openxmlformats.org/drawingml/2006/main">
              <a:ext uri="{FF2B5EF4-FFF2-40B4-BE49-F238E27FC236}">
                <a16:creationId xmlns:a16="http://schemas.microsoft.com/office/drawing/2014/main" id="{F9F99D60-BCCA-42CC-B60B-B3F44CA0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10153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Finly’s edge is not a larger forecast. It is a smaller, testable trust boundary.</a:t>
            </a:r>
          </a:p>
        </p:txBody>
      </p:sp>
    </p:spTree>
    <p:extLst>
      <p:ext uri="{BB962C8B-B14F-4D97-AF65-F5344CB8AC3E}">
        <p14:creationId xmlns:p14="http://schemas.microsoft.com/office/powerpoint/2010/main" val="13094218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label-The product-58-32">
            <a:extLst xmlns:a="http://schemas.openxmlformats.org/drawingml/2006/main">
              <a:ext uri="{FF2B5EF4-FFF2-40B4-BE49-F238E27FC236}">
                <a16:creationId xmlns:a16="http://schemas.microsoft.com/office/drawing/2014/main" id="{44FDA00B-7920-4BEC-BE3E-4D0D90B7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THE PRODUCT</a:t>
            </a:r>
          </a:p>
        </p:txBody>
      </p:sp>
      <p:sp>
        <p:nvSpPr>
          <p:cNvPr id="2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1288286D-97B2-4595-99AA-38A91EA2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Judges can inspect the evidence instead of taking a demo’s word for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FE8993-8E85-464F-831B-8FC8A257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C9F48B56-1C03-40D1-BAF4-B256661B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44301714-D9F5-417A-8ED3-355E25C3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product-frame">
            <a:extLst xmlns:a="http://schemas.openxmlformats.org/drawingml/2006/main">
              <a:ext uri="{FF2B5EF4-FFF2-40B4-BE49-F238E27FC236}">
                <a16:creationId xmlns:a16="http://schemas.microsoft.com/office/drawing/2014/main" id="{192BCE02-BEB8-458A-9E0C-122CAD85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767715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CC7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7124664ea4854"/>
          <a:srcRect xmlns:a="http://schemas.openxmlformats.org/drawingml/2006/main" l="0" t="9897" r="0" b="98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000250"/>
            <a:ext cx="7410450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label-Visible on the site-904-214">
            <a:extLst xmlns:a="http://schemas.openxmlformats.org/drawingml/2006/main">
              <a:ext uri="{FF2B5EF4-FFF2-40B4-BE49-F238E27FC236}">
                <a16:creationId xmlns:a16="http://schemas.microsoft.com/office/drawing/2014/main" id="{77A18164-038E-424D-8F89-B8BD1250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38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VISIBLE ON THE SITE</a:t>
            </a:r>
          </a:p>
        </p:txBody>
      </p:sp>
      <p:sp>
        <p:nvSpPr>
          <p:cNvPr id="9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DFDA6642-EB06-4717-851F-2E2FA755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812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+15.39%</a:t>
            </a:r>
          </a:p>
        </p:txBody>
      </p:sp>
      <p:sp>
        <p:nvSpPr>
          <p:cNvPr id="10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22E055AB-CC38-4C75-A7CE-5B8B059C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432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NEXT-OPEN · 5 BP PER LEG</a:t>
            </a:r>
          </a:p>
        </p:txBody>
      </p:sp>
      <p:sp>
        <p:nvSpPr>
          <p:cNvPr id="11" name="metric-consumed sessions">
            <a:extLst xmlns:a="http://schemas.openxmlformats.org/drawingml/2006/main">
              <a:ext uri="{FF2B5EF4-FFF2-40B4-BE49-F238E27FC236}">
                <a16:creationId xmlns:a16="http://schemas.microsoft.com/office/drawing/2014/main" id="{644F6ED6-DAC4-4D2B-940B-D3B1F91F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4861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415</a:t>
            </a:r>
          </a:p>
        </p:txBody>
      </p:sp>
      <p:sp>
        <p:nvSpPr>
          <p:cNvPr id="12" name="metric-caption-consumed sessions">
            <a:extLst xmlns:a="http://schemas.openxmlformats.org/drawingml/2006/main">
              <a:ext uri="{FF2B5EF4-FFF2-40B4-BE49-F238E27FC236}">
                <a16:creationId xmlns:a16="http://schemas.microsoft.com/office/drawing/2014/main" id="{D08E29DF-77AE-4A10-BCED-92B78A08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481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CONSUMED SESSIONS</a:t>
            </a:r>
          </a:p>
        </p:txBody>
      </p:sp>
      <p:sp>
        <p:nvSpPr>
          <p:cNvPr id="13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1928C25E-B48B-4785-8A72-C831EB68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5910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+10.56%</a:t>
            </a:r>
          </a:p>
        </p:txBody>
      </p:sp>
      <p:sp>
        <p:nvSpPr>
          <p:cNvPr id="14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A604DA66-23E6-424A-BD6F-6BA28DF0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530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AT 25 BP PER LEG</a:t>
            </a:r>
          </a:p>
        </p:txBody>
      </p:sp>
      <p:sp>
        <p:nvSpPr>
          <p:cNvPr id="15" name="product-boundary">
            <a:extLst xmlns:a="http://schemas.openxmlformats.org/drawingml/2006/main">
              <a:ext uri="{FF2B5EF4-FFF2-40B4-BE49-F238E27FC236}">
                <a16:creationId xmlns:a16="http://schemas.microsoft.com/office/drawing/2014/main" id="{D86FD2F6-6C7C-4C16-9AA1-F3801029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619750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The same page states that SPY returned 33.52% and that the result is not a broker fill, options P&amp;L, alpha claim, or forecast.</a:t>
            </a:r>
          </a:p>
        </p:txBody>
      </p:sp>
    </p:spTree>
    <p:extLst>
      <p:ext uri="{BB962C8B-B14F-4D97-AF65-F5344CB8AC3E}">
        <p14:creationId xmlns:p14="http://schemas.microsoft.com/office/powerpoint/2010/main" val="17029429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label-Controlled delegation-58-32">
            <a:extLst xmlns:a="http://schemas.openxmlformats.org/drawingml/2006/main">
              <a:ext uri="{FF2B5EF4-FFF2-40B4-BE49-F238E27FC236}">
                <a16:creationId xmlns:a16="http://schemas.microsoft.com/office/drawing/2014/main" id="{C69B5FEE-103B-4E52-A747-3C8227ED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CONTROLLED DELEGATION</a:t>
            </a:r>
          </a:p>
        </p:txBody>
      </p:sp>
      <p:sp>
        <p:nvSpPr>
          <p:cNvPr id="2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9956BD81-863E-4A57-BAE5-3FDB8014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model can interpret evidence; only deterministic code can authorize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CFCC3-DED1-4D63-9090-D7ED784E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649EDE17-3CE4-49A8-A919-218DFA9F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4E10B1CA-1DF7-4615-9FB4-6CFC6F2F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label-INPUT-58-218">
            <a:extLst xmlns:a="http://schemas.openxmlformats.org/drawingml/2006/main">
              <a:ext uri="{FF2B5EF4-FFF2-40B4-BE49-F238E27FC236}">
                <a16:creationId xmlns:a16="http://schemas.microsoft.com/office/drawing/2014/main" id="{C3B1292D-62C3-4ABF-8099-F89656ED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7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0C7867FD-B822-4AAA-B8EB-0B79A652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825516A9-6F65-4507-91B9-BC22B8D6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FEF3B6-D932-4F82-BCEE-C65B6144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10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AA4D11CF-F1F4-4B3F-A5C7-CC49F0A5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Four labeled families</a:t>
            </a:r>
          </a:p>
        </p:txBody>
      </p:sp>
      <p:sp>
        <p:nvSpPr>
          <p:cNvPr id="11" name="chevron-1">
            <a:extLst xmlns:a="http://schemas.openxmlformats.org/drawingml/2006/main">
              <a:ext uri="{FF2B5EF4-FFF2-40B4-BE49-F238E27FC236}">
                <a16:creationId xmlns:a16="http://schemas.microsoft.com/office/drawing/2014/main" id="{D6A0EAFD-939A-4E0F-A6C0-D8C961D3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label-MODEL-253-218">
            <a:extLst xmlns:a="http://schemas.openxmlformats.org/drawingml/2006/main">
              <a:ext uri="{FF2B5EF4-FFF2-40B4-BE49-F238E27FC236}">
                <a16:creationId xmlns:a16="http://schemas.microsoft.com/office/drawing/2014/main" id="{19F3ACF3-3A3F-471D-A67D-BF37AFB7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33DB705D-C5F7-4455-B458-91282F73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670D0729-6363-451A-BF4C-56925108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61D6C2-6839-45B0-AC28-90D250EF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B3A3A"/>
            </a:solidFill>
            <a:prstDash val="solid"/>
          </a:ln>
        </p:spPr>
      </p:sp>
      <p:sp>
        <p:nvSpPr>
          <p:cNvPr id="16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E0AB669A-6ED0-4E83-B51E-91E6A561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Scores + rationale</a:t>
            </a:r>
          </a:p>
        </p:txBody>
      </p:sp>
      <p:sp>
        <p:nvSpPr>
          <p:cNvPr id="17" name="chevron-2">
            <a:extLst xmlns:a="http://schemas.openxmlformats.org/drawingml/2006/main">
              <a:ext uri="{FF2B5EF4-FFF2-40B4-BE49-F238E27FC236}">
                <a16:creationId xmlns:a16="http://schemas.microsoft.com/office/drawing/2014/main" id="{68E23F1B-83AF-44AB-8B81-A66482DD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label-CODE-448-218">
            <a:extLst xmlns:a="http://schemas.openxmlformats.org/drawingml/2006/main">
              <a:ext uri="{FF2B5EF4-FFF2-40B4-BE49-F238E27FC236}">
                <a16:creationId xmlns:a16="http://schemas.microsoft.com/office/drawing/2014/main" id="{521BAFE3-EE8F-4CC8-BF53-EBAF4B12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19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F54C29B1-8150-4662-88D8-0C39EE6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17F67FB3-4F25-4C00-AEDD-116B746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Aggregate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E42D90-C303-4B53-B8DE-0D04F779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2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783F9358-C42F-4891-AE75-9A051EC9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Code derives intent</a:t>
            </a:r>
          </a:p>
        </p:txBody>
      </p:sp>
      <p:sp>
        <p:nvSpPr>
          <p:cNvPr id="23" name="chevron-3">
            <a:extLst xmlns:a="http://schemas.openxmlformats.org/drawingml/2006/main">
              <a:ext uri="{FF2B5EF4-FFF2-40B4-BE49-F238E27FC236}">
                <a16:creationId xmlns:a16="http://schemas.microsoft.com/office/drawing/2014/main" id="{AF99E6ED-0395-4BEA-86BE-A0F37937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label-CODE-643-218">
            <a:extLst xmlns:a="http://schemas.openxmlformats.org/drawingml/2006/main">
              <a:ext uri="{FF2B5EF4-FFF2-40B4-BE49-F238E27FC236}">
                <a16:creationId xmlns:a16="http://schemas.microsoft.com/office/drawing/2014/main" id="{65E45F6A-AF0B-4F56-A716-C9896777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25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4AE73AD8-5761-4E29-84AA-6FA0FC13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6F897DA1-5C69-43D4-94BC-BA7E01DE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Compile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56F882-EDDE-4F8A-A1A6-A0EBD2EC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8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8FFFCB5D-0D9D-403D-8AC7-E5750EE7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Code owns order fields</a:t>
            </a:r>
          </a:p>
        </p:txBody>
      </p:sp>
      <p:sp>
        <p:nvSpPr>
          <p:cNvPr id="29" name="chevron-4">
            <a:extLst xmlns:a="http://schemas.openxmlformats.org/drawingml/2006/main">
              <a:ext uri="{FF2B5EF4-FFF2-40B4-BE49-F238E27FC236}">
                <a16:creationId xmlns:a16="http://schemas.microsoft.com/office/drawing/2014/main" id="{09DC43B8-2D65-4B77-90E2-2F53ED36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0" name="label-CODE-838-218">
            <a:extLst xmlns:a="http://schemas.openxmlformats.org/drawingml/2006/main">
              <a:ext uri="{FF2B5EF4-FFF2-40B4-BE49-F238E27FC236}">
                <a16:creationId xmlns:a16="http://schemas.microsoft.com/office/drawing/2014/main" id="{AF720318-CE17-4BED-9B2B-CE9E7A34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31" name="stage-number-4">
            <a:extLst xmlns:a="http://schemas.openxmlformats.org/drawingml/2006/main">
              <a:ext uri="{FF2B5EF4-FFF2-40B4-BE49-F238E27FC236}">
                <a16:creationId xmlns:a16="http://schemas.microsoft.com/office/drawing/2014/main" id="{75C019EA-13F1-4FFE-A9B1-2C01AFA3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8514E1EB-00D1-4EE3-8DAC-DA55D7C8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Challenge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D88BAF-AA19-4872-A4A0-626F9A3E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3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E4E5192E-FD17-4AC7-8A2A-AEA75371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Removals + shocks</a:t>
            </a:r>
          </a:p>
        </p:txBody>
      </p:sp>
      <p:sp>
        <p:nvSpPr>
          <p:cNvPr id="35" name="chevron-5">
            <a:extLst xmlns:a="http://schemas.openxmlformats.org/drawingml/2006/main">
              <a:ext uri="{FF2B5EF4-FFF2-40B4-BE49-F238E27FC236}">
                <a16:creationId xmlns:a16="http://schemas.microsoft.com/office/drawing/2014/main" id="{440A291D-5934-40FE-A16F-E4D42BC3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6" name="label-GATE-1033-218">
            <a:extLst xmlns:a="http://schemas.openxmlformats.org/drawingml/2006/main">
              <a:ext uri="{FF2B5EF4-FFF2-40B4-BE49-F238E27FC236}">
                <a16:creationId xmlns:a16="http://schemas.microsoft.com/office/drawing/2014/main" id="{D70443EA-9E64-428B-8058-9128A3CE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37" name="stage-number-5">
            <a:extLst xmlns:a="http://schemas.openxmlformats.org/drawingml/2006/main">
              <a:ext uri="{FF2B5EF4-FFF2-40B4-BE49-F238E27FC236}">
                <a16:creationId xmlns:a16="http://schemas.microsoft.com/office/drawing/2014/main" id="{094D5670-DF99-42B1-BDE4-377D4338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8" name="stage-title-5">
            <a:extLst xmlns:a="http://schemas.openxmlformats.org/drawingml/2006/main">
              <a:ext uri="{FF2B5EF4-FFF2-40B4-BE49-F238E27FC236}">
                <a16:creationId xmlns:a16="http://schemas.microsoft.com/office/drawing/2014/main" id="{EC3C18D2-5829-4FD1-929D-0C08D780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Decide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32B29D-2F7D-4064-90EF-8E294AFD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40" name="stage-copy-5">
            <a:extLst xmlns:a="http://schemas.openxmlformats.org/drawingml/2006/main">
              <a:ext uri="{FF2B5EF4-FFF2-40B4-BE49-F238E27FC236}">
                <a16:creationId xmlns:a16="http://schemas.microsoft.com/office/drawing/2014/main" id="{40098048-3FBF-4DB3-929C-EE302E1E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PERMIT / NO_TRADE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B31016-ACEE-4472-9289-6A39C9DF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2" name="metric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9152148B-4862-41E0-B9B8-2ACC3E61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$366</a:t>
            </a:r>
          </a:p>
        </p:txBody>
      </p:sp>
      <p:sp>
        <p:nvSpPr>
          <p:cNvPr id="43" name="metric-caption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426A1E6B-3CDE-4DB7-B51F-CA3F0976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435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EXACT MAX LOSS IN CHECKED FIXTURE</a:t>
            </a:r>
          </a:p>
        </p:txBody>
      </p:sp>
      <p:sp>
        <p:nvSpPr>
          <p:cNvPr id="44" name="metric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809C6B7C-B839-405E-AEF3-F27A2247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4/4</a:t>
            </a:r>
          </a:p>
        </p:txBody>
      </p:sp>
      <p:sp>
        <p:nvSpPr>
          <p:cNvPr id="45" name="metric-caption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CBE83D67-49E4-4E7C-9ABC-8DEE56F4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SOURCE-REMOVAL CHALLENGES</a:t>
            </a:r>
          </a:p>
        </p:txBody>
      </p:sp>
      <p:sp>
        <p:nvSpPr>
          <p:cNvPr id="46" name="metric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41FACC6C-550A-45F4-9A2D-096EC6DD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32/32</a:t>
            </a:r>
          </a:p>
        </p:txBody>
      </p:sp>
      <p:sp>
        <p:nvSpPr>
          <p:cNvPr id="47" name="metric-caption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4BFA657D-ECEF-4137-A1E2-F1A943CC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PERTURBATION CHALLENGES</a:t>
            </a:r>
          </a:p>
        </p:txBody>
      </p:sp>
      <p:sp>
        <p:nvSpPr>
          <p:cNvPr id="48" name="authority-close">
            <a:extLst xmlns:a="http://schemas.openxmlformats.org/drawingml/2006/main">
              <a:ext uri="{FF2B5EF4-FFF2-40B4-BE49-F238E27FC236}">
                <a16:creationId xmlns:a16="http://schemas.microsoft.com/office/drawing/2014/main" id="{EB0D14AD-F693-4A79-A562-727EF125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5300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Any mismatch returns NO_TRADE; the model never writes the Alpaca payload.</a:t>
            </a:r>
          </a:p>
        </p:txBody>
      </p:sp>
    </p:spTree>
    <p:extLst>
      <p:ext uri="{BB962C8B-B14F-4D97-AF65-F5344CB8AC3E}">
        <p14:creationId xmlns:p14="http://schemas.microsoft.com/office/powerpoint/2010/main" val="5597120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abel-Execution realism-58-32">
            <a:extLst xmlns:a="http://schemas.openxmlformats.org/drawingml/2006/main">
              <a:ext uri="{FF2B5EF4-FFF2-40B4-BE49-F238E27FC236}">
                <a16:creationId xmlns:a16="http://schemas.microsoft.com/office/drawing/2014/main" id="{8412EB86-310B-413F-92B6-BF96A545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EXECUTION REALISM</a:t>
            </a:r>
          </a:p>
        </p:txBody>
      </p:sp>
      <p:sp>
        <p:nvSpPr>
          <p:cNvPr id="2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984DE4CB-5D18-43B8-8B33-92357EF4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Returns stayed positive through 25 bp per leg; SPY still won on raw return.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0E58B-29CF-4064-94D4-92315DC8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55E42884-0BA4-4BF9-BE77-3DA721617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6EF627D8-3451-4C30-A58B-E855766E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52450" y="2038350"/>
          <a:ext xmlns:a="http://schemas.openxmlformats.org/drawingml/2006/main" cx="7239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3e81b1df1e455d"/>
          </a:graphicData>
        </a:graphic>
      </p:graphicFrame>
      <p:sp>
        <p:nvSpPr>
          <p:cNvPr id="7" name="label-What survived-872-216">
            <a:extLst xmlns:a="http://schemas.openxmlformats.org/drawingml/2006/main">
              <a:ext uri="{FF2B5EF4-FFF2-40B4-BE49-F238E27FC236}">
                <a16:creationId xmlns:a16="http://schemas.microsoft.com/office/drawing/2014/main" id="{57B199DF-A2CE-407F-9C1F-68693096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574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WHAT SURVIVED</a:t>
            </a:r>
          </a:p>
        </p:txBody>
      </p:sp>
      <p:sp>
        <p:nvSpPr>
          <p:cNvPr id="8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B780C257-85D8-473F-A237-D531455A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812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+15.39%</a:t>
            </a:r>
          </a:p>
        </p:txBody>
      </p:sp>
      <p:sp>
        <p:nvSpPr>
          <p:cNvPr id="9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7FCB0416-D21A-44F1-9B0D-B94E06FE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432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NEXT-OPEN · 5 BP PER LEG</a:t>
            </a:r>
          </a:p>
        </p:txBody>
      </p:sp>
      <p:sp>
        <p:nvSpPr>
          <p:cNvPr id="10" name="metric-maximum drawdown">
            <a:extLst xmlns:a="http://schemas.openxmlformats.org/drawingml/2006/main">
              <a:ext uri="{FF2B5EF4-FFF2-40B4-BE49-F238E27FC236}">
                <a16:creationId xmlns:a16="http://schemas.microsoft.com/office/drawing/2014/main" id="{84D2C230-4128-4FDB-87D6-3BDBA665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861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−5.45%</a:t>
            </a:r>
          </a:p>
        </p:txBody>
      </p:sp>
      <p:sp>
        <p:nvSpPr>
          <p:cNvPr id="11" name="metric-caption-maximum drawdown">
            <a:extLst xmlns:a="http://schemas.openxmlformats.org/drawingml/2006/main">
              <a:ext uri="{FF2B5EF4-FFF2-40B4-BE49-F238E27FC236}">
                <a16:creationId xmlns:a16="http://schemas.microsoft.com/office/drawing/2014/main" id="{B8FBE311-4B12-4D2D-90B4-1A896A0A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481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MAXIMUM DRAWDOWN</a:t>
            </a:r>
          </a:p>
        </p:txBody>
      </p:sp>
      <p:sp>
        <p:nvSpPr>
          <p:cNvPr id="12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1396F9BE-6E90-4A50-9497-586DB39E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910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+10.56%</a:t>
            </a:r>
          </a:p>
        </p:txBody>
      </p:sp>
      <p:sp>
        <p:nvSpPr>
          <p:cNvPr id="13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1F059CCE-0916-4DCB-9754-3449554C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530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AT 25 BP PER LEG</a:t>
            </a:r>
          </a:p>
        </p:txBody>
      </p:sp>
      <p:sp>
        <p:nvSpPr>
          <p:cNvPr id="14" name="execution-boundary">
            <a:extLst xmlns:a="http://schemas.openxmlformats.org/drawingml/2006/main">
              <a:ext uri="{FF2B5EF4-FFF2-40B4-BE49-F238E27FC236}">
                <a16:creationId xmlns:a16="http://schemas.microsoft.com/office/drawing/2014/main" id="{A807611E-A8B1-40B5-8D9D-B3365DA4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1074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Consumed 2025-01-02 to 2026-08-28 · 415 sessions · adjusted OHLC · fractional next-open DAY-order assumption. SPY returned 33.52% on the same adjusted path.</a:t>
            </a:r>
          </a:p>
        </p:txBody>
      </p:sp>
    </p:spTree>
    <p:extLst>
      <p:ext uri="{BB962C8B-B14F-4D97-AF65-F5344CB8AC3E}">
        <p14:creationId xmlns:p14="http://schemas.microsoft.com/office/powerpoint/2010/main" val="1570551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label-Small-account feasibility-58-32">
            <a:extLst xmlns:a="http://schemas.openxmlformats.org/drawingml/2006/main">
              <a:ext uri="{FF2B5EF4-FFF2-40B4-BE49-F238E27FC236}">
                <a16:creationId xmlns:a16="http://schemas.microsoft.com/office/drawing/2014/main" id="{EAA71CBB-3091-426D-986A-9A68CB34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SMALL-ACCOUNT FEASIBILITY</a:t>
            </a:r>
          </a:p>
        </p:txBody>
      </p:sp>
      <p:sp>
        <p:nvSpPr>
          <p:cNvPr id="2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1FAC4268-B078-4353-8148-617D8C82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 $300 shadow ended at $351.88 without rounding tiny adjustments into fake fills.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01401-B20E-4D69-A1B4-E44D1F1F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A33F30FF-8FE2-4B46-A58D-44CF033B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6">
            <a:extLst xmlns:a="http://schemas.openxmlformats.org/drawingml/2006/main">
              <a:ext uri="{FF2B5EF4-FFF2-40B4-BE49-F238E27FC236}">
                <a16:creationId xmlns:a16="http://schemas.microsoft.com/office/drawing/2014/main" id="{5F66D17B-7EFD-48A7-B240-BFE4DCBE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label-Starting equity-86-226">
            <a:extLst xmlns:a="http://schemas.openxmlformats.org/drawingml/2006/main">
              <a:ext uri="{FF2B5EF4-FFF2-40B4-BE49-F238E27FC236}">
                <a16:creationId xmlns:a16="http://schemas.microsoft.com/office/drawing/2014/main" id="{3B12C412-5CC8-42DB-8B75-21D75B09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STARTING EQUITY</a:t>
            </a:r>
          </a:p>
        </p:txBody>
      </p:sp>
      <p:sp>
        <p:nvSpPr>
          <p:cNvPr id="7" name="start-equity">
            <a:extLst xmlns:a="http://schemas.openxmlformats.org/drawingml/2006/main">
              <a:ext uri="{FF2B5EF4-FFF2-40B4-BE49-F238E27FC236}">
                <a16:creationId xmlns:a16="http://schemas.microsoft.com/office/drawing/2014/main" id="{AED793F9-FD8B-4354-B022-B345FF15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$300.00</a:t>
            </a:r>
          </a:p>
        </p:txBody>
      </p:sp>
      <p:sp>
        <p:nvSpPr>
          <p:cNvPr id="8" name="equity-arrow">
            <a:extLst xmlns:a="http://schemas.openxmlformats.org/drawingml/2006/main">
              <a:ext uri="{FF2B5EF4-FFF2-40B4-BE49-F238E27FC236}">
                <a16:creationId xmlns:a16="http://schemas.microsoft.com/office/drawing/2014/main" id="{F0095D11-E75D-4AA3-88A4-2547CAC2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647950"/>
            <a:ext cx="114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40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40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label-Ending equity-580-226">
            <a:extLst xmlns:a="http://schemas.openxmlformats.org/drawingml/2006/main">
              <a:ext uri="{FF2B5EF4-FFF2-40B4-BE49-F238E27FC236}">
                <a16:creationId xmlns:a16="http://schemas.microsoft.com/office/drawing/2014/main" id="{323430C6-A1C7-4AB1-A64B-D55EDD88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ENDING EQUITY</a:t>
            </a:r>
          </a:p>
        </p:txBody>
      </p:sp>
      <p:sp>
        <p:nvSpPr>
          <p:cNvPr id="10" name="end-equity">
            <a:extLst xmlns:a="http://schemas.openxmlformats.org/drawingml/2006/main">
              <a:ext uri="{FF2B5EF4-FFF2-40B4-BE49-F238E27FC236}">
                <a16:creationId xmlns:a16="http://schemas.microsoft.com/office/drawing/2014/main" id="{67B71801-8F74-48AE-B3E4-9EEF38A4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336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$351.88</a:t>
            </a:r>
          </a:p>
        </p:txBody>
      </p:sp>
      <p:sp>
        <p:nvSpPr>
          <p:cNvPr id="11" name="equity-return">
            <a:extLst xmlns:a="http://schemas.openxmlformats.org/drawingml/2006/main">
              <a:ext uri="{FF2B5EF4-FFF2-40B4-BE49-F238E27FC236}">
                <a16:creationId xmlns:a16="http://schemas.microsoft.com/office/drawing/2014/main" id="{074A6440-569A-47B4-A554-4CBDE7A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909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+17.29% modeled total return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93B0E-2A22-4718-B364-1EDA6291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0D2B43"/>
            </a:solidFill>
            <a:prstDash val="solid"/>
          </a:ln>
        </p:spPr>
      </p:sp>
      <p:sp>
        <p:nvSpPr>
          <p:cNvPr id="13" name="metric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C8E15C93-13F5-4206-B857-BA2260A8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$1</a:t>
            </a:r>
          </a:p>
        </p:txBody>
      </p:sp>
      <p:sp>
        <p:nvSpPr>
          <p:cNvPr id="14" name="metric-caption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6B430A85-70B9-49F0-87BB-6B6A8F6B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967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MINIMUM ORDER NOTIONAL</a:t>
            </a:r>
          </a:p>
        </p:txBody>
      </p:sp>
      <p:sp>
        <p:nvSpPr>
          <p:cNvPr id="15" name="metric-sell-day fee proxy">
            <a:extLst xmlns:a="http://schemas.openxmlformats.org/drawingml/2006/main">
              <a:ext uri="{FF2B5EF4-FFF2-40B4-BE49-F238E27FC236}">
                <a16:creationId xmlns:a16="http://schemas.microsoft.com/office/drawing/2014/main" id="{114F6F70-E525-4763-A71D-9B3DF567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$0.70</a:t>
            </a:r>
          </a:p>
        </p:txBody>
      </p:sp>
      <p:sp>
        <p:nvSpPr>
          <p:cNvPr id="16" name="metric-caption-sell-day fee proxy">
            <a:extLst xmlns:a="http://schemas.openxmlformats.org/drawingml/2006/main">
              <a:ext uri="{FF2B5EF4-FFF2-40B4-BE49-F238E27FC236}">
                <a16:creationId xmlns:a16="http://schemas.microsoft.com/office/drawing/2014/main" id="{AE1DAAE3-C886-4A62-ADC8-93D93F4D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0196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SELL-DAY FEE PROXY</a:t>
            </a:r>
          </a:p>
        </p:txBody>
      </p:sp>
      <p:sp>
        <p:nvSpPr>
          <p:cNvPr id="17" name="metric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37FDD6AB-B268-4F6C-A2FD-56E55339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577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18" name="metric-caption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821AB2D9-4479-4E9A-9F8B-43900AF5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196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SUB-MINIMUM ORDERS SKIPPED</a:t>
            </a:r>
          </a:p>
        </p:txBody>
      </p:sp>
      <p:sp>
        <p:nvSpPr>
          <p:cNvPr id="19" name="small-account-boundary">
            <a:extLst xmlns:a="http://schemas.openxmlformats.org/drawingml/2006/main">
              <a:ext uri="{FF2B5EF4-FFF2-40B4-BE49-F238E27FC236}">
                <a16:creationId xmlns:a16="http://schemas.microsoft.com/office/drawing/2014/main" id="{83B7F6BA-565D-4512-A31E-97168186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0" i="1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68706F"/>
                </a:solidFill>
                <a:latin typeface="Arial"/>
                <a:ea typeface="Arial"/>
                <a:cs typeface="Arial"/>
              </a:rPr>
              <a:t>Sell-first fractional preview · nine-decimal truncation · one-basis-point traded-leg cost · adjusted-OHLC shadow. Tests affordability and order mechanics; not an Alpaca fill or a promise of future profit.</a:t>
            </a:r>
          </a:p>
        </p:txBody>
      </p:sp>
    </p:spTree>
    <p:extLst>
      <p:ext uri="{BB962C8B-B14F-4D97-AF65-F5344CB8AC3E}">
        <p14:creationId xmlns:p14="http://schemas.microsoft.com/office/powerpoint/2010/main" val="11375231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label-Research discipline-58-32">
            <a:extLst xmlns:a="http://schemas.openxmlformats.org/drawingml/2006/main">
              <a:ext uri="{FF2B5EF4-FFF2-40B4-BE49-F238E27FC236}">
                <a16:creationId xmlns:a16="http://schemas.microsoft.com/office/drawing/2014/main" id="{87A3AB86-DCBC-4E97-8BAF-D16E4862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RESEARCH DISCIPLINE</a:t>
            </a:r>
          </a:p>
        </p:txBody>
      </p:sp>
      <p:sp>
        <p:nvSpPr>
          <p:cNvPr id="2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C2D94178-FDD4-4685-8E40-C4AD1979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Finly rejected the backtest that looked best—and kept the weaker-looking production policy.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A54198-204F-408F-8D1D-601CDA36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828C41F1-413E-4A03-9078-7F6A70FA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7">
            <a:extLst xmlns:a="http://schemas.openxmlformats.org/drawingml/2006/main">
              <a:ext uri="{FF2B5EF4-FFF2-40B4-BE49-F238E27FC236}">
                <a16:creationId xmlns:a16="http://schemas.microsoft.com/office/drawing/2014/main" id="{8512E1BE-4B75-4CAB-A7A7-5DBF44A1F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84e8c542ce4ca5"/>
          <a:stretch xmlns:a="http://schemas.openxmlformats.org/drawingml/2006/main"/>
        </p:blipFill>
        <p:spPr>
          <a:xfrm xmlns:a="http://schemas.openxmlformats.org/drawingml/2006/main">
            <a:off x="790575" y="1962150"/>
            <a:ext cx="5943600" cy="3714750"/>
          </a:xfrm>
          <a:prstGeom xmlns:a="http://schemas.openxmlformats.org/drawingml/2006/main" prst="rect">
            <a:avLst/>
          </a:prstGeom>
        </p:spPr>
      </p:pic>
      <p:sp>
        <p:nvSpPr>
          <p:cNvPr id="7" name="label-Rejected shadow · G4-782-214">
            <a:extLst xmlns:a="http://schemas.openxmlformats.org/drawingml/2006/main">
              <a:ext uri="{FF2B5EF4-FFF2-40B4-BE49-F238E27FC236}">
                <a16:creationId xmlns:a16="http://schemas.microsoft.com/office/drawing/2014/main" id="{5FCCA455-35F3-499D-8627-1E5503B6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REJECTED SHADOW · G4</a:t>
            </a:r>
          </a:p>
        </p:txBody>
      </p:sp>
      <p:sp>
        <p:nvSpPr>
          <p:cNvPr id="8" name="g4-return">
            <a:extLst xmlns:a="http://schemas.openxmlformats.org/drawingml/2006/main">
              <a:ext uri="{FF2B5EF4-FFF2-40B4-BE49-F238E27FC236}">
                <a16:creationId xmlns:a16="http://schemas.microsoft.com/office/drawing/2014/main" id="{9B78F708-5391-4B97-8893-85B06005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003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75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18.97%</a:t>
            </a:r>
          </a:p>
        </p:txBody>
      </p:sp>
      <p:sp>
        <p:nvSpPr>
          <p:cNvPr id="9" name="g4-return-caption">
            <a:extLst xmlns:a="http://schemas.openxmlformats.org/drawingml/2006/main">
              <a:ext uri="{FF2B5EF4-FFF2-40B4-BE49-F238E27FC236}">
                <a16:creationId xmlns:a16="http://schemas.microsoft.com/office/drawing/2014/main" id="{6A33FAB9-9A48-4C32-80FA-478FA0B2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48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annualized vs. SPY 15.11%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835ABF-5ADA-405E-A9AE-CBB853E8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528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1" name="g4-gate-0">
            <a:extLst xmlns:a="http://schemas.openxmlformats.org/drawingml/2006/main">
              <a:ext uri="{FF2B5EF4-FFF2-40B4-BE49-F238E27FC236}">
                <a16:creationId xmlns:a16="http://schemas.microsoft.com/office/drawing/2014/main" id="{2E85EB50-2DBE-469F-B6EB-FB1734EC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Deflated Sharpe probability</a:t>
            </a:r>
          </a:p>
        </p:txBody>
      </p:sp>
      <p:sp>
        <p:nvSpPr>
          <p:cNvPr id="12" name="g4-value-0">
            <a:extLst xmlns:a="http://schemas.openxmlformats.org/drawingml/2006/main">
              <a:ext uri="{FF2B5EF4-FFF2-40B4-BE49-F238E27FC236}">
                <a16:creationId xmlns:a16="http://schemas.microsoft.com/office/drawing/2014/main" id="{5C310355-0BD7-4542-8DE0-AB2800FB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6385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3.75%</a:t>
            </a:r>
          </a:p>
        </p:txBody>
      </p:sp>
      <p:sp>
        <p:nvSpPr>
          <p:cNvPr id="13" name="g4-status-0">
            <a:extLst xmlns:a="http://schemas.openxmlformats.org/drawingml/2006/main">
              <a:ext uri="{FF2B5EF4-FFF2-40B4-BE49-F238E27FC236}">
                <a16:creationId xmlns:a16="http://schemas.microsoft.com/office/drawing/2014/main" id="{560CA0B5-1126-463D-9120-4C1A1F8D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6385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614FB-6BE7-4D8A-AE81-E70A1D85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481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5" name="g4-gate-1">
            <a:extLst xmlns:a="http://schemas.openxmlformats.org/drawingml/2006/main">
              <a:ext uri="{FF2B5EF4-FFF2-40B4-BE49-F238E27FC236}">
                <a16:creationId xmlns:a16="http://schemas.microsoft.com/office/drawing/2014/main" id="{043BE22C-D960-46C9-96EA-A1D144AA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33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Worst familywise p-value</a:t>
            </a:r>
          </a:p>
        </p:txBody>
      </p:sp>
      <p:sp>
        <p:nvSpPr>
          <p:cNvPr id="16" name="g4-value-1">
            <a:extLst xmlns:a="http://schemas.openxmlformats.org/drawingml/2006/main">
              <a:ext uri="{FF2B5EF4-FFF2-40B4-BE49-F238E27FC236}">
                <a16:creationId xmlns:a16="http://schemas.microsoft.com/office/drawing/2014/main" id="{2F8798A4-96B9-4827-8D26-BBBFAC40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338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0.3718</a:t>
            </a:r>
          </a:p>
        </p:txBody>
      </p:sp>
      <p:sp>
        <p:nvSpPr>
          <p:cNvPr id="17" name="g4-status-1">
            <a:extLst xmlns:a="http://schemas.openxmlformats.org/drawingml/2006/main">
              <a:ext uri="{FF2B5EF4-FFF2-40B4-BE49-F238E27FC236}">
                <a16:creationId xmlns:a16="http://schemas.microsoft.com/office/drawing/2014/main" id="{4E82F527-27CF-4569-9615-DEFAE6B3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1338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B800ED-1655-4188-969E-95A449D6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434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9" name="g4-gate-2">
            <a:extLst xmlns:a="http://schemas.openxmlformats.org/drawingml/2006/main">
              <a:ext uri="{FF2B5EF4-FFF2-40B4-BE49-F238E27FC236}">
                <a16:creationId xmlns:a16="http://schemas.microsoft.com/office/drawing/2014/main" id="{F23A5070-309F-4ABF-94BA-B985E9BE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29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3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Static growth-control independence</a:t>
            </a:r>
          </a:p>
        </p:txBody>
      </p:sp>
      <p:sp>
        <p:nvSpPr>
          <p:cNvPr id="20" name="g4-value-2">
            <a:extLst xmlns:a="http://schemas.openxmlformats.org/drawingml/2006/main">
              <a:ext uri="{FF2B5EF4-FFF2-40B4-BE49-F238E27FC236}">
                <a16:creationId xmlns:a16="http://schemas.microsoft.com/office/drawing/2014/main" id="{3D2521D3-D7BE-42B0-9145-FE67903E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6291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Unsupported</a:t>
            </a:r>
          </a:p>
        </p:txBody>
      </p:sp>
      <p:sp>
        <p:nvSpPr>
          <p:cNvPr id="21" name="g4-status-2">
            <a:extLst xmlns:a="http://schemas.openxmlformats.org/drawingml/2006/main">
              <a:ext uri="{FF2B5EF4-FFF2-40B4-BE49-F238E27FC236}">
                <a16:creationId xmlns:a16="http://schemas.microsoft.com/office/drawing/2014/main" id="{97A398FC-8958-409D-ABBA-0676D4C1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6291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ABE41F-F231-4F42-977F-DFB8358B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387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23" name="g4-gate-3">
            <a:extLst xmlns:a="http://schemas.openxmlformats.org/drawingml/2006/main">
              <a:ext uri="{FF2B5EF4-FFF2-40B4-BE49-F238E27FC236}">
                <a16:creationId xmlns:a16="http://schemas.microsoft.com/office/drawing/2014/main" id="{36C0F1C5-56E1-4A4F-9DD6-AAB07069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24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Authenticated source overlap</a:t>
            </a:r>
          </a:p>
        </p:txBody>
      </p:sp>
      <p:sp>
        <p:nvSpPr>
          <p:cNvPr id="24" name="g4-value-3">
            <a:extLst xmlns:a="http://schemas.openxmlformats.org/drawingml/2006/main">
              <a:ext uri="{FF2B5EF4-FFF2-40B4-BE49-F238E27FC236}">
                <a16:creationId xmlns:a16="http://schemas.microsoft.com/office/drawing/2014/main" id="{51C6EB0F-6FCB-4B4A-A71C-508B9704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1244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Not passed</a:t>
            </a:r>
          </a:p>
        </p:txBody>
      </p:sp>
      <p:sp>
        <p:nvSpPr>
          <p:cNvPr id="25" name="g4-status-3">
            <a:extLst xmlns:a="http://schemas.openxmlformats.org/drawingml/2006/main">
              <a:ext uri="{FF2B5EF4-FFF2-40B4-BE49-F238E27FC236}">
                <a16:creationId xmlns:a16="http://schemas.microsoft.com/office/drawing/2014/main" id="{906B72D6-12A4-4DC9-A237-733677E8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244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26" name="g4-boundary">
            <a:extLst xmlns:a="http://schemas.openxmlformats.org/drawingml/2006/main">
              <a:ext uri="{FF2B5EF4-FFF2-40B4-BE49-F238E27FC236}">
                <a16:creationId xmlns:a16="http://schemas.microsoft.com/office/drawing/2014/main" id="{E9B1B1A2-4BC3-4AE0-9955-3E5B87F1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674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G4 remains a selected-after-history descriptive shadow. It is not the production policy and never received authority to trade.</a:t>
            </a:r>
          </a:p>
        </p:txBody>
      </p:sp>
    </p:spTree>
    <p:extLst>
      <p:ext uri="{BB962C8B-B14F-4D97-AF65-F5344CB8AC3E}">
        <p14:creationId xmlns:p14="http://schemas.microsoft.com/office/powerpoint/2010/main" val="20535422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label-Forward proof-58-32">
            <a:extLst xmlns:a="http://schemas.openxmlformats.org/drawingml/2006/main">
              <a:ext uri="{FF2B5EF4-FFF2-40B4-BE49-F238E27FC236}">
                <a16:creationId xmlns:a16="http://schemas.microsoft.com/office/drawing/2014/main" id="{18E80139-8C48-477A-B4BF-B81FBA2B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FORWARD PROOF</a:t>
            </a:r>
          </a:p>
        </p:txBody>
      </p:sp>
      <p:sp>
        <p:nvSpPr>
          <p:cNvPr id="2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5671549F-784D-4FBB-8948-5EEF1950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Attempt 114 turns the next profitability claim into a pre-committed test.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B2978-5D85-4576-AAE8-CDE7186D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5B08AD9F-85C3-47F3-8F6B-433CD29B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8">
            <a:extLst xmlns:a="http://schemas.openxmlformats.org/drawingml/2006/main">
              <a:ext uri="{FF2B5EF4-FFF2-40B4-BE49-F238E27FC236}">
                <a16:creationId xmlns:a16="http://schemas.microsoft.com/office/drawing/2014/main" id="{99F6ABD1-B035-4040-B609-DE6FEA7B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label-Public before the first signal-64-210">
            <a:extLst xmlns:a="http://schemas.openxmlformats.org/drawingml/2006/main">
              <a:ext uri="{FF2B5EF4-FFF2-40B4-BE49-F238E27FC236}">
                <a16:creationId xmlns:a16="http://schemas.microsoft.com/office/drawing/2014/main" id="{55C5FA89-93D3-4806-908A-6C346155C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PUBLIC BEFORE THE FIRST SIGNAL</a:t>
            </a:r>
          </a:p>
        </p:txBody>
      </p:sp>
      <p:sp>
        <p:nvSpPr>
          <p:cNvPr id="7" name="attempt-title">
            <a:extLst xmlns:a="http://schemas.openxmlformats.org/drawingml/2006/main">
              <a:ext uri="{FF2B5EF4-FFF2-40B4-BE49-F238E27FC236}">
                <a16:creationId xmlns:a16="http://schemas.microsoft.com/office/drawing/2014/main" id="{B3FBD035-4EB2-4A1F-879A-93B827E7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619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protocol and executable runtime are already frozen.</a:t>
            </a:r>
          </a:p>
        </p:txBody>
      </p:sp>
      <p:sp>
        <p:nvSpPr>
          <p:cNvPr id="8" name="attempt-copy">
            <a:extLst xmlns:a="http://schemas.openxmlformats.org/drawingml/2006/main">
              <a:ext uri="{FF2B5EF4-FFF2-40B4-BE49-F238E27FC236}">
                <a16:creationId xmlns:a16="http://schemas.microsoft.com/office/drawing/2014/main" id="{350ECB6C-C614-4C76-B550-04B9C31E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334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CBD4D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CBD4D6"/>
                </a:solidFill>
                <a:latin typeface="Arial"/>
                <a:ea typeface="Arial"/>
                <a:cs typeface="Arial"/>
              </a:rPr>
              <a:t>A successful public GitHub workflow observed the exact bytes before the exclusive deadline. The rule set forbids skipped sessions, replacement windows, backfill, optional stopping, and a repeat confirmatory test.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EAD9A-E2CD-479D-9141-F2A1DCA9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621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E7482"/>
            </a:solidFill>
            <a:prstDash val="solid"/>
          </a:ln>
        </p:spPr>
      </p:sp>
      <p:sp>
        <p:nvSpPr>
          <p:cNvPr id="10" name="metric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0F1702C4-1186-4CF6-B4A6-2F2363F0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76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17/17</a:t>
            </a:r>
          </a:p>
        </p:txBody>
      </p:sp>
      <p:sp>
        <p:nvSpPr>
          <p:cNvPr id="11" name="metric-caption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99AB9CBF-3E01-4DC2-AAA0-B4FE26D4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384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RUNTIME-BOUND FILES MATCHED</a:t>
            </a:r>
          </a:p>
        </p:txBody>
      </p:sp>
      <p:sp>
        <p:nvSpPr>
          <p:cNvPr id="12" name="metric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A2D91E78-AF85-43D1-A65B-3E2A4E87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76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rPr>
              <a:t>23</a:t>
            </a:r>
          </a:p>
        </p:txBody>
      </p:sp>
      <p:sp>
        <p:nvSpPr>
          <p:cNvPr id="13" name="metric-caption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9427F158-0BCB-4473-9D1E-40167C2E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384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FIXED PUBLIC GET CHECKS</a:t>
            </a:r>
          </a:p>
        </p:txBody>
      </p:sp>
      <p:sp>
        <p:nvSpPr>
          <p:cNvPr id="14" name="metric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4F0F7CB2-2A09-4FFA-84BA-AAA7E7CA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254</a:t>
            </a:r>
          </a:p>
        </p:txBody>
      </p:sp>
      <p:sp>
        <p:nvSpPr>
          <p:cNvPr id="15" name="metric-caption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BFB09355-EFD3-439C-82B0-8FB2F54B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338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TIMELY SIGNAL ANCHORS REQUIRED</a:t>
            </a:r>
          </a:p>
        </p:txBody>
      </p:sp>
      <p:sp>
        <p:nvSpPr>
          <p:cNvPr id="16" name="metric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70C7FC3D-329C-4359-B692-FAEE7848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718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rPr>
              <a:t>252</a:t>
            </a:r>
          </a:p>
        </p:txBody>
      </p:sp>
      <p:sp>
        <p:nvSpPr>
          <p:cNvPr id="17" name="metric-caption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D6B29D88-781D-4E05-B15C-4ABE2E0A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338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RECONCILED SETTLEMENTS REQUIRED</a:t>
            </a:r>
          </a:p>
        </p:txBody>
      </p:sp>
      <p:sp>
        <p:nvSpPr>
          <p:cNvPr id="18" name="attempt-gate">
            <a:extLst xmlns:a="http://schemas.openxmlformats.org/drawingml/2006/main">
              <a:ext uri="{FF2B5EF4-FFF2-40B4-BE49-F238E27FC236}">
                <a16:creationId xmlns:a16="http://schemas.microsoft.com/office/drawing/2014/main" id="{E5F40564-96E1-4E2F-8FAB-FC860B90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62500"/>
            <a:ext cx="4876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5"/>
          </a:solidFill>
          <a:ln xmlns:a="http://schemas.openxmlformats.org/drawingml/2006/main" w="9525">
            <a:solidFill>
              <a:srgbClr val="527087"/>
            </a:solidFill>
            <a:prstDash val="solid"/>
          </a:ln>
        </p:spPr>
      </p:sp>
      <p:sp>
        <p:nvSpPr>
          <p:cNvPr id="19" name="attempt-gate-copy">
            <a:extLst xmlns:a="http://schemas.openxmlformats.org/drawingml/2006/main">
              <a:ext uri="{FF2B5EF4-FFF2-40B4-BE49-F238E27FC236}">
                <a16:creationId xmlns:a16="http://schemas.microsoft.com/office/drawing/2014/main" id="{3F0E95D9-118F-47F5-9BDB-F8ECEEBA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4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TODAY: 0 anchors · 0 settlements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Performance inference and broker mutation remain disabled.</a:t>
            </a:r>
          </a:p>
        </p:txBody>
      </p:sp>
      <p:sp>
        <p:nvSpPr>
          <p:cNvPr id="20" name="attempt-boundary">
            <a:extLst xmlns:a="http://schemas.openxmlformats.org/drawingml/2006/main">
              <a:ext uri="{FF2B5EF4-FFF2-40B4-BE49-F238E27FC236}">
                <a16:creationId xmlns:a16="http://schemas.microsoft.com/office/drawing/2014/main" id="{DEA4052A-0B14-4781-BA7C-583C5349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1">
                <a:solidFill>
                  <a:srgbClr val="9AB0B6"/>
                </a:solidFill>
                <a:latin typeface="Arial"/>
                <a:ea typeface="Arial"/>
                <a:cs typeface="Arial"/>
              </a:defRPr>
            </a:pPr>
            <a:r>
              <a:rPr sz="1125" b="0" i="1">
                <a:solidFill>
                  <a:srgbClr val="9AB0B6"/>
                </a:solidFill>
                <a:latin typeface="Arial"/>
                <a:ea typeface="Arial"/>
                <a:cs typeface="Arial"/>
              </a:rPr>
              <a:t>GitHub provides a public platform record—not an independent cryptographic timestamp, provider-origin proof, broker fill, or profitability result.</a:t>
            </a:r>
          </a:p>
        </p:txBody>
      </p:sp>
    </p:spTree>
    <p:extLst>
      <p:ext uri="{BB962C8B-B14F-4D97-AF65-F5344CB8AC3E}">
        <p14:creationId xmlns:p14="http://schemas.microsoft.com/office/powerpoint/2010/main" val="5496172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label-Why Finly-58-32">
            <a:extLst xmlns:a="http://schemas.openxmlformats.org/drawingml/2006/main">
              <a:ext uri="{FF2B5EF4-FFF2-40B4-BE49-F238E27FC236}">
                <a16:creationId xmlns:a16="http://schemas.microsoft.com/office/drawing/2014/main" id="{5FDA8259-1704-4332-A7D4-CF203FBB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WHY FINLY</a:t>
            </a:r>
          </a:p>
        </p:txBody>
      </p:sp>
      <p:sp>
        <p:nvSpPr>
          <p:cNvPr id="2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BE7AE067-0382-4A05-BA0B-12235556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Finly gives judges evidence they can verify—and a future claim they can falsify.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18D6A6-BE63-4E79-896B-8BF74889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18718E31-6565-4B7D-8051-FF194493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9">
            <a:extLst xmlns:a="http://schemas.openxmlformats.org/drawingml/2006/main">
              <a:ext uri="{FF2B5EF4-FFF2-40B4-BE49-F238E27FC236}">
                <a16:creationId xmlns:a16="http://schemas.microsoft.com/office/drawing/2014/main" id="{1E289DE8-7B40-44E8-8772-3E6904D1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label-P&amp;L evidence-58-220">
            <a:extLst xmlns:a="http://schemas.openxmlformats.org/drawingml/2006/main">
              <a:ext uri="{FF2B5EF4-FFF2-40B4-BE49-F238E27FC236}">
                <a16:creationId xmlns:a16="http://schemas.microsoft.com/office/drawing/2014/main" id="{A6C678AC-D955-47AD-9A7B-6A1D5908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D49B9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49B91"/>
                </a:solidFill>
                <a:latin typeface="Arial"/>
                <a:ea typeface="Arial"/>
                <a:cs typeface="Arial"/>
              </a:rPr>
              <a:t>P&amp;L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1C9396-680B-41DE-A06A-2B531539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3A3A"/>
            </a:solidFill>
            <a:prstDash val="solid"/>
          </a:ln>
        </p:spPr>
      </p:sp>
      <p:sp>
        <p:nvSpPr>
          <p:cNvPr id="8" name="criterion-0">
            <a:extLst xmlns:a="http://schemas.openxmlformats.org/drawingml/2006/main">
              <a:ext uri="{FF2B5EF4-FFF2-40B4-BE49-F238E27FC236}">
                <a16:creationId xmlns:a16="http://schemas.microsoft.com/office/drawing/2014/main" id="{154458E0-5AD9-46F7-95C4-AACFA6D3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+15.39% at next-open fills and 5 bp per leg; +10.56% at 25 bp. SPY returned +33.52%.</a:t>
            </a:r>
          </a:p>
        </p:txBody>
      </p:sp>
      <p:sp>
        <p:nvSpPr>
          <p:cNvPr id="9" name="label-Technology-350-220">
            <a:extLst xmlns:a="http://schemas.openxmlformats.org/drawingml/2006/main">
              <a:ext uri="{FF2B5EF4-FFF2-40B4-BE49-F238E27FC236}">
                <a16:creationId xmlns:a16="http://schemas.microsoft.com/office/drawing/2014/main" id="{44C21CE5-0FCF-44F8-9E12-59022F72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TECHNOLOGY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C60817-B107-4AD8-98B2-6FACB991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1" name="criterion-1">
            <a:extLst xmlns:a="http://schemas.openxmlformats.org/drawingml/2006/main">
              <a:ext uri="{FF2B5EF4-FFF2-40B4-BE49-F238E27FC236}">
                <a16:creationId xmlns:a16="http://schemas.microsoft.com/office/drawing/2014/main" id="{BDC099A2-AFA3-4B3E-8518-1A03D110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 implemented authority boundary keeps models away from exposure, order fields, maximum loss, and broker permission.</a:t>
            </a:r>
          </a:p>
        </p:txBody>
      </p:sp>
      <p:sp>
        <p:nvSpPr>
          <p:cNvPr id="12" name="label-Originality-642-220">
            <a:extLst xmlns:a="http://schemas.openxmlformats.org/drawingml/2006/main">
              <a:ext uri="{FF2B5EF4-FFF2-40B4-BE49-F238E27FC236}">
                <a16:creationId xmlns:a16="http://schemas.microsoft.com/office/drawing/2014/main" id="{34B82091-7EB6-4413-8B82-365F6F127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ORIGINALITY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5D8F9-4954-45E2-B0EC-338DA1A8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4" name="criterion-2">
            <a:extLst xmlns:a="http://schemas.openxmlformats.org/drawingml/2006/main">
              <a:ext uri="{FF2B5EF4-FFF2-40B4-BE49-F238E27FC236}">
                <a16:creationId xmlns:a16="http://schemas.microsoft.com/office/drawing/2014/main" id="{4E6A31F1-EDDF-43DC-9329-8ADD1AAC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Finly makes correction, rejection, and NO_TRADE observable product behavior—not a disclaimer added after the trade.</a:t>
            </a:r>
          </a:p>
        </p:txBody>
      </p:sp>
      <p:sp>
        <p:nvSpPr>
          <p:cNvPr id="15" name="label-Forward proof-934-220">
            <a:extLst xmlns:a="http://schemas.openxmlformats.org/drawingml/2006/main">
              <a:ext uri="{FF2B5EF4-FFF2-40B4-BE49-F238E27FC236}">
                <a16:creationId xmlns:a16="http://schemas.microsoft.com/office/drawing/2014/main" id="{222C17A2-7B6F-49A2-91C4-C449087E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FORWARD PROOF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928324-324F-43E0-9398-FF54EAEE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7" name="criterion-3">
            <a:extLst xmlns:a="http://schemas.openxmlformats.org/drawingml/2006/main">
              <a:ext uri="{FF2B5EF4-FFF2-40B4-BE49-F238E27FC236}">
                <a16:creationId xmlns:a16="http://schemas.microsoft.com/office/drawing/2014/main" id="{676647C9-8189-46D9-B5A9-38C41C86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Attempt 114 freezes 17 runtime files and requires 254 anchors plus 252 reconciled settlements before inference.</a:t>
            </a:r>
          </a:p>
        </p:txBody>
      </p:sp>
      <p:sp>
        <p:nvSpPr>
          <p:cNvPr id="18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FE052052-272F-4BB0-8CF6-00DC50A3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10629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1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proposition is simple: let AI interpret more, authorize less, and earn every stronger profitability claim in public.</a:t>
            </a:r>
          </a:p>
        </p:txBody>
      </p:sp>
    </p:spTree>
    <p:extLst>
      <p:ext uri="{BB962C8B-B14F-4D97-AF65-F5344CB8AC3E}">
        <p14:creationId xmlns:p14="http://schemas.microsoft.com/office/powerpoint/2010/main" val="2335090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2026-08-30T05:29:12.4630000Z</dcterms:created>
  <dcterms:modified xsi:type="dcterms:W3CDTF">2026-08-30T05:29:12.4630000Z</dcterms:modified>
</coreProperties>
</file>