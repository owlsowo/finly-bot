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b9d0dbb6e7402c" /><Relationship Type="http://schemas.openxmlformats.org/officeDocument/2006/relationships/extended-properties" Target="/docProps/app.xml" Id="R170aa8602d144be7" /><Relationship Type="http://schemas.openxmlformats.org/officeDocument/2006/relationships/officeDocument" Target="/ppt/presentation.xml" Id="Raefa66b3ad0b468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7b39b97ea14638"/>
  </p:sldMasterIdLst>
  <p:notesMasterIdLst>
    <p:notesMasterId xmlns:r="http://schemas.openxmlformats.org/officeDocument/2006/relationships" r:id="R450dbf6bea544124"/>
  </p:notesMasterIdLst>
  <p:sldIdLst>
    <p:sldId xmlns:r="http://schemas.openxmlformats.org/officeDocument/2006/relationships" id="256" r:id="R1fda68167b9b44fd"/>
    <p:sldId xmlns:r="http://schemas.openxmlformats.org/officeDocument/2006/relationships" id="257" r:id="R9a0272bb85034291"/>
    <p:sldId xmlns:r="http://schemas.openxmlformats.org/officeDocument/2006/relationships" id="258" r:id="R7c2cf1766ace4b81"/>
    <p:sldId xmlns:r="http://schemas.openxmlformats.org/officeDocument/2006/relationships" id="259" r:id="R6bb9f3e2a43f465f"/>
    <p:sldId xmlns:r="http://schemas.openxmlformats.org/officeDocument/2006/relationships" id="260" r:id="Rde2f7dbfba4647ce"/>
    <p:sldId xmlns:r="http://schemas.openxmlformats.org/officeDocument/2006/relationships" id="261" r:id="Re8c57166f5e64260"/>
    <p:sldId xmlns:r="http://schemas.openxmlformats.org/officeDocument/2006/relationships" id="262" r:id="R3aa366e3ba5a4b45"/>
    <p:sldId xmlns:r="http://schemas.openxmlformats.org/officeDocument/2006/relationships" id="263" r:id="R2efd1b8a57894f83"/>
    <p:sldId xmlns:r="http://schemas.openxmlformats.org/officeDocument/2006/relationships" id="264" r:id="R6963297ef99e44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b1dcfbaa2742d3" /><Relationship Type="http://schemas.openxmlformats.org/officeDocument/2006/relationships/slideMaster" Target="/ppt/slideMasters/slideMaster1.xml" Id="R677b39b97ea14638" /><Relationship Type="http://schemas.openxmlformats.org/officeDocument/2006/relationships/notesMaster" Target="/ppt/notesMasters/notesMaster1.xml" Id="R450dbf6bea544124" /><Relationship Type="http://schemas.openxmlformats.org/officeDocument/2006/relationships/presProps" Target="/ppt/presProps.xml" Id="R0129539d92434155" /><Relationship Type="http://schemas.openxmlformats.org/officeDocument/2006/relationships/tableStyles" Target="/ppt/tableStyles.xml" Id="Ra336faaab6a2462e" /><Relationship Type="http://schemas.openxmlformats.org/officeDocument/2006/relationships/slide" Target="/ppt/slides/slide1.xml" Id="R1fda68167b9b44fd" /><Relationship Type="http://schemas.openxmlformats.org/officeDocument/2006/relationships/slide" Target="/ppt/slides/slide2.xml" Id="R9a0272bb85034291" /><Relationship Type="http://schemas.openxmlformats.org/officeDocument/2006/relationships/slide" Target="/ppt/slides/slide3.xml" Id="R7c2cf1766ace4b81" /><Relationship Type="http://schemas.openxmlformats.org/officeDocument/2006/relationships/slide" Target="/ppt/slides/slide4.xml" Id="R6bb9f3e2a43f465f" /><Relationship Type="http://schemas.openxmlformats.org/officeDocument/2006/relationships/slide" Target="/ppt/slides/slide5.xml" Id="Rde2f7dbfba4647ce" /><Relationship Type="http://schemas.openxmlformats.org/officeDocument/2006/relationships/slide" Target="/ppt/slides/slide6.xml" Id="Re8c57166f5e64260" /><Relationship Type="http://schemas.openxmlformats.org/officeDocument/2006/relationships/slide" Target="/ppt/slides/slide7.xml" Id="R3aa366e3ba5a4b45" /><Relationship Type="http://schemas.openxmlformats.org/officeDocument/2006/relationships/slide" Target="/ppt/slides/slide8.xml" Id="R2efd1b8a57894f83" /><Relationship Type="http://schemas.openxmlformats.org/officeDocument/2006/relationships/slide" Target="/ppt/slides/slide9.xml" Id="R6963297ef99e44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385aeea8c844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78cfcd41724803" /><Relationship Type="http://schemas.openxmlformats.org/officeDocument/2006/relationships/notesMaster" Target="/ppt/notesMasters/notesMaster1.xml" Id="R4f3e185ea6634a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7b01813a5b4309" /><Relationship Type="http://schemas.openxmlformats.org/officeDocument/2006/relationships/notesMaster" Target="/ppt/notesMasters/notesMaster1.xml" Id="Rdf1cc0b8eb2441c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d66e98f83d48a0" /><Relationship Type="http://schemas.openxmlformats.org/officeDocument/2006/relationships/notesMaster" Target="/ppt/notesMasters/notesMaster1.xml" Id="R8d7580c92f9f446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06b477684604563" /><Relationship Type="http://schemas.openxmlformats.org/officeDocument/2006/relationships/notesMaster" Target="/ppt/notesMasters/notesMaster1.xml" Id="Rf8d80c9bdfe64de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38bd541eef44a47" /><Relationship Type="http://schemas.openxmlformats.org/officeDocument/2006/relationships/notesMaster" Target="/ppt/notesMasters/notesMaster1.xml" Id="R8db4f57ff3fe4c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30e80d003e47b8" /><Relationship Type="http://schemas.openxmlformats.org/officeDocument/2006/relationships/notesMaster" Target="/ppt/notesMasters/notesMaster1.xml" Id="R37f78277135f49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35fd72fe1374476" /><Relationship Type="http://schemas.openxmlformats.org/officeDocument/2006/relationships/notesMaster" Target="/ppt/notesMasters/notesMaster1.xml" Id="R2b98adabe08b477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37a37587cfb45b0" /><Relationship Type="http://schemas.openxmlformats.org/officeDocument/2006/relationships/notesMaster" Target="/ppt/notesMasters/notesMaster1.xml" Id="R05c40fd05fe848d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70fc31b0f04a04" /><Relationship Type="http://schemas.openxmlformats.org/officeDocument/2006/relationships/notesMaster" Target="/ppt/notesMasters/notesMaster1.xml" Id="R603ab43bc2d547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Historical series: https://owlsowo.github.io/finly-bot/data/g4_wealth_drawdown.json</a:t>
            </a:r>
          </a:p>
          <a:p xmlns:a="http://schemas.openxmlformats.org/drawingml/2006/main">
            <a:r>
              <a:t>- Sanitized paper account: https://owlsowo.github.io/finly-bot/data/competition_live.json</a:t>
            </a:r>
          </a:p>
          <a:p xmlns:a="http://schemas.openxmlformats.org/drawingml/2006/main">
            <a:r>
              <a:t>- The bull-horn mark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Decision trace: https://owlsowo.github.io/finly-bot/data/llama_decision_trace.json</a:t>
            </a:r>
          </a:p>
          <a:p xmlns:a="http://schemas.openxmlformats.org/drawingml/2006/main">
            <a:r>
              <a:t>- Positive decision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Interactive product: https://owlsowo.github.io/finly-bot/#controls</a:t>
            </a:r>
          </a:p>
          <a:p xmlns:a="http://schemas.openxmlformats.org/drawingml/2006/main">
            <a:r>
              <a:t>- Model trace: https://owlsowo.github.io/finly-bot/data/llama_decision_trace.json</a:t>
            </a:r>
          </a:p>
          <a:p xmlns:a="http://schemas.openxmlformats.org/drawingml/2006/main">
            <a:r>
              <a:t>- Compiled order receipt: https://owlsowo.github.io/finly-bot/data/latest_receipt.json</a:t>
            </a:r>
          </a:p>
          <a:p xmlns:a="http://schemas.openxmlformats.org/drawingml/2006/main">
            <a:r>
              <a:t>- Screenshot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Historical wealth and drawdown series: https://owlsowo.github.io/finly-bot/data/g4_wealth_drawdown.json</a:t>
            </a:r>
          </a:p>
          <a:p xmlns:a="http://schemas.openxmlformats.org/drawingml/2006/main">
            <a:r>
              <a:t>- Quantitative claim boundary: https://owlsowo.github.io/finly-bot/data/quantitative_release_gate.json</a:t>
            </a:r>
          </a:p>
          <a:p xmlns:a="http://schemas.openxmlformats.org/drawingml/2006/main">
            <a:r>
              <a:t>- Historical simulation with modeled 5 bp one-way costs; not broker P&amp;L or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External-era evidence: https://owlsowo.github.io/finly-bot/data/attempt150_public_evidence.json</a:t>
            </a:r>
          </a:p>
          <a:p xmlns:a="http://schemas.openxmlformats.org/drawingml/2006/main">
            <a:r>
              <a:t>- Kenneth French 10 Industry Portfolios: https://mba.tuck.dartmouth.edu/pages/faculty/ken.french/ftp/10_Industry_Portfolios_daily_CSV.zip</a:t>
            </a:r>
          </a:p>
          <a:p xmlns:a="http://schemas.openxmlformats.org/drawingml/2006/main">
            <a:r>
              <a:t>- Evidence record: 21218 observations, 21/21 positive schedule offsets.</a:t>
            </a:r>
          </a:p>
          <a:p xmlns:a="http://schemas.openxmlformats.org/drawingml/2006/main">
            <a:r>
              <a:t>- Industry-proxy reconstruction; separate from live broker performance and not independent validation. It passed 8/9 precommitted gates but failed the multiple-testing-adjusted statistical 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Positive options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Receipt: SPY260911P00560000 / SPY260911P00550000, $3.66 debit.</a:t>
            </a:r>
          </a:p>
          <a:p xmlns:a="http://schemas.openxmlformats.org/drawingml/2006/main">
            <a:r>
              <a:t>- The checked options fixture is synthetic paper-trading evidence, not realized options P&amp;L.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Sanitized live account: https://owlsowo.github.io/finly-bot/data/competition_live.json</a:t>
            </a:r>
          </a:p>
          <a:p xmlns:a="http://schemas.openxmlformats.org/drawingml/2006/main">
            <a:r>
              <a:t>- Public live dashboard: https://owlsowo.github.io/finly-bot/#live</a:t>
            </a:r>
          </a:p>
          <a:p xmlns:a="http://schemas.openxmlformats.org/drawingml/2006/main">
            <a:r>
              <a:t>- Human-frozen competition protocol: https://github.com/owlsowo/finly-bot/blob/main/config/g4-official-production.json</a:t>
            </a:r>
          </a:p>
          <a:p xmlns:a="http://schemas.openxmlformats.org/drawingml/2006/main">
            <a:r>
              <a:t>- Forward-score contract: https://github.com/owlsowo/finly-bot/blob/main/config/competition-forward-profit.json</a:t>
            </a:r>
          </a:p>
          <a:p xmlns:a="http://schemas.openxmlformats.org/drawingml/2006/main">
            <a:r>
              <a:t>- First-close measurement: https://owlsowo.github.io/finly-bot/data/competition_forward_profit_2026_08_31.json</a:t>
            </a:r>
          </a:p>
          <a:p xmlns:a="http://schemas.openxmlformats.org/drawingml/2006/main">
            <a:r>
              <a:t>- Verified starting equity: $100,000; per-trade risk ceiling: $500.</a:t>
            </a:r>
          </a:p>
          <a:p xmlns:a="http://schemas.openxmlformats.org/drawingml/2006/main">
            <a:r>
              <a:t>- Exact first-close result: Finly +$95.32, SPY -$57.99, excess +$153.31.</a:t>
            </a:r>
          </a:p>
          <a:p xmlns:a="http://schemas.openxmlformats.org/drawingml/2006/main">
            <a:r>
              <a:t>- Screenshot is project-owned and records the public paper-account dashboard.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Cloud runner: https://github.com/owlsowo/finly-bot/blob/main/docs/CLOUD_RUNNER.md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Verified automated run: https://github.com/owlsowo/finly-bot/actions/runs/33369848292</a:t>
            </a:r>
          </a:p>
          <a:p xmlns:a="http://schemas.openxmlformats.org/drawingml/2006/main">
            <a:r>
              <a:t>- Public repository: https://github.com/owlsowo/finly-bot</a:t>
            </a:r>
          </a:p>
          <a:p xmlns:a="http://schemas.openxmlformats.org/drawingml/2006/main">
            <a:r>
              <a:t>- Screenshot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Repository: https://github.com/owlsowo/finly-bot</a:t>
            </a:r>
          </a:p>
          <a:p xmlns:a="http://schemas.openxmlformats.org/drawingml/2006/main">
            <a:r>
              <a:t>- Contact: mailto:bwen412@brandeis.edu</a:t>
            </a:r>
          </a:p>
          <a:p xmlns:a="http://schemas.openxmlformats.org/drawingml/2006/main">
            <a:r>
              <a:t>- QR encodes the live product URL and was generated by quickchart.io.</a:t>
            </a:r>
          </a:p>
          <a:p xmlns:a="http://schemas.openxmlformats.org/drawingml/2006/main">
            <a:r>
              <a:t>- Historical simulations and live paper-account results are labeled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cf51d310874f3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2b98bf41b384878" /><Relationship Type="http://schemas.openxmlformats.org/officeDocument/2006/relationships/slideLayout" Target="/ppt/slideLayouts/slideLayout1.xml" Id="R6c29a91555284f2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29a91555284f2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239ead280145d6" /><Relationship Type="http://schemas.openxmlformats.org/officeDocument/2006/relationships/image" Target="/ppt/media/image.png" Id="Re1c6adb544f5414c" /><Relationship Type="http://schemas.openxmlformats.org/officeDocument/2006/relationships/image" Target="/ppt/media/image2.png" Id="R7a211785cdb94b70" /><Relationship Type="http://schemas.openxmlformats.org/officeDocument/2006/relationships/notesSlide" Target="/ppt/notesSlides/notesSlide1.xml" Id="R11e558b85b33405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1e2ad10694edf" /><Relationship Type="http://schemas.openxmlformats.org/officeDocument/2006/relationships/notesSlide" Target="/ppt/notesSlides/notesSlide2.xml" Id="R76961205f1014a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6241b300424ebc" /><Relationship Type="http://schemas.openxmlformats.org/officeDocument/2006/relationships/notesSlide" Target="/ppt/notesSlides/notesSlide3.xml" Id="Rfec369d93362446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91316b893f4b1f" /><Relationship Type="http://schemas.openxmlformats.org/officeDocument/2006/relationships/chart" Target="/ppt/slides/charts/chart1.xml" Id="R3c81a6b0e0514ffe" /><Relationship Type="http://schemas.openxmlformats.org/officeDocument/2006/relationships/notesSlide" Target="/ppt/notesSlides/notesSlide4.xml" Id="R9a306de642b54f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677a26e7894a7e" /><Relationship Type="http://schemas.openxmlformats.org/officeDocument/2006/relationships/notesSlide" Target="/ppt/notesSlides/notesSlide5.xml" Id="R42d5d9626a3442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c8f7f24c854ca3" /><Relationship Type="http://schemas.openxmlformats.org/officeDocument/2006/relationships/chart" Target="/ppt/slides/charts/chart2.xml" Id="Rf8fe2248e8974012" /><Relationship Type="http://schemas.openxmlformats.org/officeDocument/2006/relationships/notesSlide" Target="/ppt/notesSlides/notesSlide6.xml" Id="Rde30fba04b97488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ff65656c34969" /><Relationship Type="http://schemas.openxmlformats.org/officeDocument/2006/relationships/notesSlide" Target="/ppt/notesSlides/notesSlide7.xml" Id="R1813a0cd69564ce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23b0ed8a864aaa" /><Relationship Type="http://schemas.openxmlformats.org/officeDocument/2006/relationships/notesSlide" Target="/ppt/notesSlides/notesSlide8.xml" Id="Rb9121d1f8c4f493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9b3462584f41c9" /><Relationship Type="http://schemas.openxmlformats.org/officeDocument/2006/relationships/image" Target="/ppt/media/image3.png" Id="R88225e7b835a4356" /><Relationship Type="http://schemas.openxmlformats.org/officeDocument/2006/relationships/hyperlink" Target="https://owlsowo.github.io/finly-bot/" TargetMode="External" Id="R322f07f34fed47fd" /><Relationship Type="http://schemas.openxmlformats.org/officeDocument/2006/relationships/hyperlink" Target="https://owlsowo.github.io/finly-bot/" TargetMode="External" Id="R723f959bab794c86" /><Relationship Type="http://schemas.openxmlformats.org/officeDocument/2006/relationships/notesSlide" Target="/ppt/notesSlides/notesSlide9.xml" Id="Rdf75f621479d4c59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Finly</c:v>
          </c:tx>
          <c:spPr>
            <a:ln xmlns:a="http://schemas.openxmlformats.org/drawingml/2006/main" w="38100">
              <a:solidFill>
                <a:srgbClr val="2F7D68"/>
              </a:solidFill>
              <a:prstDash val="solid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10288</c:v>
              </c:pt>
              <c:pt idx="1">
                <c:v>10739</c:v>
              </c:pt>
              <c:pt idx="2">
                <c:v>11526</c:v>
              </c:pt>
              <c:pt idx="3">
                <c:v>11889</c:v>
              </c:pt>
              <c:pt idx="4">
                <c:v>12514</c:v>
              </c:pt>
              <c:pt idx="5">
                <c:v>13355</c:v>
              </c:pt>
              <c:pt idx="6">
                <c:v>13659</c:v>
              </c:pt>
              <c:pt idx="7">
                <c:v>13830</c:v>
              </c:pt>
              <c:pt idx="8">
                <c:v>14211</c:v>
              </c:pt>
              <c:pt idx="9">
                <c:v>13885</c:v>
              </c:pt>
              <c:pt idx="10">
                <c:v>15896</c:v>
              </c:pt>
              <c:pt idx="11">
                <c:v>15917</c:v>
              </c:pt>
              <c:pt idx="12">
                <c:v>16845</c:v>
              </c:pt>
              <c:pt idx="13">
                <c:v>17137</c:v>
              </c:pt>
              <c:pt idx="14">
                <c:v>16353</c:v>
              </c:pt>
              <c:pt idx="15">
                <c:v>17109</c:v>
              </c:pt>
              <c:pt idx="16">
                <c:v>16170</c:v>
              </c:pt>
              <c:pt idx="17">
                <c:v>16498</c:v>
              </c:pt>
              <c:pt idx="18">
                <c:v>17744</c:v>
              </c:pt>
              <c:pt idx="19">
                <c:v>17769</c:v>
              </c:pt>
              <c:pt idx="20">
                <c:v>18234</c:v>
              </c:pt>
              <c:pt idx="21">
                <c:v>19148</c:v>
              </c:pt>
              <c:pt idx="22">
                <c:v>19699</c:v>
              </c:pt>
              <c:pt idx="23">
                <c:v>20198</c:v>
              </c:pt>
              <c:pt idx="24">
                <c:v>20790</c:v>
              </c:pt>
              <c:pt idx="25">
                <c:v>22268</c:v>
              </c:pt>
              <c:pt idx="26">
                <c:v>22817</c:v>
              </c:pt>
              <c:pt idx="27">
                <c:v>23411</c:v>
              </c:pt>
              <c:pt idx="28">
                <c:v>24609</c:v>
              </c:pt>
              <c:pt idx="29">
                <c:v>24698</c:v>
              </c:pt>
              <c:pt idx="30">
                <c:v>21265</c:v>
              </c:pt>
              <c:pt idx="31">
                <c:v>23784</c:v>
              </c:pt>
              <c:pt idx="32">
                <c:v>24688</c:v>
              </c:pt>
              <c:pt idx="33">
                <c:v>26502</c:v>
              </c:pt>
              <c:pt idx="34">
                <c:v>26158</c:v>
              </c:pt>
              <c:pt idx="35">
                <c:v>28309</c:v>
              </c:pt>
              <c:pt idx="36">
                <c:v>27807</c:v>
              </c:pt>
              <c:pt idx="37">
                <c:v>28920</c:v>
              </c:pt>
              <c:pt idx="38">
                <c:v>32733</c:v>
              </c:pt>
              <c:pt idx="39">
                <c:v>33901</c:v>
              </c:pt>
              <c:pt idx="40">
                <c:v>36522</c:v>
              </c:pt>
              <c:pt idx="41">
                <c:v>38925</c:v>
              </c:pt>
              <c:pt idx="42">
                <c:v>40816</c:v>
              </c:pt>
              <c:pt idx="43">
                <c:v>41474</c:v>
              </c:pt>
              <c:pt idx="44">
                <c:v>43575</c:v>
              </c:pt>
              <c:pt idx="45">
                <c:v>47241</c:v>
              </c:pt>
              <c:pt idx="46">
                <c:v>45003</c:v>
              </c:pt>
              <c:pt idx="47">
                <c:v>44079</c:v>
              </c:pt>
              <c:pt idx="48">
                <c:v>41770</c:v>
              </c:pt>
              <c:pt idx="49">
                <c:v>41642</c:v>
              </c:pt>
              <c:pt idx="50">
                <c:v>44593</c:v>
              </c:pt>
              <c:pt idx="51">
                <c:v>45887</c:v>
              </c:pt>
              <c:pt idx="52">
                <c:v>47153</c:v>
              </c:pt>
              <c:pt idx="53">
                <c:v>52437</c:v>
              </c:pt>
              <c:pt idx="54">
                <c:v>51363</c:v>
              </c:pt>
              <c:pt idx="55">
                <c:v>54161</c:v>
              </c:pt>
              <c:pt idx="56">
                <c:v>59507</c:v>
              </c:pt>
              <c:pt idx="57">
                <c:v>59856</c:v>
              </c:pt>
              <c:pt idx="58">
                <c:v>67431</c:v>
              </c:pt>
              <c:pt idx="59">
                <c:v>69737</c:v>
              </c:pt>
              <c:pt idx="60">
                <c:v>74965</c:v>
              </c:pt>
              <c:pt idx="61">
                <c:v>76998</c:v>
              </c:pt>
              <c:pt idx="62">
                <c:v>70629</c:v>
              </c:pt>
              <c:pt idx="63">
                <c:v>79543</c:v>
              </c:pt>
              <c:pt idx="64">
                <c:v>84910</c:v>
              </c:pt>
              <c:pt idx="65">
                <c:v>86155</c:v>
              </c:pt>
              <c:pt idx="66">
                <c:v>89189</c:v>
              </c:pt>
              <c:pt idx="67">
                <c:v>96162</c:v>
              </c:pt>
              <c:pt idx="68">
                <c:v>103465</c:v>
              </c:pt>
              <c:pt idx="69">
                <c:v>106711</c:v>
              </c:pt>
            </c:numLit>
          </c:val>
        </c:ser>
        <c:ser>
          <c:idx val="1"/>
          <c:order val="1"/>
          <c:tx>
            <c:v>SPY · S&amp;P 500 tracker</c:v>
          </c:tx>
          <c:spPr>
            <a:ln xmlns:a="http://schemas.openxmlformats.org/drawingml/2006/main" w="28575">
              <a:solidFill>
                <a:srgbClr val="0B2942"/>
              </a:solidFill>
              <a:prstDash val="dash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10246</c:v>
              </c:pt>
              <c:pt idx="1">
                <c:v>10980</c:v>
              </c:pt>
              <c:pt idx="2">
                <c:v>11718</c:v>
              </c:pt>
              <c:pt idx="3">
                <c:v>11984</c:v>
              </c:pt>
              <c:pt idx="4">
                <c:v>12330</c:v>
              </c:pt>
              <c:pt idx="5">
                <c:v>13156</c:v>
              </c:pt>
              <c:pt idx="6">
                <c:v>13253</c:v>
              </c:pt>
              <c:pt idx="7">
                <c:v>13683</c:v>
              </c:pt>
              <c:pt idx="8">
                <c:v>13869</c:v>
              </c:pt>
              <c:pt idx="9">
                <c:v>13528</c:v>
              </c:pt>
              <c:pt idx="10">
                <c:v>15209</c:v>
              </c:pt>
              <c:pt idx="11">
                <c:v>14922</c:v>
              </c:pt>
              <c:pt idx="12">
                <c:v>15648</c:v>
              </c:pt>
              <c:pt idx="13">
                <c:v>15451</c:v>
              </c:pt>
              <c:pt idx="14">
                <c:v>14825</c:v>
              </c:pt>
              <c:pt idx="15">
                <c:v>15343</c:v>
              </c:pt>
              <c:pt idx="16">
                <c:v>14775</c:v>
              </c:pt>
              <c:pt idx="17">
                <c:v>15339</c:v>
              </c:pt>
              <c:pt idx="18">
                <c:v>16337</c:v>
              </c:pt>
              <c:pt idx="19">
                <c:v>16347</c:v>
              </c:pt>
              <c:pt idx="20">
                <c:v>17223</c:v>
              </c:pt>
              <c:pt idx="21">
                <c:v>18083</c:v>
              </c:pt>
              <c:pt idx="22">
                <c:v>18343</c:v>
              </c:pt>
              <c:pt idx="23">
                <c:v>18979</c:v>
              </c:pt>
              <c:pt idx="24">
                <c:v>19626</c:v>
              </c:pt>
              <c:pt idx="25">
                <c:v>20799</c:v>
              </c:pt>
              <c:pt idx="26">
                <c:v>20867</c:v>
              </c:pt>
              <c:pt idx="27">
                <c:v>21254</c:v>
              </c:pt>
              <c:pt idx="28">
                <c:v>22213</c:v>
              </c:pt>
              <c:pt idx="29">
                <c:v>22740</c:v>
              </c:pt>
              <c:pt idx="30">
                <c:v>20062</c:v>
              </c:pt>
              <c:pt idx="31">
                <c:v>22160</c:v>
              </c:pt>
              <c:pt idx="32">
                <c:v>22292</c:v>
              </c:pt>
              <c:pt idx="33">
                <c:v>24042</c:v>
              </c:pt>
              <c:pt idx="34">
                <c:v>23270</c:v>
              </c:pt>
              <c:pt idx="35">
                <c:v>25425</c:v>
              </c:pt>
              <c:pt idx="36">
                <c:v>23955</c:v>
              </c:pt>
              <c:pt idx="37">
                <c:v>23686</c:v>
              </c:pt>
              <c:pt idx="38">
                <c:v>26439</c:v>
              </c:pt>
              <c:pt idx="39">
                <c:v>27352</c:v>
              </c:pt>
              <c:pt idx="40">
                <c:v>29953</c:v>
              </c:pt>
              <c:pt idx="41">
                <c:v>32134</c:v>
              </c:pt>
              <c:pt idx="42">
                <c:v>34486</c:v>
              </c:pt>
              <c:pt idx="43">
                <c:v>35086</c:v>
              </c:pt>
              <c:pt idx="44">
                <c:v>35923</c:v>
              </c:pt>
              <c:pt idx="45">
                <c:v>38888</c:v>
              </c:pt>
              <c:pt idx="46">
                <c:v>36092</c:v>
              </c:pt>
              <c:pt idx="47">
                <c:v>34716</c:v>
              </c:pt>
              <c:pt idx="48">
                <c:v>32249</c:v>
              </c:pt>
              <c:pt idx="49">
                <c:v>30631</c:v>
              </c:pt>
              <c:pt idx="50">
                <c:v>33113</c:v>
              </c:pt>
              <c:pt idx="51">
                <c:v>34399</c:v>
              </c:pt>
              <c:pt idx="52">
                <c:v>34834</c:v>
              </c:pt>
              <c:pt idx="53">
                <c:v>38235</c:v>
              </c:pt>
              <c:pt idx="54">
                <c:v>36914</c:v>
              </c:pt>
              <c:pt idx="55">
                <c:v>38995</c:v>
              </c:pt>
              <c:pt idx="56">
                <c:v>42832</c:v>
              </c:pt>
              <c:pt idx="57">
                <c:v>43178</c:v>
              </c:pt>
              <c:pt idx="58">
                <c:v>48323</c:v>
              </c:pt>
              <c:pt idx="59">
                <c:v>49309</c:v>
              </c:pt>
              <c:pt idx="60">
                <c:v>52273</c:v>
              </c:pt>
              <c:pt idx="61">
                <c:v>53107</c:v>
              </c:pt>
              <c:pt idx="62">
                <c:v>48306</c:v>
              </c:pt>
              <c:pt idx="63">
                <c:v>54588</c:v>
              </c:pt>
              <c:pt idx="64">
                <c:v>58104</c:v>
              </c:pt>
              <c:pt idx="65">
                <c:v>59915</c:v>
              </c:pt>
              <c:pt idx="66">
                <c:v>60001</c:v>
              </c:pt>
              <c:pt idx="67">
                <c:v>62696</c:v>
              </c:pt>
              <c:pt idx="68">
                <c:v>66178</c:v>
              </c:pt>
              <c:pt idx="69">
                <c:v>68082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2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6E1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30000"/>
      </c:valAx>
      <c:spPr>
        <a:solidFill xmlns:a="http://schemas.openxmlformats.org/drawingml/2006/main">
          <a:srgbClr val="FFFCF6"/>
        </a:solidFill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22A3E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CF6"/>
    </a:solidFill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Expiry payoff</c:v>
          </c:tx>
          <c:spPr>
            <a:ln xmlns:a="http://schemas.openxmlformats.org/drawingml/2006/main" w="47625">
              <a:solidFill>
                <a:srgbClr val="2F7D68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2F7D68"/>
              </a:solidFill>
            </c:spPr>
          </c:marker>
          <c:cat>
            <c:strLit>
              <c:ptCount val="9"/>
              <c:pt idx="0">
                <c:v>$540</c:v>
              </c:pt>
              <c:pt idx="1">
                <c:v>$545</c:v>
              </c:pt>
              <c:pt idx="2">
                <c:v>$550</c:v>
              </c:pt>
              <c:pt idx="3">
                <c:v>$555</c:v>
              </c:pt>
              <c:pt idx="4">
                <c:v>$560</c:v>
              </c:pt>
              <c:pt idx="5">
                <c:v>$565</c:v>
              </c:pt>
              <c:pt idx="6">
                <c:v>$570</c:v>
              </c:pt>
              <c:pt idx="7">
                <c:v>$575</c:v>
              </c:pt>
              <c:pt idx="8">
                <c:v>$580</c:v>
              </c:pt>
            </c:strLit>
          </c:cat>
          <c:val>
            <c:numLit>
              <c:formatCode>$#,##0</c:formatCode>
              <c:ptCount val="9"/>
              <c:pt idx="0">
                <c:v>634</c:v>
              </c:pt>
              <c:pt idx="1">
                <c:v>634</c:v>
              </c:pt>
              <c:pt idx="2">
                <c:v>634</c:v>
              </c:pt>
              <c:pt idx="3">
                <c:v>134</c:v>
              </c:pt>
              <c:pt idx="4">
                <c:v>-366</c:v>
              </c:pt>
              <c:pt idx="5">
                <c:v>-366</c:v>
              </c:pt>
              <c:pt idx="6">
                <c:v>-366</c:v>
              </c:pt>
              <c:pt idx="7">
                <c:v>-366</c:v>
              </c:pt>
              <c:pt idx="8">
                <c:v>-366</c:v>
              </c:pt>
            </c:numLit>
          </c:val>
          <c:smooth val="0"/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700"/>
          <c:min val="-4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0DB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200"/>
      </c:valAx>
      <c:spPr>
        <a:solidFill xmlns:a="http://schemas.openxmlformats.org/drawingml/2006/main">
          <a:srgbClr val="F6F1E8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6F1E8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c6adb544f5414c"/>
          <a:stretch xmlns:a="http://schemas.openxmlformats.org/drawingml/2006/main"/>
        </p:blipFill>
        <p:spPr>
          <a:xfrm xmlns:a="http://schemas.openxmlformats.org/drawingml/2006/main">
            <a:off x="609600" y="3810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FE4909-D815-41BB-82C9-D6D16545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FINLY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27DA63-7FF0-4718-A246-262E86E4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AI PAPER TRADING WITH BUILT-IN RISK CHECKS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1A4446-661A-410E-A23E-4BB30A98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43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</a:defRPr>
            </a:pPr>
            <a:r>
              <a:rPr sz="3600" b="1" i="0">
                <a:solidFill>
                  <a:srgbClr val="FFFFFF"/>
                </a:solidFill>
              </a:rPr>
              <a:t>AI explains the trade. Code controls the money.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9CC69E-0F73-4877-8197-464823A3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D7E3E5"/>
                </a:solidFill>
              </a:defRPr>
            </a:pPr>
            <a:r>
              <a:rPr sz="1800" b="0" i="0">
                <a:solidFill>
                  <a:srgbClr val="D7E3E5"/>
                </a:solidFill>
              </a:rPr>
              <a:t>The base portfolio holds the account. AI may research a small options trade; fixed code caps its loss and can still stop the order.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0C7B92-F64E-43E0-BE8E-0C8B3AE3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257300"/>
            <a:ext cx="9525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211785cdb94b70"/>
          <a:stretch xmlns:a="http://schemas.openxmlformats.org/drawingml/2006/main"/>
        </p:blipFill>
        <p:spPr>
          <a:xfrm xmlns:a="http://schemas.openxmlformats.org/drawingml/2006/main">
            <a:off x="7848600" y="125730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A4F876-5EF4-4DD6-8F26-4C8AF311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7665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MODEL EXPLAINS  ·  RULES DECIDE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B48-1E53-4020-947A-510F7A01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52900"/>
            <a:ext cx="3752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B9DFD2"/>
                </a:solidFill>
              </a:defRPr>
            </a:pPr>
            <a:r>
              <a:rPr sz="1350" b="0" i="0">
                <a:solidFill>
                  <a:srgbClr val="B9DFD2"/>
                </a:solidFill>
              </a:rPr>
              <a:t>Base portfolio  ·  capped-risk options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DE3DFF-4DCF-4A37-AFE3-A4E9667D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E4BCD5-5754-45D9-9732-6F73AE27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F2C66D"/>
                </a:solidFill>
              </a:defRPr>
            </a:pPr>
            <a:r>
              <a:rPr sz="2850" b="1" i="0">
                <a:solidFill>
                  <a:srgbClr val="F2C66D"/>
                </a:solidFill>
              </a:rPr>
              <a:t>$106,711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89EFFC-AD83-45F7-8038-AB53F978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HISTORICAL ENDING WEALTH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2EE5C1-B537-4EC9-952B-73B5622C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578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FFFFFF"/>
                </a:solidFill>
              </a:defRPr>
            </a:pPr>
            <a:r>
              <a:rPr sz="2850" b="1" i="0">
                <a:solidFill>
                  <a:srgbClr val="FFFFFF"/>
                </a:solidFill>
              </a:rPr>
              <a:t>+$38,629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18A495-9243-4735-AA12-0956E2D1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7816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C5D4D8"/>
                </a:solidFill>
              </a:defRPr>
            </a:pPr>
            <a:r>
              <a:rPr sz="900" b="1" i="0">
                <a:solidFill>
                  <a:srgbClr val="C5D4D8"/>
                </a:solidFill>
              </a:rPr>
              <a:t>VERSUS THE S&amp;P 500 TRACKER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1B862D-7BF5-4BFD-8461-3F150685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B9DFD2"/>
                </a:solidFill>
              </a:defRPr>
            </a:pPr>
            <a:r>
              <a:rPr sz="2850" b="1" i="0">
                <a:solidFill>
                  <a:srgbClr val="B9DFD2"/>
                </a:solidFill>
              </a:rPr>
              <a:t>+$153.31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B2B69A-20F5-433C-9AD2-56996A0D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C5D4D8"/>
                </a:solidFill>
              </a:defRPr>
            </a:pPr>
            <a:r>
              <a:rPr sz="900" b="1" i="0">
                <a:solidFill>
                  <a:srgbClr val="C5D4D8"/>
                </a:solidFill>
              </a:rPr>
              <a:t>FIRST PAPER SESSION VS SPY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9A107C-C48D-4ACF-A12A-ACE1E2DE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2578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$500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4B9C1B-1974-4816-BAD1-07636F54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816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C5D4D8"/>
                </a:solidFill>
              </a:defRPr>
            </a:pPr>
            <a:r>
              <a:rPr sz="975" b="1" i="0">
                <a:solidFill>
                  <a:srgbClr val="C5D4D8"/>
                </a:solidFill>
              </a:rPr>
              <a:t>MAX POSSIBLE LOSS / OPTIONS TRADE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698271-0602-46A3-878E-FD6E7406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AFC2C8"/>
                </a:solidFill>
              </a:defRPr>
            </a:pPr>
            <a:r>
              <a:rPr sz="1200" b="0" i="0">
                <a:solidFill>
                  <a:srgbClr val="AFC2C8"/>
                </a:solidFill>
              </a:rPr>
              <a:t>Bruce Wen  ·  Brandeis University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AA6327-173B-4BD4-8949-81EE2CBD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17BFCE-C51D-4EE0-AB35-2F64E525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315947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986C93C-BEA6-4C4C-96DC-AC484C537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2A9406-D68F-4107-ADF6-31813580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A trading bot is hard to trust when one model can research, size, and send.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84756F-D4BA-4B3D-9DE8-56772158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E56B5D"/>
                </a:solidFill>
              </a:defRPr>
            </a:pPr>
            <a:r>
              <a:rPr sz="1275" b="1" i="0">
                <a:solidFill>
                  <a:srgbClr val="E56B5D"/>
                </a:solidFill>
              </a:rPr>
              <a:t>COMMON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95A1F4-1275-4CD1-AC79-BED0FA84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2095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7DED8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819FD9-F4B2-4173-8B9E-442D9A46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ONE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46EE5F-353F-4ECD-91F8-14FC8998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reads · sizes · writes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E7FA92-00D3-425F-8E3A-1D39967B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450" b="1" i="0">
                <a:solidFill>
                  <a:srgbClr val="E56B5D"/>
                </a:solidFill>
              </a:defRPr>
            </a:pPr>
            <a:r>
              <a:rPr sz="3450" b="1" i="0">
                <a:solidFill>
                  <a:srgbClr val="E56B5D"/>
                </a:solidFill>
              </a:rPr>
              <a:t>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7E2E6E-B911-40FB-B72A-0590D2B4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90800"/>
            <a:ext cx="1714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168686-25CE-435C-83F4-41CC27E3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0512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B11398-0BFA-43F5-9A82-845CF2A0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7660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E56B5D"/>
                </a:solidFill>
              </a:defRPr>
            </a:pPr>
            <a:r>
              <a:rPr sz="1200" b="0" i="0">
                <a:solidFill>
                  <a:srgbClr val="E56B5D"/>
                </a:solidFill>
              </a:rPr>
              <a:t>one confident 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29A568-3C38-45D0-B979-62495D0E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2F7D68"/>
                </a:solidFill>
              </a:defRPr>
            </a:pPr>
            <a:r>
              <a:rPr sz="1275" b="1" i="0">
                <a:solidFill>
                  <a:srgbClr val="2F7D68"/>
                </a:solidFill>
              </a:rPr>
              <a:t>FINLY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2E7579-2F1B-4228-A463-E4924309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3F0EA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D77583-849C-4416-B161-B372C484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3F763A-0DFC-4F1A-9756-1F8C2224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interprets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11FD19-C2F2-4EC1-9CC6-7F8424EA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BE9BA6-C89D-4136-8496-1016812BE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ABC939-0C2A-431A-853A-E9E0720B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26FF4E-18E8-4AA1-A87B-4C4A8CF1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fixes risk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C8E1DA-F8DE-48A4-8228-A7D13963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D3727C-2621-488F-BCE2-CF04CCD0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1A1EE8-2BE3-4B8C-9383-637EECFA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E8D9E7-E900-4227-8701-4CF6D8F7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permits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98A2FD-00B3-408D-8D01-1F7730CD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9FB78C-9857-48D5-BF15-2F6207D3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590800"/>
            <a:ext cx="704850" cy="1085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9311DD-6BE5-4AF3-A8A0-9400CE721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299085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SEND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0314FA-B99B-42B8-85DE-D90B9178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295A7A-BA9B-401D-B464-B15515ED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2F7D68"/>
                </a:solidFill>
              </a:defRPr>
            </a:pPr>
            <a:r>
              <a:rPr sz="2400" b="1" i="0">
                <a:solidFill>
                  <a:srgbClr val="2F7D68"/>
                </a:solidFill>
              </a:rPr>
              <a:t>Useful AI judgment—without handing the model the account keys.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375671-0487-4112-BD53-7DA34509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27078"/>
                </a:solidFill>
              </a:defRPr>
            </a:pPr>
            <a:r>
              <a:rPr sz="1725" b="0" i="0">
                <a:solidFill>
                  <a:srgbClr val="627078"/>
                </a:solidFill>
              </a:rPr>
              <a:t>Finly's rules choose the maximum risk, the exact option pair, the order details, and whether a trade may be sent.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3959F6-82A8-4968-BDFF-CEFE6C26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42A1F8-5D0C-404F-B9B6-DA31CADE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169569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8FF1BD-BCC8-4C37-B3E3-CE915077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HOW THE PRODUCT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46C4B-9312-490E-A880-792A8352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FFFFFF"/>
                </a:solidFill>
              </a:defRPr>
            </a:pPr>
            <a:r>
              <a:rPr sz="3450" b="1" i="0">
                <a:solidFill>
                  <a:srgbClr val="FFFFFF"/>
                </a:solidFill>
              </a:rPr>
              <a:t>AI explains the opportunity. Rules decide whether money can move.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247A68-86C1-4D85-8A21-217EDBACA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DFF23F-E6A1-4318-910F-C24BB87C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1946B2-5324-4ADB-A0E8-1E0EC2FE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28575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153A55"/>
          </a:solidFill>
          <a:ln xmlns:a="http://schemas.openxmlformats.org/drawingml/2006/main" w="19050">
            <a:solidFill>
              <a:srgbClr val="B9DF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E7E230-136D-40B0-9BAB-023ECD2D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DFD2"/>
                </a:solidFill>
              </a:defRPr>
            </a:pPr>
            <a:r>
              <a:rPr sz="1200" b="1">
                <a:solidFill>
                  <a:srgbClr val="B9DFD2"/>
                </a:solidFill>
              </a:rPr>
              <a:t>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D15770-7654-4861-9E87-E696BBCA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DFD2"/>
                </a:solidFill>
              </a:defRPr>
            </a:pPr>
            <a:r>
              <a:rPr sz="1200" b="1">
                <a:solidFill>
                  <a:srgbClr val="B9DFD2"/>
                </a:solidFill>
              </a:rPr>
              <a:t>AI READS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2ACF01-D497-462A-9C01-6D21F5CC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765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Market evidence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9133EB-2BB5-4097-801C-09A522DD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2400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7E3E5"/>
                </a:solidFill>
              </a:defRPr>
            </a:pPr>
            <a:r>
              <a:rPr sz="1500" b="0">
                <a:solidFill>
                  <a:srgbClr val="D7E3E5"/>
                </a:solidFill>
              </a:rPr>
              <a:t>Prices, options signals, events, and prediction markets.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B476E5-DB63-4B8B-9991-56E5D5F4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52650"/>
            <a:ext cx="28575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153A55"/>
          </a:solidFill>
          <a:ln xmlns:a="http://schemas.openxmlformats.org/drawingml/2006/main" w="19050">
            <a:solidFill>
              <a:srgbClr val="F2C66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946049-8A37-4329-A879-98FF50E09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622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2C66D"/>
                </a:solidFill>
              </a:defRPr>
            </a:pPr>
            <a:r>
              <a:rPr sz="1200" b="1">
                <a:solidFill>
                  <a:srgbClr val="F2C66D"/>
                </a:solidFill>
              </a:rPr>
              <a:t>02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5148D8-C381-4B53-8582-FB34D20B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62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2C66D"/>
                </a:solidFill>
              </a:defRPr>
            </a:pPr>
            <a:r>
              <a:rPr sz="1200" b="1">
                <a:solidFill>
                  <a:srgbClr val="F2C66D"/>
                </a:solidFill>
              </a:rPr>
              <a:t>CODE BUILDS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B3CF4C-A436-42A9-ACD9-7BDC9F49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765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Exact risk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EA46B4-E83E-43D5-845A-3EBE51F8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543300"/>
            <a:ext cx="2400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7E3E5"/>
                </a:solidFill>
              </a:defRPr>
            </a:pPr>
            <a:r>
              <a:rPr sz="1500" b="0">
                <a:solidFill>
                  <a:srgbClr val="D7E3E5"/>
                </a:solidFill>
              </a:rPr>
              <a:t>Position size, maximum loss, and every broker-order field.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49C088E-C691-46E5-B3C6-F9CCA65A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05150"/>
            <a:ext cx="514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B9DFD2"/>
                </a:solidFill>
              </a:defRPr>
            </a:pPr>
            <a:r>
              <a:rPr sz="3300" b="1">
                <a:solidFill>
                  <a:srgbClr val="B9DFD2"/>
                </a:solidFill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78A2D9-F0EA-434F-8891-CED84803D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05150"/>
            <a:ext cx="514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2C66D"/>
                </a:solidFill>
              </a:defRPr>
            </a:pPr>
            <a:r>
              <a:rPr sz="3300" b="1">
                <a:solidFill>
                  <a:srgbClr val="F2C66D"/>
                </a:solidFill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C05183-E5EE-417A-A914-9EAA59B8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52650"/>
            <a:ext cx="40005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153A55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4F5B5B-A02F-482E-A6C0-5599F3B89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622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56B5D"/>
                </a:solidFill>
              </a:defRPr>
            </a:pPr>
            <a:r>
              <a:rPr sz="1200" b="1">
                <a:solidFill>
                  <a:srgbClr val="E56B5D"/>
                </a:solidFill>
              </a:rPr>
              <a:t>03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BDC4F2-1F96-483F-B986-0E896164D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622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56B5D"/>
                </a:solidFill>
              </a:defRPr>
            </a:pPr>
            <a:r>
              <a:rPr sz="1200" b="1">
                <a:solidFill>
                  <a:srgbClr val="E56B5D"/>
                </a:solidFill>
              </a:rPr>
              <a:t>RULES DECIDE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4406F7-663C-4A1B-B7E8-DE7B7BD3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003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Can money move?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6733429-C0BB-422E-90FE-8D281A7F7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90900"/>
            <a:ext cx="16383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AB64810-F0CC-45CF-AC77-9F81295C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478E7BB-AF93-4F90-8364-B5D7DD07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ORDER READY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9801108-4BEF-40B3-B96F-DEA94B50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90900"/>
            <a:ext cx="16764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56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6B11DA9-B603-441A-9ED1-B905C6481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5242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7F5CEF0-30A6-4F86-8B2B-54CA78F68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790950"/>
            <a:ext cx="1447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NO TRADE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7EB098-DC65-43EC-93EE-EAACA7B3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5587EA6-E87F-4376-9E36-7AACFA158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DFD2"/>
                </a:solidFill>
              </a:defRPr>
            </a:pPr>
            <a:r>
              <a:rPr sz="2250" b="1">
                <a:solidFill>
                  <a:srgbClr val="B9DFD2"/>
                </a:solidFill>
              </a:rPr>
              <a:t>AI proposes. Code fixes the risk. A failed check moves $0.</a:t>
            </a:r>
          </a:p>
        </p:txBody>
      </p:sp>
    </p:spTree>
    <p:extLst>
      <p:ext uri="{BB962C8B-B14F-4D97-AF65-F5344CB8AC3E}">
        <p14:creationId xmlns:p14="http://schemas.microsoft.com/office/powerpoint/2010/main" val="11655869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C01FD0-C3D6-405F-856B-7DEB9338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HISTORICAL REPLAY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2B8132-9857-41F2-8650-572CC8E0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$10,000 became $106,711: $38,629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0419D9-12C3-4CE7-9AE0-CCC7CEAA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Finly's base portfolio holds roughly half in QQQ, a Nasdaq-100 fund, half in three trend-selected sectors, and 3% in cash.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14DCA1-1C4C-4D21-B212-B9E145F28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764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27078"/>
                </a:solidFill>
              </a:defRPr>
            </a:pPr>
            <a:r>
              <a:rPr sz="1200" b="0" i="0">
                <a:solidFill>
                  <a:srgbClr val="627078"/>
                </a:solidFill>
              </a:rPr>
              <a:t>2013–2026 · same $10,000 start · modeled 0.05% cost per buy or sell</a:t>
            </a:r>
          </a:p>
        </p:txBody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609600" y="2000250"/>
          <a:ext xmlns:a="http://schemas.openxmlformats.org/drawingml/2006/main" cx="8667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81a6b0e0514ffe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1FCF0A-398D-4A07-AAEA-4D4A28D0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336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2F7D68"/>
                </a:solidFill>
              </a:defRPr>
            </a:pPr>
            <a:r>
              <a:rPr sz="3000" b="1" i="0">
                <a:solidFill>
                  <a:srgbClr val="2F7D68"/>
                </a:solidFill>
              </a:rPr>
              <a:t>$106,711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DEE45E-55C6-44E6-98B9-C1B87ED8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574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ENDING WEALTH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39BDDC-ED9D-4052-98F2-EF3E5EA2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813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0B2942"/>
                </a:solidFill>
              </a:defRPr>
            </a:pPr>
            <a:r>
              <a:rPr sz="2700" b="1" i="0">
                <a:solidFill>
                  <a:srgbClr val="0B2942"/>
                </a:solidFill>
              </a:rPr>
              <a:t>$68,082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EDBE21-CE18-4FD0-9C66-2BAF43948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052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SPY ENDING WEALTH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4EDEA7-490B-43AD-9C71-D739F7B4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291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2F7D68"/>
                </a:solidFill>
              </a:defRPr>
            </a:pPr>
            <a:r>
              <a:rPr sz="2550" b="1" i="0">
                <a:solidFill>
                  <a:srgbClr val="2F7D68"/>
                </a:solidFill>
              </a:rPr>
              <a:t>+967.11%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AB54F1-F6AB-4011-A5B2-8EF63A00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529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TOTAL RETURN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520FC9-0BE2-4DC2-91AE-4F8958D5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35305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27078"/>
                </a:solidFill>
              </a:defRPr>
            </a:pPr>
            <a:r>
              <a:rPr sz="975" b="1" i="0">
                <a:solidFill>
                  <a:srgbClr val="627078"/>
                </a:solidFill>
              </a:rPr>
              <a:t>WORST DECLINE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B73D92-92B1-4944-895B-DEB06AE35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626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2A3E"/>
                </a:solidFill>
              </a:defRPr>
            </a:pPr>
            <a:r>
              <a:rPr sz="1350" b="1" i="0">
                <a:solidFill>
                  <a:srgbClr val="122A3E"/>
                </a:solidFill>
              </a:rPr>
              <a:t>Finly −28.99%</a:t>
            </a:r>
          </a:p>
          <a:p xmlns:a="http://schemas.openxmlformats.org/drawingml/2006/main">
            <a:pPr algn="l">
              <a:buNone/>
              <a:defRPr sz="1350" b="1" i="0">
                <a:solidFill>
                  <a:srgbClr val="122A3E"/>
                </a:solidFill>
              </a:defRPr>
            </a:pPr>
            <a:r>
              <a:rPr sz="1350" b="1" i="0">
                <a:solidFill>
                  <a:srgbClr val="122A3E"/>
                </a:solidFill>
              </a:rPr>
              <a:t>SPY −33.72%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76B05D-F5FA-4014-A206-4119AD65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D6531E-D0DD-4ED1-B6F7-662F377A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573877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9FFCFDB-78D0-49B2-A419-A64944A7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A SEPARATE HISTORICAL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6DC54A-9CA1-4208-95EF-6C7DEB533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75" b="1" i="0">
                <a:solidFill>
                  <a:srgbClr val="FFFFFF"/>
                </a:solidFill>
              </a:defRPr>
            </a:pPr>
            <a:r>
              <a:rPr sz="3075" b="1" i="0">
                <a:solidFill>
                  <a:srgbClr val="FFFFFF"/>
                </a:solidFill>
              </a:rPr>
              <a:t>An 80-year market test stayed ahead on all 21 tested monthly update days.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C127E0-F527-461C-BD14-0AA3C647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87879C-96F7-4978-BB95-9DF2FD02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6829EE-EF84-4DEE-B5E5-68AACA18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3071C7-DF31-439C-8D64-626F3AE2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1927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D516B3-12ED-485E-AED5-66ADE021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2007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ADFD0F-714D-4931-A25A-FC20CA55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21,218 public market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70E840-250D-4C90-84D4-6F216C86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2C66D"/>
                </a:solidFill>
              </a:defRPr>
            </a:pPr>
            <a:r>
              <a:rPr sz="975" b="1" i="0">
                <a:solidFill>
                  <a:srgbClr val="F2C66D"/>
                </a:solidFill>
              </a:rPr>
              <a:t>SEPARATE PUBLIC INDUSTRY DATASET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0D7D22-62E9-44CA-9F00-FF0E6086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B9DFD2"/>
                </a:solidFill>
              </a:defRPr>
            </a:pPr>
            <a:r>
              <a:rPr sz="3600" b="1" i="0">
                <a:solidFill>
                  <a:srgbClr val="B9DFD2"/>
                </a:solidFill>
              </a:rPr>
              <a:t>13.37%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A13C61-2673-45E4-AE27-B92B2303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7667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FINLY GROWTH PER YEAR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A20F8-E8DF-4329-9794-D0670E48F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FFFFFF"/>
                </a:solidFill>
              </a:defRPr>
            </a:pPr>
            <a:r>
              <a:rPr sz="1650" b="0" i="0">
                <a:solidFill>
                  <a:srgbClr val="FFFFFF"/>
                </a:solidFill>
              </a:rPr>
              <a:t>vs 9.48% market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4290BB-4BC8-4ABB-B3F3-6EDF7E3B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528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2C66D"/>
                </a:solidFill>
              </a:defRPr>
            </a:pPr>
            <a:r>
              <a:rPr sz="3600" b="1" i="0">
                <a:solidFill>
                  <a:srgbClr val="F2C66D"/>
                </a:solidFill>
              </a:rPr>
              <a:t>21 / 21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63D3D-CDF9-44E5-B3A4-179A0A81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766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TESTED MONTHLY UPDATE DAYS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CDF685-83E1-41EF-B63B-01C9C2C2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E5338B-E46A-4C39-81F9-5AAEEFBC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59280A-0CFD-4EBC-82E3-6D8569C47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0D5F1D-9F38-4ADB-9697-4EE95A28A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DA1D88-0F2F-4DB4-8F4D-81CA0F03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4B1FDC-614A-4909-82B5-A10F3FC3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EE86A-5D65-4167-B4A4-64C84E9B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0DD942-0DAF-4715-90DF-72503BE1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109571-590A-4A55-9B66-0092F2B8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25EE17-6678-436D-B0D7-6E4FAEED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8C9B5A-D1CB-4CEC-9789-67861BD1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8D2FBA-E5BC-44D5-84EF-8289BF88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AF171F-111D-452B-AF99-382CD147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8F4E4F-1213-47BD-A4E8-43B1F997B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251065-56B6-4A9C-A1BD-C1ADB5D7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E66139-DA3B-431B-869E-50E97F13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1B2766-CA4A-4D1C-A949-CE72602D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4D51DD-ADB2-41EA-B0CA-B127BE33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E644A3-4B4E-47E7-916B-E1F1667A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37738D-0065-4922-9449-99B76441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8AB91C-4AFD-497F-A720-1005D194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D74EB1-99AD-4D3D-BC4F-6785E9DF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528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F2C66D"/>
                </a:solidFill>
              </a:defRPr>
            </a:pPr>
            <a:r>
              <a:rPr sz="3000" b="1" i="0">
                <a:solidFill>
                  <a:srgbClr val="F2C66D"/>
                </a:solidFill>
              </a:rPr>
              <a:t>+2.45 points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056646-BBB4-46BB-AD63-04E123503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766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MORE ANNUAL RETURN AFTER 0.25% COSTS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6DC5873-5489-49B3-B45D-30CA9BE1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2862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0.05%  →  0.10%  →  0.25%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1D03CE-654C-4A2B-A769-DCE8BB1D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2209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57496A-5119-4B83-9261-D2247FC8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742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BCC5A0-CFB5-4D73-81D4-F80AD7D05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B4EF58F-E759-46D5-AB0D-D4D07E9D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B9DFD2"/>
                </a:solidFill>
              </a:defRPr>
            </a:pPr>
            <a:r>
              <a:rPr sz="1950" b="1" i="0">
                <a:solidFill>
                  <a:srgbClr val="B9DFD2"/>
                </a:solidFill>
              </a:rPr>
              <a:t>Its worst decline was 16.31 percentage points smaller than the market proxy.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9CF9B82-10E4-4519-A133-9AE38EE8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9AA07B3-07F2-4427-99D1-D358FBB4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640116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F3A682-DD62-40FE-9713-E04BBC58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ILLUSTRATIVE OPTIONS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964984-B4A6-4DF1-9C3B-804750234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Before Finly prepares an options order, it fixes the most the trade can lose.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6191250" cy="3371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8fe2248e8974012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93ACC7-C500-4B8D-8C76-A3DDEA3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627078"/>
                </a:solidFill>
              </a:defRPr>
            </a:pPr>
            <a:r>
              <a:rPr sz="1050" b="1" i="0">
                <a:solidFill>
                  <a:srgbClr val="627078"/>
                </a:solidFill>
              </a:rPr>
              <a:t>PAYOFF AT EXPIRY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163292-8AF9-40A8-B60F-062A13E9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238375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2F7D68"/>
                </a:solidFill>
              </a:defRPr>
            </a:pPr>
            <a:r>
              <a:rPr sz="2100" b="1" i="0">
                <a:solidFill>
                  <a:srgbClr val="2F7D68"/>
                </a:solidFill>
              </a:rPr>
              <a:t>+$634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00A23A-0F24-4E66-A317-B4F97E30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21005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E56B5D"/>
                </a:solidFill>
              </a:defRPr>
            </a:pPr>
            <a:r>
              <a:rPr sz="2100" b="1" i="0">
                <a:solidFill>
                  <a:srgbClr val="E56B5D"/>
                </a:solidFill>
              </a:rPr>
              <a:t>−$366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E779EF-B446-4599-9876-475CD942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47850"/>
            <a:ext cx="4343400" cy="3562350"/>
          </a:xfrm>
          <a:prstGeom xmlns:a="http://schemas.openxmlformats.org/drawingml/2006/main" prst="roundRect">
            <a:avLst>
              <a:gd name="adj" fmla="val 4278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71F274-350A-48CB-81F1-E1D7E2CB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114550"/>
            <a:ext cx="3638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ILLUSTRATIVE TWO-OPTION TRADE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EA2CF9-4D2B-488B-BDC8-7BB32D8E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717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SPY falling-price 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2F766A-1600-4ED4-B672-46849A3B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432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BUY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450FBE-7322-44D0-B79A-888C225F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43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 × SPY 560 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20A698-ED9B-4757-8912-438D8925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766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SELL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CFEBFB-4DEB-433C-80EE-11F7F16C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766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 × SPY 550 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9C578D-5378-4445-8F4E-FFC16F78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100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LIMIT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6D8808-E456-413B-B271-E40A036F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100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$3.66 debit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2803F-B473-4D68-B731-B9F0F2CE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7625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F5CFF6-E533-42E7-8376-B6B716E73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9339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C4D4D8"/>
                </a:solidFill>
              </a:defRPr>
            </a:pPr>
            <a:r>
              <a:rPr sz="1275" b="0" i="0">
                <a:solidFill>
                  <a:srgbClr val="C4D4D8"/>
                </a:solidFill>
              </a:rPr>
              <a:t>Simulated plan · no broker order or fill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939013-003A-47C1-BDD9-486D2A41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$366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498E25-D774-497B-8221-0DA1C3D7B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MAXIMUM LOSS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45235A-BAD5-4AB3-B9C3-1293E68E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2F7D68"/>
                </a:solidFill>
              </a:defRPr>
            </a:pPr>
            <a:r>
              <a:rPr sz="2850" b="1" i="0">
                <a:solidFill>
                  <a:srgbClr val="2F7D68"/>
                </a:solidFill>
              </a:rPr>
              <a:t>$634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4CDC35-287D-4D96-8BA1-FA44DD19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MAXIMUM GAIN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BF8F7A-2B32-4AF7-9851-7E2FDFD6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543550"/>
            <a:ext cx="190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2F7D68"/>
                </a:solidFill>
              </a:defRPr>
            </a:pPr>
            <a:r>
              <a:rPr sz="2700" b="1" i="0">
                <a:solidFill>
                  <a:srgbClr val="2F7D68"/>
                </a:solidFill>
              </a:rPr>
              <a:t>4 / 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38D74E-8FC4-4139-9440-6F286CF9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019800"/>
            <a:ext cx="213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627078"/>
                </a:solidFill>
              </a:defRPr>
            </a:pPr>
            <a:r>
              <a:rPr sz="1050" b="1" i="0">
                <a:solidFill>
                  <a:srgbClr val="627078"/>
                </a:solidFill>
              </a:rPr>
              <a:t>FOUR SOURCE-REMOVAL CHECKS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BF0A07-0E64-400E-BC33-5418FB79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2F7D68"/>
                </a:solidFill>
              </a:defRPr>
            </a:pPr>
            <a:r>
              <a:rPr sz="2700" b="1" i="0">
                <a:solidFill>
                  <a:srgbClr val="2F7D68"/>
                </a:solidFill>
              </a:rPr>
              <a:t>32 / 32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08FD8E-8FDB-4F40-8AC5-CBF2679C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019800"/>
            <a:ext cx="217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627078"/>
                </a:solidFill>
              </a:defRPr>
            </a:pPr>
            <a:r>
              <a:rPr sz="1050" b="1" i="0">
                <a:solidFill>
                  <a:srgbClr val="627078"/>
                </a:solidFill>
              </a:rPr>
              <a:t>32 INPUT-SHOCK CHECKS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6C6548-4602-451F-913A-17E52C42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BC0B2B-5683-4FA3-AD8C-9555DF65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527984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635A36-7979-448E-8A7A-98939590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VERIFIED $100,000 PAPER ACCOUNT / FIRST CLOSE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8FD7A1-6C72-4801-AB60-6104DDE6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FFFFFF"/>
                </a:solidFill>
              </a:defRPr>
            </a:pPr>
            <a:r>
              <a:rPr sz="3300" b="1" i="0">
                <a:solidFill>
                  <a:srgbClr val="FFFFFF"/>
                </a:solidFill>
              </a:rPr>
              <a:t>Finly closed its first paper session $153.31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2CBFA4-8969-48A2-A06B-BA9A1BC6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7105650" cy="26670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19050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DA6F82-0076-4932-9A90-38B0311B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SAME $100,000 START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90360D-76C2-4D81-AD99-A77709C1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627078"/>
                </a:solidFill>
              </a:defRPr>
            </a:pPr>
            <a:r>
              <a:rPr sz="1350" b="1" i="0">
                <a:solidFill>
                  <a:srgbClr val="627078"/>
                </a:solidFill>
              </a:rPr>
              <a:t>9:30 A.M.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0402B6-1798-434F-B4A3-A6BF9F98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 i="0">
                <a:solidFill>
                  <a:srgbClr val="0B2942"/>
                </a:solidFill>
              </a:defRPr>
            </a:pPr>
            <a:r>
              <a:rPr sz="2550" b="1" i="0">
                <a:solidFill>
                  <a:srgbClr val="0B2942"/>
                </a:solidFill>
              </a:rPr>
              <a:t>$100,000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07E47B-ABA5-4593-80D1-F7999E5A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21945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134C8C-3415-48AB-A8B3-54017BFD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24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4:00 P.M.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428A2E-5390-4ED8-914B-DBB770FB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051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2F7D68"/>
                </a:solidFill>
              </a:defRPr>
            </a:pPr>
            <a:r>
              <a:rPr sz="1200" b="1" i="0">
                <a:solidFill>
                  <a:srgbClr val="2F7D68"/>
                </a:solidFill>
              </a:rPr>
              <a:t>Finly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CE47FC-DB3F-46CE-9266-9BB18308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90900"/>
            <a:ext cx="2228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75" b="1" i="0">
                <a:solidFill>
                  <a:srgbClr val="0B2942"/>
                </a:solidFill>
              </a:defRPr>
            </a:pPr>
            <a:r>
              <a:rPr sz="2175" b="1" i="0">
                <a:solidFill>
                  <a:srgbClr val="0B2942"/>
                </a:solidFill>
              </a:rPr>
              <a:t>$100,095.32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660698-EED4-4455-BE03-E30FF679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105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SPY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95A647-6944-4C4C-8A59-A90A262D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39090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75" b="1" i="0">
                <a:solidFill>
                  <a:srgbClr val="0B2942"/>
                </a:solidFill>
              </a:defRPr>
            </a:pPr>
            <a:r>
              <a:rPr sz="2175" b="1" i="0">
                <a:solidFill>
                  <a:srgbClr val="0B2942"/>
                </a:solidFill>
              </a:rPr>
              <a:t>$99,942.01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E00D9E-DC0B-4153-8285-CCB10E3D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0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5465CA-0E42-4F82-9B77-34132F0B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48150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15 fill events built the four-fund base portfolio · no options position was open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4D4804-2535-4EFF-8AA7-FF9466A6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7105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9B12EB-4993-49D2-860D-28C8CEF5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710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B9DFD2"/>
                </a:solidFill>
              </a:defRPr>
            </a:pPr>
            <a:r>
              <a:rPr sz="1650" b="1" i="0">
                <a:solidFill>
                  <a:srgbClr val="B9DFD2"/>
                </a:solidFill>
              </a:rPr>
              <a:t>One start, one close, one fair comparison.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3A087F-A443-40F7-B637-5ED83DD20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710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FFFFFF"/>
                </a:solidFill>
              </a:defRPr>
            </a:pPr>
            <a:r>
              <a:rPr sz="1350" b="0" i="0">
                <a:solidFill>
                  <a:srgbClr val="FFFFFF"/>
                </a:solidFill>
              </a:rPr>
              <a:t>The base portfolio produced this measured account result. The AI-assisted options demo is separate.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2AE9B6-B67A-4571-89BE-7721AB05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526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FINLY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E8D375-62EA-49D2-8EAB-967BA76C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384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+$95.32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CF6EE3-6298-4018-BE9B-FA934EE84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146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4D4D8"/>
                </a:solidFill>
              </a:defRPr>
            </a:pPr>
            <a:r>
              <a:rPr sz="1200" b="0" i="0">
                <a:solidFill>
                  <a:srgbClr val="C4D4D8"/>
                </a:solidFill>
              </a:rPr>
              <a:t>virtual-money account profit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316282-8FA4-4FC1-863E-99D59C8D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76600"/>
            <a:ext cx="327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4D736E-B311-413C-8740-BA461519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24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56B5D"/>
                </a:solidFill>
              </a:defRPr>
            </a:pPr>
            <a:r>
              <a:rPr sz="1125" b="1" i="0">
                <a:solidFill>
                  <a:srgbClr val="E56B5D"/>
                </a:solidFill>
              </a:rPr>
              <a:t>SPY · S&amp;P 500 TRACKER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4408AB-B4F8-41FA-8AB5-BC1919CF4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100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−$57.99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F12AA5-5086-412B-93E7-318FAEDB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286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4D4D8"/>
                </a:solidFill>
              </a:defRPr>
            </a:pPr>
            <a:r>
              <a:rPr sz="1200" b="0" i="0">
                <a:solidFill>
                  <a:srgbClr val="C4D4D8"/>
                </a:solidFill>
              </a:rPr>
              <a:t>same-clock price benchmark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57D9C8-8A7B-4026-B5F0-FDA0E1D6C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67250"/>
            <a:ext cx="327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84C797-F8D6-4322-A1EC-7C12CB48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8768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FINLY ADVANTAGE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2C52EB-861D-45F2-AE32-18EDE879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625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2C66D"/>
                </a:solidFill>
              </a:defRPr>
            </a:pPr>
            <a:r>
              <a:rPr sz="2550" b="1" i="0">
                <a:solidFill>
                  <a:srgbClr val="F2C66D"/>
                </a:solidFill>
              </a:rPr>
              <a:t>+$153.31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7E1FAC-0FE3-4221-ADBB-991AA4AB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772150"/>
            <a:ext cx="3276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Same $100k start · same 4:00 p.m. price · no deposits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1600A2-F754-4285-AD35-182AF3BD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D802F0-D91F-4846-9C5A-5A5B8F0A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805175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3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E05E01-82AF-40DF-967A-A7FA2DFD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WHAT HAPPENS WHEN A CHECK FAILS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9F2E86-F000-44B7-B39F-E39174D0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525" b="1" i="0">
                <a:solidFill>
                  <a:srgbClr val="122A3E"/>
                </a:solidFill>
              </a:defRPr>
            </a:pPr>
            <a:r>
              <a:rPr sz="3525" b="1" i="0">
                <a:solidFill>
                  <a:srgbClr val="122A3E"/>
                </a:solidFill>
              </a:rPr>
              <a:t>Finly stops the trade—and records why.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34A579-F9FC-4E5A-95D4-88DA19382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79E22D-D2AA-497A-A26B-AA11469B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D0B600-6BF2-44E1-BAB5-2B46C42B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6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B6965A-1128-45D6-A1BA-B8660B87C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9A3EF5-F475-48E8-8DBC-D9CE25DD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7716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56B5D"/>
                </a:solidFill>
              </a:defRPr>
            </a:pPr>
            <a:r>
              <a:rPr sz="1125" b="1">
                <a:solidFill>
                  <a:srgbClr val="E56B5D"/>
                </a:solidFill>
              </a:rPr>
              <a:t>EVIDENCE CONFLICTS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B5EAB5-BEFB-4120-B801-41FCA368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05740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2A3E"/>
                </a:solidFill>
              </a:defRPr>
            </a:pPr>
            <a:r>
              <a:rPr sz="1725" b="1">
                <a:solidFill>
                  <a:srgbClr val="122A3E"/>
                </a:solidFill>
              </a:rPr>
              <a:t>One source points the other way.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C6E34A-40D9-46E7-89A6-028E83D8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1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B81344-AB86-4BE6-B1F3-A2E045C9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A3023B-D973-4376-A226-ACECBB99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7A22DB-42D5-4C5B-A43C-CD6473A8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09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2C66D"/>
                </a:solidFill>
              </a:defRPr>
            </a:pPr>
            <a:r>
              <a:rPr sz="1125" b="1">
                <a:solidFill>
                  <a:srgbClr val="F2C66D"/>
                </a:solidFill>
              </a:rPr>
              <a:t>TEST FAILS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817DF6-0322-464B-B978-CD4028961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89560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2A3E"/>
                </a:solidFill>
              </a:defRPr>
            </a:pPr>
            <a:r>
              <a:rPr sz="1725" b="1">
                <a:solidFill>
                  <a:srgbClr val="122A3E"/>
                </a:solidFill>
              </a:rPr>
              <a:t>Finly retests the idea without each source.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FB574C7-873C-4349-ABF7-863396E0A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81350"/>
            <a:ext cx="1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70B1C9-52A9-4E47-8BA0-F8EA1B86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B416D0B-5F16-45E2-BEB1-C7162E213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9D54899-64B8-494C-9BAC-289910806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48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2942"/>
                </a:solidFill>
              </a:defRPr>
            </a:pPr>
            <a:r>
              <a:rPr sz="1125" b="1">
                <a:solidFill>
                  <a:srgbClr val="0B2942"/>
                </a:solidFill>
              </a:rPr>
              <a:t>ORDER BLOCKED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6C32E24-344C-4C8C-AEA9-B0A61A7E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73380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2A3E"/>
                </a:solidFill>
              </a:defRPr>
            </a:pPr>
            <a:r>
              <a:rPr sz="1725" b="1">
                <a:solidFill>
                  <a:srgbClr val="122A3E"/>
                </a:solidFill>
              </a:rPr>
              <a:t>No options instruction reaches Alpaca.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B6C1E08-7567-4245-8A27-56FA7B9B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19550"/>
            <a:ext cx="1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8BD26E-FE29-4796-87DE-ECF8FE00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EA5EC1-4DE1-41C2-917B-9ED04877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0F96C0-EAF9-4C88-AA98-8F6FCBF4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86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7D68"/>
                </a:solidFill>
              </a:defRPr>
            </a:pPr>
            <a:r>
              <a:rPr sz="1125" b="1">
                <a:solidFill>
                  <a:srgbClr val="2F7D68"/>
                </a:solidFill>
              </a:rPr>
              <a:t>RECEIPT SAVED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9638F98-BE69-4545-94C7-011E25816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7200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2A3E"/>
                </a:solidFill>
              </a:defRPr>
            </a:pPr>
            <a:r>
              <a:rPr sz="1725" b="1">
                <a:solidFill>
                  <a:srgbClr val="122A3E"/>
                </a:solidFill>
              </a:rPr>
              <a:t>The refusal and its reason remain inspectable.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13EADEE-E47E-4D4D-9D2B-1A675EBF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90700"/>
            <a:ext cx="4057650" cy="3105150"/>
          </a:xfrm>
          <a:prstGeom xmlns:a="http://schemas.openxmlformats.org/drawingml/2006/main" prst="roundRect">
            <a:avLst>
              <a:gd name="adj" fmla="val 4908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CA4B37F-DAEB-444E-B32D-9EB5511F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14550"/>
            <a:ext cx="3371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56B5D"/>
                </a:solidFill>
              </a:defRPr>
            </a:pPr>
            <a:r>
              <a:rPr sz="1125" b="1">
                <a:solidFill>
                  <a:srgbClr val="E56B5D"/>
                </a:solidFill>
              </a:rPr>
              <a:t>DECISION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4D631AA-FBAB-425B-A089-75DB5478B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552700"/>
            <a:ext cx="3371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75" b="1">
                <a:solidFill>
                  <a:srgbClr val="FFFFFF"/>
                </a:solidFill>
              </a:defRPr>
            </a:pPr>
            <a:r>
              <a:rPr sz="3375" b="1">
                <a:solidFill>
                  <a:srgbClr val="FFFFFF"/>
                </a:solidFill>
              </a:rPr>
              <a:t>NO TRADE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9C38AC2-E948-4F88-BC23-76FDB1DA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295650"/>
            <a:ext cx="3371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B9DFD2"/>
                </a:solidFill>
              </a:defRPr>
            </a:pPr>
            <a:r>
              <a:rPr sz="4800" b="1">
                <a:solidFill>
                  <a:srgbClr val="B9DFD2"/>
                </a:solidFill>
              </a:rPr>
              <a:t>$0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8EC674F-F721-4548-B11D-C244527E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57650"/>
            <a:ext cx="3371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NEW OPTIONS RISK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0CFC2DF-0CFD-4C4F-9743-FBC00F69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76750"/>
            <a:ext cx="3371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D7E3E5"/>
                </a:solidFill>
              </a:defRPr>
            </a:pPr>
            <a:r>
              <a:rPr sz="1350" b="0">
                <a:solidFill>
                  <a:srgbClr val="D7E3E5"/>
                </a:solidFill>
              </a:rPr>
              <a:t>The safest trade can be no trade.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7F20583-DDDE-4F14-996A-D86E669B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CE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65125EA-E806-45C9-A2C3-923B86DB4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86400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F7D68"/>
                </a:solidFill>
              </a:defRPr>
            </a:pPr>
            <a:r>
              <a:rPr sz="2850" b="1">
                <a:solidFill>
                  <a:srgbClr val="2F7D68"/>
                </a:solidFill>
              </a:rPr>
              <a:t>809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42F69FD-048C-4EA0-82DA-F83BF99D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626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27078"/>
                </a:solidFill>
              </a:defRPr>
            </a:pPr>
            <a:r>
              <a:rPr sz="1275" b="1">
                <a:solidFill>
                  <a:srgbClr val="627078"/>
                </a:solidFill>
              </a:rPr>
              <a:t>AUTOMATED TESTS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090463D-CAEC-4721-8244-0DBB275F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5626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F7D68"/>
                </a:solidFill>
              </a:defRPr>
            </a:pPr>
            <a:r>
              <a:rPr sz="1350" b="1">
                <a:solidFill>
                  <a:srgbClr val="2F7D68"/>
                </a:solidFill>
              </a:rPr>
              <a:t>807 PASSED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EA51E71-C046-4A53-9786-7EBF3FF4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5626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2942"/>
                </a:solidFill>
              </a:defRPr>
            </a:pPr>
            <a:r>
              <a:rPr sz="1350" b="1">
                <a:solidFill>
                  <a:srgbClr val="0B2942"/>
                </a:solidFill>
              </a:rPr>
              <a:t>0 FAILED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1125E57-E687-4142-9F4A-9A650C47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5626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27078"/>
                </a:solidFill>
              </a:defRPr>
            </a:pPr>
            <a:r>
              <a:rPr sz="1350" b="1">
                <a:solidFill>
                  <a:srgbClr val="627078"/>
                </a:solidFill>
              </a:rPr>
              <a:t>2 SKIPPED</a:t>
            </a:r>
          </a:p>
        </p:txBody>
      </p:sp>
    </p:spTree>
    <p:extLst>
      <p:ext uri="{BB962C8B-B14F-4D97-AF65-F5344CB8AC3E}">
        <p14:creationId xmlns:p14="http://schemas.microsoft.com/office/powerpoint/2010/main" val="8386976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0A346F-DCCF-45F9-9F18-51FC813B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OPEN FINLY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B3BE30-4CA5-4FDB-A6F6-E055B0B7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7524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22A3E"/>
                </a:solidFill>
              </a:defRPr>
            </a:pPr>
            <a:r>
              <a:rPr sz="4050" b="1" i="0">
                <a:solidFill>
                  <a:srgbClr val="122A3E"/>
                </a:solidFill>
              </a:rPr>
              <a:t>Watch the account. Try the decision. Inspect the proof.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BF67CF-D51E-4761-92CB-2207F3E61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 i="0">
                <a:solidFill>
                  <a:srgbClr val="627078"/>
                </a:solidFill>
              </a:defRPr>
            </a:pPr>
            <a:r>
              <a:rPr sz="2100" b="0" i="0">
                <a:solidFill>
                  <a:srgbClr val="627078"/>
                </a:solidFill>
              </a:rPr>
              <a:t>Start with the short demo, then trace any result back to its source.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1E1DF-515D-482D-9500-EA460A92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66750"/>
            <a:ext cx="3105150" cy="3105150"/>
          </a:xfrm>
          <a:prstGeom xmlns:a="http://schemas.openxmlformats.org/drawingml/2006/main" prst="roundRect">
            <a:avLst>
              <a:gd name="adj" fmla="val 49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225e7b835a4356"/>
          <a:stretch xmlns:a="http://schemas.openxmlformats.org/drawingml/2006/main"/>
        </p:blipFill>
        <p:spPr>
          <a:xfrm xmlns:a="http://schemas.openxmlformats.org/drawingml/2006/main">
            <a:off x="8743950" y="933450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80DE87-80F1-49CE-ADFD-36300009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05250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u="sng">
                <a:solidFill>
                  <a:srgbClr val="2F7D68"/>
                </a:solidFill>
                <a:latin typeface="Arial"/>
                <a:ea typeface="Arial"/>
                <a:cs typeface="Arial"/>
                <a:hlinkClick xmlns:r="http://schemas.openxmlformats.org/officeDocument/2006/relationships" r:id="R322f07f34fed47fd"/>
              </a:rPr>
              <a:t>SCAN TO OPEN FINLY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C91C67-65AD-4AFA-B4F1-6AC33052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289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388248-24DD-4088-BA53-B25AB5A3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WATCH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6F7E8D-4E2E-41B1-BA4D-FFD874FD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099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The $100K paper 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52A09D-42E5-4B7E-B580-FDD71A3B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FCCDC1-ABC6-48D0-AE62-B159AABB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00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4AE045-4F95-4C6D-A11D-32407E0B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TRY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EF4141-B8BC-4D38-8ECD-7B1916D4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909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An approval and a refusal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39E3A7-5B08-47FA-B7EF-24957C59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8625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7AB46-BAAB-42E0-999C-E9CC446B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D75492-68B5-4401-8AD3-148586A9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91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INSPECT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2ABA7B-5649-4C8B-B8D4-EF5E35BE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Equations, tests, receipts, and 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FC2B35-7F27-4AF1-A60A-237AD9C0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B5A5A6-F269-483E-AA2F-534440B2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 i="0">
                <a:solidFill>
                  <a:srgbClr val="2F7D68"/>
                </a:solidFill>
              </a:defRPr>
            </a:pPr>
            <a:r>
              <a:rPr sz="2175" b="1" i="0">
                <a:solidFill>
                  <a:srgbClr val="2F7D68"/>
                </a:solidFill>
              </a:rPr>
              <a:t>First-session proof · 80 years of history · 809 automated checks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076024-4CDB-4B9A-8F4C-43FED712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B2942"/>
                </a:solidFill>
              </a:defRPr>
            </a:pPr>
            <a:r>
              <a:rPr sz="1500" b="1" u="sng">
                <a:solidFill>
                  <a:srgbClr val="0B2942"/>
                </a:solidFill>
                <a:latin typeface="Arial"/>
                <a:ea typeface="Arial"/>
                <a:cs typeface="Arial"/>
                <a:hlinkClick xmlns:r="http://schemas.openxmlformats.org/officeDocument/2006/relationships" r:id="R723f959bab794c86"/>
              </a:rPr>
              <a:t>owlsowo.github.io/finly-bot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09A8B3-90DA-4D89-AB63-05926509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267450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0" i="0">
                <a:solidFill>
                  <a:srgbClr val="627078"/>
                </a:solidFill>
              </a:defRPr>
            </a:pPr>
            <a:r>
              <a:rPr sz="1350" b="0" i="0">
                <a:solidFill>
                  <a:srgbClr val="627078"/>
                </a:solidFill>
              </a:rPr>
              <a:t>Bruce Wen  ·  bwen412@brandeis.edu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9755F3-CF3A-4764-8765-EA29F78D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4EECDA-4726-4726-9746-93C1586F8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928057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2026-09-01T07:30:08.9150000Z</dcterms:created>
  <dcterms:modified xsi:type="dcterms:W3CDTF">2026-09-01T07:30:08.9150000Z</dcterms:modified>
</coreProperties>
</file>