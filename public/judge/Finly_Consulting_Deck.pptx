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59309309f424684" /><Relationship Type="http://schemas.openxmlformats.org/officeDocument/2006/relationships/extended-properties" Target="/docProps/app.xml" Id="Re1252f5638094f50" /><Relationship Type="http://schemas.openxmlformats.org/officeDocument/2006/relationships/officeDocument" Target="/ppt/presentation.xml" Id="R877519e383d940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100b366350446e"/>
  </p:sldMasterIdLst>
  <p:notesMasterIdLst>
    <p:notesMasterId xmlns:r="http://schemas.openxmlformats.org/officeDocument/2006/relationships" r:id="Ra754659c816b4ff6"/>
  </p:notesMasterIdLst>
  <p:sldIdLst>
    <p:sldId xmlns:r="http://schemas.openxmlformats.org/officeDocument/2006/relationships" id="256" r:id="R05e1bdfeb6314b10"/>
    <p:sldId xmlns:r="http://schemas.openxmlformats.org/officeDocument/2006/relationships" id="257" r:id="Rc78a2622294b4d05"/>
    <p:sldId xmlns:r="http://schemas.openxmlformats.org/officeDocument/2006/relationships" id="258" r:id="R53e29f9b96274d53"/>
    <p:sldId xmlns:r="http://schemas.openxmlformats.org/officeDocument/2006/relationships" id="259" r:id="R2a2628b11e144ea0"/>
    <p:sldId xmlns:r="http://schemas.openxmlformats.org/officeDocument/2006/relationships" id="260" r:id="R4c34cbd2a6864184"/>
    <p:sldId xmlns:r="http://schemas.openxmlformats.org/officeDocument/2006/relationships" id="261" r:id="R6899e37b01bb4062"/>
    <p:sldId xmlns:r="http://schemas.openxmlformats.org/officeDocument/2006/relationships" id="262" r:id="R0031ddcd0d5b4633"/>
    <p:sldId xmlns:r="http://schemas.openxmlformats.org/officeDocument/2006/relationships" id="263" r:id="Rdf16fe7f35cf46ce"/>
    <p:sldId xmlns:r="http://schemas.openxmlformats.org/officeDocument/2006/relationships" id="264" r:id="R28d46ff0768044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9e4975e22d4643" /><Relationship Type="http://schemas.openxmlformats.org/officeDocument/2006/relationships/slideMaster" Target="/ppt/slideMasters/slideMaster1.xml" Id="R5b100b366350446e" /><Relationship Type="http://schemas.openxmlformats.org/officeDocument/2006/relationships/notesMaster" Target="/ppt/notesMasters/notesMaster1.xml" Id="Ra754659c816b4ff6" /><Relationship Type="http://schemas.openxmlformats.org/officeDocument/2006/relationships/presProps" Target="/ppt/presProps.xml" Id="R9d0ee1d24a224c50" /><Relationship Type="http://schemas.openxmlformats.org/officeDocument/2006/relationships/tableStyles" Target="/ppt/tableStyles.xml" Id="R86b61e9a4dc54919" /><Relationship Type="http://schemas.openxmlformats.org/officeDocument/2006/relationships/slide" Target="/ppt/slides/slide1.xml" Id="R05e1bdfeb6314b10" /><Relationship Type="http://schemas.openxmlformats.org/officeDocument/2006/relationships/slide" Target="/ppt/slides/slide2.xml" Id="Rc78a2622294b4d05" /><Relationship Type="http://schemas.openxmlformats.org/officeDocument/2006/relationships/slide" Target="/ppt/slides/slide3.xml" Id="R53e29f9b96274d53" /><Relationship Type="http://schemas.openxmlformats.org/officeDocument/2006/relationships/slide" Target="/ppt/slides/slide4.xml" Id="R2a2628b11e144ea0" /><Relationship Type="http://schemas.openxmlformats.org/officeDocument/2006/relationships/slide" Target="/ppt/slides/slide5.xml" Id="R4c34cbd2a6864184" /><Relationship Type="http://schemas.openxmlformats.org/officeDocument/2006/relationships/slide" Target="/ppt/slides/slide6.xml" Id="R6899e37b01bb4062" /><Relationship Type="http://schemas.openxmlformats.org/officeDocument/2006/relationships/slide" Target="/ppt/slides/slide7.xml" Id="R0031ddcd0d5b4633" /><Relationship Type="http://schemas.openxmlformats.org/officeDocument/2006/relationships/slide" Target="/ppt/slides/slide8.xml" Id="Rdf16fe7f35cf46ce" /><Relationship Type="http://schemas.openxmlformats.org/officeDocument/2006/relationships/slide" Target="/ppt/slides/slide9.xml" Id="R28d46ff0768044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ba804d17b744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9c505c3d0d4da2" /><Relationship Type="http://schemas.openxmlformats.org/officeDocument/2006/relationships/notesMaster" Target="/ppt/notesMasters/notesMaster1.xml" Id="R6c0863ec174a42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b10d8045564299" /><Relationship Type="http://schemas.openxmlformats.org/officeDocument/2006/relationships/notesMaster" Target="/ppt/notesMasters/notesMaster1.xml" Id="R9811a729a74a45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7923c636fb4624" /><Relationship Type="http://schemas.openxmlformats.org/officeDocument/2006/relationships/notesMaster" Target="/ppt/notesMasters/notesMaster1.xml" Id="Rb2b037992d9d4e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41f7421c0c14014" /><Relationship Type="http://schemas.openxmlformats.org/officeDocument/2006/relationships/notesMaster" Target="/ppt/notesMasters/notesMaster1.xml" Id="R89af4c416fdd4b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4376193b8f4aa9" /><Relationship Type="http://schemas.openxmlformats.org/officeDocument/2006/relationships/notesMaster" Target="/ppt/notesMasters/notesMaster1.xml" Id="R69c0aedd379347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e89e7b7de541ce" /><Relationship Type="http://schemas.openxmlformats.org/officeDocument/2006/relationships/notesMaster" Target="/ppt/notesMasters/notesMaster1.xml" Id="Rda212e411966497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1e69ab7dd34df1" /><Relationship Type="http://schemas.openxmlformats.org/officeDocument/2006/relationships/notesMaster" Target="/ppt/notesMasters/notesMaster1.xml" Id="Rb9c8bde38cbd4b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a1e0661fe248c7" /><Relationship Type="http://schemas.openxmlformats.org/officeDocument/2006/relationships/notesMaster" Target="/ppt/notesMasters/notesMaster1.xml" Id="R42ec63475a34436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73d924c9ed84463" /><Relationship Type="http://schemas.openxmlformats.org/officeDocument/2006/relationships/notesMaster" Target="/ppt/notesMasters/notesMaster1.xml" Id="Re2c511a50bdf47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evidence: https://owlsowo.github.io/finly-bot/data/g4_wealth_drawdown.json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Historical simulation with modeled 5 bp one-way costs; not live performance.</a:t>
            </a:r>
          </a:p>
          <a:p xmlns:a="http://schemas.openxmlformats.org/drawingml/2006/main">
            <a:r>
              <a:t>- Finly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series: https://owlsowo.github.io/finly-bot/data/g4_wealth_drawdown.json</a:t>
            </a:r>
          </a:p>
          <a:p xmlns:a="http://schemas.openxmlformats.org/drawingml/2006/main">
            <a:r>
              <a:t>- Method and evidence labels: https://owlsowo.github.io/finly-bot/data/quantitative_release_gate.json</a:t>
            </a:r>
          </a:p>
          <a:p xmlns:a="http://schemas.openxmlformats.org/drawingml/2006/main">
            <a:r>
              <a:t>- Historical simulation; modeled 5 bp one-way costs; not broker P&amp;L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Decision trace: https://owlsowo.github.io/finly-bot/data/llama_decision_trace.json</a:t>
            </a:r>
          </a:p>
          <a:p xmlns:a="http://schemas.openxmlformats.org/drawingml/2006/main">
            <a:r>
              <a:t>- Compiled options receipt: https://owlsowo.github.io/finly-bot/data/latest_receipt.json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Source-backed replay: https://owlsowo.github.io/finly-bot/data/attempt150_public_evidence.json</a:t>
            </a:r>
          </a:p>
          <a:p xmlns:a="http://schemas.openxmlformats.org/drawingml/2006/main">
            <a:r>
              <a:t>- Official data source: https://mba.tuck.dartmouth.edu/pages/faculty/ken.french/ftp/10_Industry_Portfolios_daily_CSV.zip</a:t>
            </a:r>
          </a:p>
          <a:p xmlns:a="http://schemas.openxmlformats.org/drawingml/2006/main">
            <a:r>
              <a:t>- Industry-proxy historical stress test; separate from live broker performance.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Model trace: https://owlsowo.github.io/finly-bot/data/llama_decision_trace.json</a:t>
            </a:r>
          </a:p>
          <a:p xmlns:a="http://schemas.openxmlformats.org/drawingml/2006/main">
            <a:r>
              <a:t>- Positive checked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Public dashboard: https://owlsowo.github.io/finly-bot/#live</a:t>
            </a:r>
          </a:p>
          <a:p xmlns:a="http://schemas.openxmlformats.org/drawingml/2006/main">
            <a:r>
              <a:t>- Historical claim boundary: https://owlsowo.github.io/finly-bot/data/quantitative_release_gate.json</a:t>
            </a:r>
          </a:p>
          <a:p xmlns:a="http://schemas.openxmlformats.org/drawingml/2006/main">
            <a:r>
              <a:t>- Human-frozen competition protocol: https://github.com/owlsowo/finly-bot/blob/main/config/g4-official-production.json</a:t>
            </a:r>
          </a:p>
          <a:p xmlns:a="http://schemas.openxmlformats.org/drawingml/2006/main">
            <a:r>
              <a:t>- Separate forward-score contract: https://github.com/owlsowo/finly-bot/blob/main/config/competition-forward-profit.json</a:t>
            </a:r>
          </a:p>
          <a:p xmlns:a="http://schemas.openxmlformats.org/drawingml/2006/main">
            <a:r>
              <a:t>- Screenshot is project-owned and records paper-account state, not a live-return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Positive options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The checked options fixture is synthetic paper-trading evidence, not realized options P&amp;L.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Cloud runner documentation: https://github.com/owlsowo/finly-bot/blob/main/docs/CLOUD_RUNNER.md</a:t>
            </a:r>
          </a:p>
          <a:p xmlns:a="http://schemas.openxmlformats.org/drawingml/2006/main">
            <a:r>
              <a:t>- Public repository and automated tests: https://github.com/owlsowo/finly-bot</a:t>
            </a:r>
          </a:p>
          <a:p xmlns:a="http://schemas.openxmlformats.org/drawingml/2006/main">
            <a:r>
              <a:t>- Verified test run: https://github.com/owlsowo/finly-bot/actions/runs/33369848292</a:t>
            </a:r>
          </a:p>
          <a:p xmlns:a="http://schemas.openxmlformats.org/drawingml/2006/main">
            <a:r>
              <a:t>- Sanitized account record: https://owlsowo.github.io/finly-bot/data/competition_live.json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Repository: https://github.com/owlsowo/finly-bot</a:t>
            </a:r>
          </a:p>
          <a:p xmlns:a="http://schemas.openxmlformats.org/drawingml/2006/main">
            <a:r>
              <a:t>- Contact: mailto:bwen412@brandeis.edu</a:t>
            </a:r>
          </a:p>
          <a:p xmlns:a="http://schemas.openxmlformats.org/drawingml/2006/main">
            <a:r>
              <a:t>- Historical metrics are simulations with modeled costs; live paper-account results are labeled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bbbddb97c5432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73cbdb83b2468b" /><Relationship Type="http://schemas.openxmlformats.org/officeDocument/2006/relationships/slideLayout" Target="/ppt/slideLayouts/slideLayout1.xml" Id="Rb14afe20bd9e44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4afe20bd9e44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7eb471f6824848" /><Relationship Type="http://schemas.openxmlformats.org/officeDocument/2006/relationships/image" Target="/ppt/media/image.png" Id="R7393e14f104c447b" /><Relationship Type="http://schemas.openxmlformats.org/officeDocument/2006/relationships/notesSlide" Target="/ppt/notesSlides/notesSlide1.xml" Id="Rde35a355a63d49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0c4e105e94516" /><Relationship Type="http://schemas.openxmlformats.org/officeDocument/2006/relationships/chart" Target="/ppt/slides/charts/chart1.xml" Id="R11a62c12adbe4c6e" /><Relationship Type="http://schemas.openxmlformats.org/officeDocument/2006/relationships/notesSlide" Target="/ppt/notesSlides/notesSlide2.xml" Id="R54f213a38ade44b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3a3d4d1d1d4ac5" /><Relationship Type="http://schemas.openxmlformats.org/officeDocument/2006/relationships/notesSlide" Target="/ppt/notesSlides/notesSlide3.xml" Id="Rf2a70c0aa5c546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021e0212a4c96" /><Relationship Type="http://schemas.openxmlformats.org/officeDocument/2006/relationships/chart" Target="/ppt/slides/charts/chart2.xml" Id="R5ac05c9bd4ed4e8f" /><Relationship Type="http://schemas.openxmlformats.org/officeDocument/2006/relationships/notesSlide" Target="/ppt/notesSlides/notesSlide4.xml" Id="Re17150276b574d8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e09d0c92164624" /><Relationship Type="http://schemas.openxmlformats.org/officeDocument/2006/relationships/notesSlide" Target="/ppt/notesSlides/notesSlide5.xml" Id="R1e33e0967fae41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2012c59504eb0" /><Relationship Type="http://schemas.openxmlformats.org/officeDocument/2006/relationships/image" Target="/ppt/media/image.jpeg" Id="R4e9c9ac5d6e34b8e" /><Relationship Type="http://schemas.openxmlformats.org/officeDocument/2006/relationships/notesSlide" Target="/ppt/notesSlides/notesSlide6.xml" Id="Rb7635f25bc1c4a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45056a09ff4841" /><Relationship Type="http://schemas.openxmlformats.org/officeDocument/2006/relationships/notesSlide" Target="/ppt/notesSlides/notesSlide7.xml" Id="R51cfb054312243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baf4ff2da14d5b" /><Relationship Type="http://schemas.openxmlformats.org/officeDocument/2006/relationships/notesSlide" Target="/ppt/notesSlides/notesSlide8.xml" Id="Rb18bcb121dad4c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569e2fa6774a79" /><Relationship Type="http://schemas.openxmlformats.org/officeDocument/2006/relationships/notesSlide" Target="/ppt/notesSlides/notesSlide9.xml" Id="R9c164b7f52b84e85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Modeled total return</c:v>
          </c:tx>
          <c:spPr>
            <a:solidFill xmlns:a="http://schemas.openxmlformats.org/drawingml/2006/main">
              <a:srgbClr val="2F7562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F756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17334D"/>
              </a:solidFill>
            </c:spPr>
          </c:dPt>
          <c:cat>
            <c:strLit>
              <c:ptCount val="2"/>
              <c:pt idx="0">
                <c:v>Finly</c:v>
              </c:pt>
              <c:pt idx="1">
                <c:v>SPY</c:v>
              </c:pt>
            </c:strLit>
          </c:cat>
          <c:val>
            <c:numLit>
              <c:formatCode>0.00"%"</c:formatCode>
              <c:ptCount val="2"/>
              <c:pt idx="0">
                <c:v>967.11</c:v>
              </c:pt>
              <c:pt idx="1">
                <c:v>580.82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7334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8CF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C8C4B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9737A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8C4B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334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6F1E8"/>
          </a:solidFill>
          <a:prstDash val="solid"/>
        </a:ln>
      </c:spPr>
    </c:plotArea>
    <c:plotVisOnly val="1"/>
  </c:chart>
  <c:spPr>
    <a:solidFill xmlns:a="http://schemas.openxmlformats.org/drawingml/2006/main">
      <a:srgbClr val="F6F1E8"/>
    </a:solidFill>
    <a:ln xmlns:a="http://schemas.openxmlformats.org/drawingml/2006/main" w="0">
      <a:solidFill>
        <a:srgbClr val="F6F1E8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Finly</c:v>
          </c:tx>
          <c:spPr>
            <a:solidFill xmlns:a="http://schemas.openxmlformats.org/drawingml/2006/main">
              <a:srgbClr val="2E6F5C"/>
            </a:solidFill>
          </c:spPr>
          <c:cat>
            <c:strLit>
              <c:ptCount val="1"/>
              <c:pt idx="0">
                <c:v>Annualized return</c:v>
              </c:pt>
            </c:strLit>
          </c:cat>
          <c:val>
            <c:numLit>
              <c:formatCode>General</c:formatCode>
              <c:ptCount val="1"/>
              <c:pt idx="0">
                <c:v>13.37</c:v>
              </c:pt>
            </c:numLit>
          </c:val>
        </c:ser>
        <c:ser>
          <c:idx val="1"/>
          <c:order val="1"/>
          <c:tx>
            <c:v>Market</c:v>
          </c:tx>
          <c:spPr>
            <a:solidFill xmlns:a="http://schemas.openxmlformats.org/drawingml/2006/main">
              <a:srgbClr val="0D2B43"/>
            </a:solidFill>
          </c:spPr>
          <c:cat>
            <c:strLit>
              <c:ptCount val="1"/>
              <c:pt idx="0">
                <c:v>Annualized return</c:v>
              </c:pt>
            </c:strLit>
          </c:cat>
          <c:val>
            <c:numLit>
              <c:formatCode>General</c:formatCode>
              <c:ptCount val="1"/>
              <c:pt idx="0">
                <c:v>9.48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E4E1D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C22C9880-3A0B-4F26-AA95-C95F5139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2" name="page-1">
            <a:extLst xmlns:a="http://schemas.openxmlformats.org/drawingml/2006/main">
              <a:ext uri="{FF2B5EF4-FFF2-40B4-BE49-F238E27FC236}">
                <a16:creationId xmlns:a16="http://schemas.microsoft.com/office/drawing/2014/main" id="{248C3DC2-F98F-4CEE-A552-C475C5FD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93e14f104c447b"/>
          <a:stretch xmlns:a="http://schemas.openxmlformats.org/drawingml/2006/main"/>
        </p:blipFill>
        <p:spPr>
          <a:xfrm xmlns:a="http://schemas.openxmlformats.org/drawingml/2006/main">
            <a:off x="590550" y="523875"/>
            <a:ext cx="723900" cy="723900"/>
          </a:xfrm>
          <a:prstGeom xmlns:a="http://schemas.openxmlformats.org/drawingml/2006/main" prst="rect">
            <a:avLst/>
          </a:prstGeom>
        </p:spPr>
      </p:pic>
      <p:sp>
        <p:nvSpPr>
          <p:cNvPr id="4" name="title-wordmark">
            <a:extLst xmlns:a="http://schemas.openxmlformats.org/drawingml/2006/main">
              <a:ext uri="{FF2B5EF4-FFF2-40B4-BE49-F238E27FC236}">
                <a16:creationId xmlns:a16="http://schemas.microsoft.com/office/drawing/2014/main" id="{E15E145B-4F5F-4E95-B953-E08E1B6B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FINLY</a:t>
            </a:r>
          </a:p>
        </p:txBody>
      </p:sp>
      <p:sp>
        <p:nvSpPr>
          <p:cNvPr id="5" name="label-Execution-realistic controlled delegation-62-169">
            <a:extLst xmlns:a="http://schemas.openxmlformats.org/drawingml/2006/main">
              <a:ext uri="{FF2B5EF4-FFF2-40B4-BE49-F238E27FC236}">
                <a16:creationId xmlns:a16="http://schemas.microsoft.com/office/drawing/2014/main" id="{FCF25974-2D4F-41BB-85F1-CE3EED06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972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AI TRADING WITH BUILT-IN RISK CHECKS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9641E07-BDA1-4DB8-8BAA-B4AFDC62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38350"/>
            <a:ext cx="100012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Finly shows its work before it trades.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DD20EF-645D-4631-B907-549998F0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291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EB8A7"/>
            </a:solidFill>
            <a:prstDash val="solid"/>
          </a:ln>
        </p:spPr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C241564D-F365-40AD-A1A8-CAB32AC1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9029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725" b="0" i="0">
                <a:solidFill>
                  <a:srgbClr val="D5DDDF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5DDDF"/>
                </a:solidFill>
                <a:latin typeface="Arial"/>
                <a:ea typeface="Arial"/>
                <a:cs typeface="Arial"/>
              </a:rPr>
              <a:t>It reads market evidence, builds a defined-risk paper trade, and lets code—not the model—decide whether the order reaches Alpaca. In our historical test, $10,000 became $106,711—$38,629 more than SPY.</a:t>
            </a:r>
          </a:p>
        </p:txBody>
      </p:sp>
      <p:sp>
        <p:nvSpPr>
          <p:cNvPr id="9" name="author">
            <a:extLst xmlns:a="http://schemas.openxmlformats.org/drawingml/2006/main">
              <a:ext uri="{FF2B5EF4-FFF2-40B4-BE49-F238E27FC236}">
                <a16:creationId xmlns:a16="http://schemas.microsoft.com/office/drawing/2014/main" id="{6AB0F580-F8D9-41B0-923C-302F8E7E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5312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9FB1B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9FB1B8"/>
                </a:solidFill>
                <a:latin typeface="Arial"/>
                <a:ea typeface="Arial"/>
                <a:cs typeface="Arial"/>
              </a:rPr>
              <a:t>Bruce Wen  |  Brandeis University  |  owlsowo.github.io/finly-bot</a:t>
            </a:r>
          </a:p>
        </p:txBody>
      </p:sp>
    </p:spTree>
    <p:extLst>
      <p:ext uri="{BB962C8B-B14F-4D97-AF65-F5344CB8AC3E}">
        <p14:creationId xmlns:p14="http://schemas.microsoft.com/office/powerpoint/2010/main" val="16673023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label-Research discipline-58-32">
            <a:extLst xmlns:a="http://schemas.openxmlformats.org/drawingml/2006/main">
              <a:ext uri="{FF2B5EF4-FFF2-40B4-BE49-F238E27FC236}">
                <a16:creationId xmlns:a16="http://schemas.microsoft.com/office/drawing/2014/main" id="{91CD53B7-7006-45C2-8E09-6A96B7F9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WHAT THE BACKTEST SHOWED</a:t>
            </a:r>
          </a:p>
        </p:txBody>
      </p:sp>
      <p:sp>
        <p:nvSpPr>
          <p:cNvPr id="2" name="slide-title-7">
            <a:extLst xmlns:a="http://schemas.openxmlformats.org/drawingml/2006/main">
              <a:ext uri="{FF2B5EF4-FFF2-40B4-BE49-F238E27FC236}">
                <a16:creationId xmlns:a16="http://schemas.microsoft.com/office/drawing/2014/main" id="{7B831A81-2532-4F92-9476-109FAABA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$10,000 became $106,711—$38,629 more than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31FB71-E9CA-474A-ACE6-0DF62C88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53A9C5AA-D371-4102-A4F7-F8C82462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7">
            <a:extLst xmlns:a="http://schemas.openxmlformats.org/drawingml/2006/main">
              <a:ext uri="{FF2B5EF4-FFF2-40B4-BE49-F238E27FC236}">
                <a16:creationId xmlns:a16="http://schemas.microsoft.com/office/drawing/2014/main" id="{4104CD74-A88C-4B4A-9948-43BD49D9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label-Rejected shadow · G4-782-214">
            <a:extLst xmlns:a="http://schemas.openxmlformats.org/drawingml/2006/main">
              <a:ext uri="{FF2B5EF4-FFF2-40B4-BE49-F238E27FC236}">
                <a16:creationId xmlns:a16="http://schemas.microsoft.com/office/drawing/2014/main" id="{6C2E9469-9F04-4E4B-B7B1-15165EE1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0383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2013–2026 HISTORICAL TEST</a:t>
            </a:r>
          </a:p>
        </p:txBody>
      </p:sp>
      <p:sp>
        <p:nvSpPr>
          <p:cNvPr id="8" name="g4-return">
            <a:extLst xmlns:a="http://schemas.openxmlformats.org/drawingml/2006/main">
              <a:ext uri="{FF2B5EF4-FFF2-40B4-BE49-F238E27FC236}">
                <a16:creationId xmlns:a16="http://schemas.microsoft.com/office/drawing/2014/main" id="{6140C90B-F6E2-4F5A-9D7A-C0E770CA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003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75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75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+967.11%</a:t>
            </a:r>
          </a:p>
        </p:txBody>
      </p:sp>
      <p:sp>
        <p:nvSpPr>
          <p:cNvPr id="9" name="g4-return-caption">
            <a:extLst xmlns:a="http://schemas.openxmlformats.org/drawingml/2006/main">
              <a:ext uri="{FF2B5EF4-FFF2-40B4-BE49-F238E27FC236}">
                <a16:creationId xmlns:a16="http://schemas.microsoft.com/office/drawing/2014/main" id="{8711865F-1E09-49BA-AAC9-BEF06409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480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MODELED TOTAL 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25E8C9-9388-498C-9CDA-810D048F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528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1" name="g4-gate-0">
            <a:extLst xmlns:a="http://schemas.openxmlformats.org/drawingml/2006/main">
              <a:ext uri="{FF2B5EF4-FFF2-40B4-BE49-F238E27FC236}">
                <a16:creationId xmlns:a16="http://schemas.microsoft.com/office/drawing/2014/main" id="{4AB50270-B500-4566-90E1-06DBFC06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SPY total return</a:t>
            </a:r>
          </a:p>
        </p:txBody>
      </p:sp>
      <p:sp>
        <p:nvSpPr>
          <p:cNvPr id="12" name="g4-value-0">
            <a:extLst xmlns:a="http://schemas.openxmlformats.org/drawingml/2006/main">
              <a:ext uri="{FF2B5EF4-FFF2-40B4-BE49-F238E27FC236}">
                <a16:creationId xmlns:a16="http://schemas.microsoft.com/office/drawing/2014/main" id="{786A3FFC-2BDC-49E8-99B3-BACECE63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6385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+580.82%</a:t>
            </a:r>
          </a:p>
        </p:txBody>
      </p:sp>
      <p:sp>
        <p:nvSpPr>
          <p:cNvPr id="13" name="g4-status-0">
            <a:extLst xmlns:a="http://schemas.openxmlformats.org/drawingml/2006/main">
              <a:ext uri="{FF2B5EF4-FFF2-40B4-BE49-F238E27FC236}">
                <a16:creationId xmlns:a16="http://schemas.microsoft.com/office/drawing/2014/main" id="{512EC0D1-2D84-47FD-82BC-1C859989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6385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SPY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110F41-597F-4F6F-98AB-81149D1B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481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5" name="g4-gate-1">
            <a:extLst xmlns:a="http://schemas.openxmlformats.org/drawingml/2006/main">
              <a:ext uri="{FF2B5EF4-FFF2-40B4-BE49-F238E27FC236}">
                <a16:creationId xmlns:a16="http://schemas.microsoft.com/office/drawing/2014/main" id="{F20744CC-9B2E-42ED-A717-26ED54A4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1338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Ending-wealth advantage</a:t>
            </a:r>
          </a:p>
        </p:txBody>
      </p:sp>
      <p:sp>
        <p:nvSpPr>
          <p:cNvPr id="16" name="g4-value-1">
            <a:extLst xmlns:a="http://schemas.openxmlformats.org/drawingml/2006/main">
              <a:ext uri="{FF2B5EF4-FFF2-40B4-BE49-F238E27FC236}">
                <a16:creationId xmlns:a16="http://schemas.microsoft.com/office/drawing/2014/main" id="{6B096C11-9DC3-4617-9A71-A5B14812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1338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$38,629</a:t>
            </a:r>
          </a:p>
        </p:txBody>
      </p:sp>
      <p:sp>
        <p:nvSpPr>
          <p:cNvPr id="17" name="g4-status-1">
            <a:extLst xmlns:a="http://schemas.openxmlformats.org/drawingml/2006/main">
              <a:ext uri="{FF2B5EF4-FFF2-40B4-BE49-F238E27FC236}">
                <a16:creationId xmlns:a16="http://schemas.microsoft.com/office/drawing/2014/main" id="{AF9503B9-644C-4621-A838-9DC44C8E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1338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MORE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CAAF9E-4418-4A63-A405-90080075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5434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9" name="g4-gate-2">
            <a:extLst xmlns:a="http://schemas.openxmlformats.org/drawingml/2006/main">
              <a:ext uri="{FF2B5EF4-FFF2-40B4-BE49-F238E27FC236}">
                <a16:creationId xmlns:a16="http://schemas.microsoft.com/office/drawing/2014/main" id="{94A441AC-F9D7-4A71-A85E-E10B2CBF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29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Modeled one-way costs</a:t>
            </a:r>
          </a:p>
        </p:txBody>
      </p:sp>
      <p:sp>
        <p:nvSpPr>
          <p:cNvPr id="20" name="g4-value-2">
            <a:extLst xmlns:a="http://schemas.openxmlformats.org/drawingml/2006/main">
              <a:ext uri="{FF2B5EF4-FFF2-40B4-BE49-F238E27FC236}">
                <a16:creationId xmlns:a16="http://schemas.microsoft.com/office/drawing/2014/main" id="{540C9D07-4164-433E-944E-295B7898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6291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5 bp</a:t>
            </a:r>
          </a:p>
        </p:txBody>
      </p:sp>
      <p:sp>
        <p:nvSpPr>
          <p:cNvPr id="21" name="g4-status-2">
            <a:extLst xmlns:a="http://schemas.openxmlformats.org/drawingml/2006/main">
              <a:ext uri="{FF2B5EF4-FFF2-40B4-BE49-F238E27FC236}">
                <a16:creationId xmlns:a16="http://schemas.microsoft.com/office/drawing/2014/main" id="{186C7C87-C3EB-400F-BFEE-305C02D1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6291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COST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0FCFCC-CD31-4787-94D8-3929FCB19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0387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23" name="g4-gate-3">
            <a:extLst xmlns:a="http://schemas.openxmlformats.org/drawingml/2006/main">
              <a:ext uri="{FF2B5EF4-FFF2-40B4-BE49-F238E27FC236}">
                <a16:creationId xmlns:a16="http://schemas.microsoft.com/office/drawing/2014/main" id="{17DA852F-A18C-4A1B-8D1D-D4549008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1244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Identical test window</a:t>
            </a:r>
          </a:p>
        </p:txBody>
      </p:sp>
      <p:sp>
        <p:nvSpPr>
          <p:cNvPr id="24" name="g4-value-3">
            <a:extLst xmlns:a="http://schemas.openxmlformats.org/drawingml/2006/main">
              <a:ext uri="{FF2B5EF4-FFF2-40B4-BE49-F238E27FC236}">
                <a16:creationId xmlns:a16="http://schemas.microsoft.com/office/drawing/2014/main" id="{B8F37ED9-2EB3-469D-B66C-45BC9004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1244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2013–26</a:t>
            </a:r>
          </a:p>
        </p:txBody>
      </p:sp>
      <p:sp>
        <p:nvSpPr>
          <p:cNvPr id="25" name="g4-status-3">
            <a:extLst xmlns:a="http://schemas.openxmlformats.org/drawingml/2006/main">
              <a:ext uri="{FF2B5EF4-FFF2-40B4-BE49-F238E27FC236}">
                <a16:creationId xmlns:a16="http://schemas.microsoft.com/office/drawing/2014/main" id="{0343F385-B74C-43C8-A4FA-A6185B0E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244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13Y</a:t>
            </a:r>
          </a:p>
        </p:txBody>
      </p:sp>
      <p:sp>
        <p:nvSpPr>
          <p:cNvPr id="26" name="g4-boundary">
            <a:extLst xmlns:a="http://schemas.openxmlformats.org/drawingml/2006/main">
              <a:ext uri="{FF2B5EF4-FFF2-40B4-BE49-F238E27FC236}">
                <a16:creationId xmlns:a16="http://schemas.microsoft.com/office/drawing/2014/main" id="{35C69F1D-BF4D-4BFD-988C-CFFC6EAD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674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5F6B6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5F6B66"/>
                </a:solidFill>
                <a:latin typeface="Arial"/>
                <a:ea typeface="Arial"/>
                <a:cs typeface="Arial"/>
              </a:rPr>
              <a:t>Same $10,000 · same dates · 2013-01-02–2026-08-27 · 5 bp modeled one-way costs · historical test, not live account results.</a:t>
            </a:r>
          </a:p>
        </p:txBody>
      </p:sp>
      <p:graphicFrame>
        <p:nvGraphicFramePr>
          <p:cNvPr id="54" name="Chart"/>
          <p:cNvGraphicFramePr/>
          <p:nvPr/>
        </p:nvGraphicFramePr>
        <p:xfrm>
          <a:off xmlns:a="http://schemas.openxmlformats.org/drawingml/2006/main" x="790575" y="1962150"/>
          <a:ext xmlns:a="http://schemas.openxmlformats.org/drawingml/2006/main" cx="59436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a62c12adbe4c6e"/>
          </a:graphicData>
        </a:graphic>
      </p:graphicFrame>
    </p:spTree>
    <p:extLst>
      <p:ext uri="{BB962C8B-B14F-4D97-AF65-F5344CB8AC3E}">
        <p14:creationId xmlns:p14="http://schemas.microsoft.com/office/powerpoint/2010/main" val="4496447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label-The design problem-58-32">
            <a:extLst xmlns:a="http://schemas.openxmlformats.org/drawingml/2006/main">
              <a:ext uri="{FF2B5EF4-FFF2-40B4-BE49-F238E27FC236}">
                <a16:creationId xmlns:a16="http://schemas.microsoft.com/office/drawing/2014/main" id="{C85F84AF-3AE5-47FF-9159-2617424E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WHY WE BUILT FINLY</a:t>
            </a:r>
          </a:p>
        </p:txBody>
      </p:sp>
      <p:sp>
        <p:nvSpPr>
          <p:cNvPr id="2" name="slide-title-2">
            <a:extLst xmlns:a="http://schemas.openxmlformats.org/drawingml/2006/main">
              <a:ext uri="{FF2B5EF4-FFF2-40B4-BE49-F238E27FC236}">
                <a16:creationId xmlns:a16="http://schemas.microsoft.com/office/drawing/2014/main" id="{1A2BC0BA-597C-4341-92A9-BC796E4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Most trading agents let one model do too much.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7A8C8F-5921-4140-9E10-567349E0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F14F45D7-26EB-4FA8-9497-55AE51D0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2">
            <a:extLst xmlns:a="http://schemas.openxmlformats.org/drawingml/2006/main">
              <a:ext uri="{FF2B5EF4-FFF2-40B4-BE49-F238E27FC236}">
                <a16:creationId xmlns:a16="http://schemas.microsoft.com/office/drawing/2014/main" id="{9EC0F7A2-60FF-4DB5-9004-CFC5600D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label-Typical agent-74-215">
            <a:extLst xmlns:a="http://schemas.openxmlformats.org/drawingml/2006/main">
              <a:ext uri="{FF2B5EF4-FFF2-40B4-BE49-F238E27FC236}">
                <a16:creationId xmlns:a16="http://schemas.microsoft.com/office/drawing/2014/main" id="{79EAB827-B5F9-413D-883F-4ABBE27A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F3D3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F3D37"/>
                </a:solidFill>
                <a:latin typeface="Arial"/>
                <a:ea typeface="Arial"/>
                <a:cs typeface="Arial"/>
              </a:rPr>
              <a:t>ONE MODEL</a:t>
            </a:r>
          </a:p>
        </p:txBody>
      </p:sp>
      <p:sp>
        <p:nvSpPr>
          <p:cNvPr id="7" name="judgment-question">
            <a:extLst xmlns:a="http://schemas.openxmlformats.org/drawingml/2006/main">
              <a:ext uri="{FF2B5EF4-FFF2-40B4-BE49-F238E27FC236}">
                <a16:creationId xmlns:a16="http://schemas.microsoft.com/office/drawing/2014/main" id="{E3D35E06-AD6E-40E9-A2D0-EF0AEC5C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71725"/>
            <a:ext cx="428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Researches, sizes, and sends the order.</a:t>
            </a:r>
          </a:p>
        </p:txBody>
      </p:sp>
      <p:sp>
        <p:nvSpPr>
          <p:cNvPr id="8" name="judgment-copy">
            <a:extLst xmlns:a="http://schemas.openxmlformats.org/drawingml/2006/main">
              <a:ext uri="{FF2B5EF4-FFF2-40B4-BE49-F238E27FC236}">
                <a16:creationId xmlns:a16="http://schemas.microsoft.com/office/drawing/2014/main" id="{D792C21C-7BCE-4E85-9D53-107016E5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33750"/>
            <a:ext cx="4095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If the same model reads the evidence, picks the exposure, and writes the order, one confident mistake can put capital at risk.</a:t>
            </a:r>
          </a:p>
        </p:txBody>
      </p:sp>
      <p:sp>
        <p:nvSpPr>
          <p:cNvPr id="9" name="divider">
            <a:extLst xmlns:a="http://schemas.openxmlformats.org/drawingml/2006/main">
              <a:ext uri="{FF2B5EF4-FFF2-40B4-BE49-F238E27FC236}">
                <a16:creationId xmlns:a16="http://schemas.microsoft.com/office/drawing/2014/main" id="{433B7D72-ED8D-48F2-ABF3-5AFB03E3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000250"/>
            <a:ext cx="1905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label-Finly-654-215">
            <a:extLst xmlns:a="http://schemas.openxmlformats.org/drawingml/2006/main">
              <a:ext uri="{FF2B5EF4-FFF2-40B4-BE49-F238E27FC236}">
                <a16:creationId xmlns:a16="http://schemas.microsoft.com/office/drawing/2014/main" id="{8F3BB22D-FE36-4FB1-A84B-0C4DCD5D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478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FINLY</a:t>
            </a:r>
          </a:p>
        </p:txBody>
      </p:sp>
      <p:sp>
        <p:nvSpPr>
          <p:cNvPr id="11" name="authority-question">
            <a:extLst xmlns:a="http://schemas.openxmlformats.org/drawingml/2006/main">
              <a:ext uri="{FF2B5EF4-FFF2-40B4-BE49-F238E27FC236}">
                <a16:creationId xmlns:a16="http://schemas.microsoft.com/office/drawing/2014/main" id="{1B7BCB26-B790-4ECB-B06C-1C801CB9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7172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AI researches. Code controls the order.</a:t>
            </a:r>
          </a:p>
        </p:txBody>
      </p:sp>
      <p:sp>
        <p:nvSpPr>
          <p:cNvPr id="12" name="authority-copy">
            <a:extLst xmlns:a="http://schemas.openxmlformats.org/drawingml/2006/main">
              <a:ext uri="{FF2B5EF4-FFF2-40B4-BE49-F238E27FC236}">
                <a16:creationId xmlns:a16="http://schemas.microsoft.com/office/drawing/2014/main" id="{34158FE7-2D0B-434B-BDD9-7BE3AF72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57575"/>
            <a:ext cx="46291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AI explains the market view. Code sets position size, maximum loss, option legs, and every broker field. A final check can still stop the trade.</a:t>
            </a:r>
          </a:p>
        </p:txBody>
      </p:sp>
      <p:sp>
        <p:nvSpPr>
          <p:cNvPr id="13" name="core-thesis">
            <a:extLst xmlns:a="http://schemas.openxmlformats.org/drawingml/2006/main">
              <a:ext uri="{FF2B5EF4-FFF2-40B4-BE49-F238E27FC236}">
                <a16:creationId xmlns:a16="http://schemas.microsoft.com/office/drawing/2014/main" id="{0E003D14-42F9-4F6F-9D35-D06B6E5E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10153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The model can explain a trade. It cannot give itself permission to place one.</a:t>
            </a:r>
          </a:p>
        </p:txBody>
      </p:sp>
    </p:spTree>
    <p:extLst>
      <p:ext uri="{BB962C8B-B14F-4D97-AF65-F5344CB8AC3E}">
        <p14:creationId xmlns:p14="http://schemas.microsoft.com/office/powerpoint/2010/main" val="11463389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abel-Execution realism-58-32">
            <a:extLst xmlns:a="http://schemas.openxmlformats.org/drawingml/2006/main">
              <a:ext uri="{FF2B5EF4-FFF2-40B4-BE49-F238E27FC236}">
                <a16:creationId xmlns:a16="http://schemas.microsoft.com/office/drawing/2014/main" id="{7E480406-DF41-4FD9-84C4-3C56AA14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A SECOND HISTORICAL PROXY</a:t>
            </a:r>
          </a:p>
        </p:txBody>
      </p:sp>
      <p:sp>
        <p:nvSpPr>
          <p:cNvPr id="2" name="slide-title-5">
            <a:extLst xmlns:a="http://schemas.openxmlformats.org/drawingml/2006/main">
              <a:ext uri="{FF2B5EF4-FFF2-40B4-BE49-F238E27FC236}">
                <a16:creationId xmlns:a16="http://schemas.microsoft.com/office/drawing/2014/main" id="{46B52253-BF74-42FF-BE53-C3F4715D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 fixed industry proxy carried the idea across 80 earlier years.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9E6D16-5637-4F6C-86D6-AF617637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2E81FA44-5D19-4315-8FFB-5BF73C4C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5">
            <a:extLst xmlns:a="http://schemas.openxmlformats.org/drawingml/2006/main">
              <a:ext uri="{FF2B5EF4-FFF2-40B4-BE49-F238E27FC236}">
                <a16:creationId xmlns:a16="http://schemas.microsoft.com/office/drawing/2014/main" id="{3C0BC03A-4B70-4CF1-9AF3-0E8C7CB5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552450" y="2038350"/>
          <a:ext xmlns:a="http://schemas.openxmlformats.org/drawingml/2006/main" cx="7239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ac05c9bd4ed4e8f"/>
          </a:graphicData>
        </a:graphic>
      </p:graphicFrame>
      <p:sp>
        <p:nvSpPr>
          <p:cNvPr id="7" name="label-What survived-872-216">
            <a:extLst xmlns:a="http://schemas.openxmlformats.org/drawingml/2006/main">
              <a:ext uri="{FF2B5EF4-FFF2-40B4-BE49-F238E27FC236}">
                <a16:creationId xmlns:a16="http://schemas.microsoft.com/office/drawing/2014/main" id="{0D87039A-C649-477F-8202-3E3A95F3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574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1927–2007 HISTORICAL TEST</a:t>
            </a:r>
          </a:p>
        </p:txBody>
      </p:sp>
      <p:sp>
        <p:nvSpPr>
          <p:cNvPr id="8" name="metric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6C90C027-268A-43C4-81F6-697E776A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812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13.37%</a:t>
            </a:r>
          </a:p>
        </p:txBody>
      </p:sp>
      <p:sp>
        <p:nvSpPr>
          <p:cNvPr id="9" name="metric-caption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153A2317-C549-45EA-98AF-856F1827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432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ANNUALIZED RETURN</a:t>
            </a:r>
          </a:p>
        </p:txBody>
      </p:sp>
      <p:sp>
        <p:nvSpPr>
          <p:cNvPr id="10" name="metric-maximum drawdown">
            <a:extLst xmlns:a="http://schemas.openxmlformats.org/drawingml/2006/main">
              <a:ext uri="{FF2B5EF4-FFF2-40B4-BE49-F238E27FC236}">
                <a16:creationId xmlns:a16="http://schemas.microsoft.com/office/drawing/2014/main" id="{B83C2E9B-B006-4876-B8FF-C1806B1D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861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21/21</a:t>
            </a:r>
          </a:p>
        </p:txBody>
      </p:sp>
      <p:sp>
        <p:nvSpPr>
          <p:cNvPr id="11" name="metric-caption-maximum drawdown">
            <a:extLst xmlns:a="http://schemas.openxmlformats.org/drawingml/2006/main">
              <a:ext uri="{FF2B5EF4-FFF2-40B4-BE49-F238E27FC236}">
                <a16:creationId xmlns:a16="http://schemas.microsoft.com/office/drawing/2014/main" id="{95D6EEC2-E7F2-4426-8412-F9FF4BF3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481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REBALANCE ANCHORS POSITIVE</a:t>
            </a:r>
          </a:p>
        </p:txBody>
      </p:sp>
      <p:sp>
        <p:nvSpPr>
          <p:cNvPr id="12" name="metric-at 25 bp per leg">
            <a:extLst xmlns:a="http://schemas.openxmlformats.org/drawingml/2006/main">
              <a:ext uri="{FF2B5EF4-FFF2-40B4-BE49-F238E27FC236}">
                <a16:creationId xmlns:a16="http://schemas.microsoft.com/office/drawing/2014/main" id="{86B060C8-018E-4E4B-9978-8FB36D1B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5910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+2.45 pp</a:t>
            </a:r>
          </a:p>
        </p:txBody>
      </p:sp>
      <p:sp>
        <p:nvSpPr>
          <p:cNvPr id="13" name="metric-caption-at 25 bp per leg">
            <a:extLst xmlns:a="http://schemas.openxmlformats.org/drawingml/2006/main">
              <a:ext uri="{FF2B5EF4-FFF2-40B4-BE49-F238E27FC236}">
                <a16:creationId xmlns:a16="http://schemas.microsoft.com/office/drawing/2014/main" id="{A8E8F9E5-0716-499E-9F89-4E583278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530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EDGE AT 25 BP COST STRESS</a:t>
            </a:r>
          </a:p>
        </p:txBody>
      </p:sp>
      <p:sp>
        <p:nvSpPr>
          <p:cNvPr id="14" name="execution-boundary">
            <a:extLst xmlns:a="http://schemas.openxmlformats.org/drawingml/2006/main">
              <a:ext uri="{FF2B5EF4-FFF2-40B4-BE49-F238E27FC236}">
                <a16:creationId xmlns:a16="http://schemas.microsoft.com/office/drawing/2014/main" id="{B2A0F37A-CCAF-47D6-8F0B-AC6DB2AC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76900"/>
            <a:ext cx="1074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5F6B66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F6B66"/>
                </a:solidFill>
                <a:latin typeface="Arial"/>
                <a:ea typeface="Arial"/>
                <a:cs typeface="Arial"/>
              </a:rPr>
              <a:t>Public Kenneth French industry data · 21,218 trading days · 5 bp base cost · market return 9.48% annualized · maximum drawdown 16.31 points shallower.</a:t>
            </a:r>
          </a:p>
        </p:txBody>
      </p:sp>
    </p:spTree>
    <p:extLst>
      <p:ext uri="{BB962C8B-B14F-4D97-AF65-F5344CB8AC3E}">
        <p14:creationId xmlns:p14="http://schemas.microsoft.com/office/powerpoint/2010/main" val="15008238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label-Controlled delegation-58-32">
            <a:extLst xmlns:a="http://schemas.openxmlformats.org/drawingml/2006/main">
              <a:ext uri="{FF2B5EF4-FFF2-40B4-BE49-F238E27FC236}">
                <a16:creationId xmlns:a16="http://schemas.microsoft.com/office/drawing/2014/main" id="{4BC9A4DF-F985-41AE-A3E6-DDBC1A33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HERE'S HOW IT WORKS</a:t>
            </a:r>
          </a:p>
        </p:txBody>
      </p:sp>
      <p:sp>
        <p:nvSpPr>
          <p:cNvPr id="2" name="slide-title-4">
            <a:extLst xmlns:a="http://schemas.openxmlformats.org/drawingml/2006/main">
              <a:ext uri="{FF2B5EF4-FFF2-40B4-BE49-F238E27FC236}">
                <a16:creationId xmlns:a16="http://schemas.microsoft.com/office/drawing/2014/main" id="{B98CD0C5-7E10-48F0-8298-1C79F41D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 Finly trade goes through six steps before it reaches Alpaca.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2C655D-1B42-47E1-AAC4-5203CA79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D56BCC69-8EF8-4F20-8342-3813CD35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4">
            <a:extLst xmlns:a="http://schemas.openxmlformats.org/drawingml/2006/main">
              <a:ext uri="{FF2B5EF4-FFF2-40B4-BE49-F238E27FC236}">
                <a16:creationId xmlns:a16="http://schemas.microsoft.com/office/drawing/2014/main" id="{41265285-EB2D-4C8E-A336-FB08A32A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label-INPUT-58-218">
            <a:extLst xmlns:a="http://schemas.openxmlformats.org/drawingml/2006/main">
              <a:ext uri="{FF2B5EF4-FFF2-40B4-BE49-F238E27FC236}">
                <a16:creationId xmlns:a16="http://schemas.microsoft.com/office/drawing/2014/main" id="{DED89C55-F40C-4B52-A35A-DD03C962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7" name="stage-number-0">
            <a:extLst xmlns:a="http://schemas.openxmlformats.org/drawingml/2006/main">
              <a:ext uri="{FF2B5EF4-FFF2-40B4-BE49-F238E27FC236}">
                <a16:creationId xmlns:a16="http://schemas.microsoft.com/office/drawing/2014/main" id="{CF96F154-6B1A-42EA-888E-DDD7BD51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stage-title-0">
            <a:extLst xmlns:a="http://schemas.openxmlformats.org/drawingml/2006/main">
              <a:ext uri="{FF2B5EF4-FFF2-40B4-BE49-F238E27FC236}">
                <a16:creationId xmlns:a16="http://schemas.microsoft.com/office/drawing/2014/main" id="{57A9596F-5B2D-4D8B-A7B0-64B1D4AB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Read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2FC33-B45F-4FAE-BA8E-B15CD9B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10" name="stage-copy-0">
            <a:extLst xmlns:a="http://schemas.openxmlformats.org/drawingml/2006/main">
              <a:ext uri="{FF2B5EF4-FFF2-40B4-BE49-F238E27FC236}">
                <a16:creationId xmlns:a16="http://schemas.microsoft.com/office/drawing/2014/main" id="{54AD01EA-87B8-44F3-B1D7-138C86AE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Timestamped market signals</a:t>
            </a:r>
          </a:p>
        </p:txBody>
      </p:sp>
      <p:sp>
        <p:nvSpPr>
          <p:cNvPr id="11" name="chevron-1">
            <a:extLst xmlns:a="http://schemas.openxmlformats.org/drawingml/2006/main">
              <a:ext uri="{FF2B5EF4-FFF2-40B4-BE49-F238E27FC236}">
                <a16:creationId xmlns:a16="http://schemas.microsoft.com/office/drawing/2014/main" id="{F7DB0A09-FFF7-4A1A-9F20-475DEFFF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2" name="label-MODEL-253-218">
            <a:extLst xmlns:a="http://schemas.openxmlformats.org/drawingml/2006/main">
              <a:ext uri="{FF2B5EF4-FFF2-40B4-BE49-F238E27FC236}">
                <a16:creationId xmlns:a16="http://schemas.microsoft.com/office/drawing/2014/main" id="{1ED7DA5B-93C8-435B-86ED-FBFFE78B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13" name="stage-number-1">
            <a:extLst xmlns:a="http://schemas.openxmlformats.org/drawingml/2006/main">
              <a:ext uri="{FF2B5EF4-FFF2-40B4-BE49-F238E27FC236}">
                <a16:creationId xmlns:a16="http://schemas.microsoft.com/office/drawing/2014/main" id="{0AC187DA-8354-4417-B330-5626C7A9B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AD90F80F-A9EE-4246-944E-4500BBDB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Explain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2A6EE-24BA-4174-957D-69487AB2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B3A3A"/>
            </a:solidFill>
            <a:prstDash val="solid"/>
          </a:ln>
        </p:spPr>
      </p:sp>
      <p:sp>
        <p:nvSpPr>
          <p:cNvPr id="16" name="stage-copy-1">
            <a:extLst xmlns:a="http://schemas.openxmlformats.org/drawingml/2006/main">
              <a:ext uri="{FF2B5EF4-FFF2-40B4-BE49-F238E27FC236}">
                <a16:creationId xmlns:a16="http://schemas.microsoft.com/office/drawing/2014/main" id="{34EA93AE-AA48-4F31-BD90-938584DE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Compare signals + state a view</a:t>
            </a:r>
          </a:p>
        </p:txBody>
      </p:sp>
      <p:sp>
        <p:nvSpPr>
          <p:cNvPr id="17" name="chevron-2">
            <a:extLst xmlns:a="http://schemas.openxmlformats.org/drawingml/2006/main">
              <a:ext uri="{FF2B5EF4-FFF2-40B4-BE49-F238E27FC236}">
                <a16:creationId xmlns:a16="http://schemas.microsoft.com/office/drawing/2014/main" id="{342464B6-AD68-4B34-9AA0-EA9CB5CE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8" name="label-CODE-448-218">
            <a:extLst xmlns:a="http://schemas.openxmlformats.org/drawingml/2006/main">
              <a:ext uri="{FF2B5EF4-FFF2-40B4-BE49-F238E27FC236}">
                <a16:creationId xmlns:a16="http://schemas.microsoft.com/office/drawing/2014/main" id="{F4670263-D6C2-4EE8-968A-D76FDABC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19" name="stage-number-2">
            <a:extLst xmlns:a="http://schemas.openxmlformats.org/drawingml/2006/main">
              <a:ext uri="{FF2B5EF4-FFF2-40B4-BE49-F238E27FC236}">
                <a16:creationId xmlns:a16="http://schemas.microsoft.com/office/drawing/2014/main" id="{0B9CE17A-54BE-477B-ACBA-0D0471F7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ED4EF59E-75A7-416D-AB08-5A544293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Size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FE25B9-148F-4EF5-BAAE-FC7B3A5D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22" name="stage-copy-2">
            <a:extLst xmlns:a="http://schemas.openxmlformats.org/drawingml/2006/main">
              <a:ext uri="{FF2B5EF4-FFF2-40B4-BE49-F238E27FC236}">
                <a16:creationId xmlns:a16="http://schemas.microsoft.com/office/drawing/2014/main" id="{755C404D-273A-4498-BC41-1E6F7BEB1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Fix exposure + risk budget</a:t>
            </a:r>
          </a:p>
        </p:txBody>
      </p:sp>
      <p:sp>
        <p:nvSpPr>
          <p:cNvPr id="23" name="chevron-3">
            <a:extLst xmlns:a="http://schemas.openxmlformats.org/drawingml/2006/main">
              <a:ext uri="{FF2B5EF4-FFF2-40B4-BE49-F238E27FC236}">
                <a16:creationId xmlns:a16="http://schemas.microsoft.com/office/drawing/2014/main" id="{B1F5D8ED-6C2E-44C8-B89F-2DF43E69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4" name="label-CODE-643-218">
            <a:extLst xmlns:a="http://schemas.openxmlformats.org/drawingml/2006/main">
              <a:ext uri="{FF2B5EF4-FFF2-40B4-BE49-F238E27FC236}">
                <a16:creationId xmlns:a16="http://schemas.microsoft.com/office/drawing/2014/main" id="{F66A42CD-911C-4E07-A308-2AF8DB58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25" name="stage-number-3">
            <a:extLst xmlns:a="http://schemas.openxmlformats.org/drawingml/2006/main">
              <a:ext uri="{FF2B5EF4-FFF2-40B4-BE49-F238E27FC236}">
                <a16:creationId xmlns:a16="http://schemas.microsoft.com/office/drawing/2014/main" id="{E55D988C-85E6-4AF9-9415-881F494D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BD103949-4A08-47D2-A402-9598BDD3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Build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5E805D-7CE4-4CCD-83AD-9B2C2E0F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28" name="stage-copy-3">
            <a:extLst xmlns:a="http://schemas.openxmlformats.org/drawingml/2006/main">
              <a:ext uri="{FF2B5EF4-FFF2-40B4-BE49-F238E27FC236}">
                <a16:creationId xmlns:a16="http://schemas.microsoft.com/office/drawing/2014/main" id="{71F69B2A-BF19-4019-9E48-20437BEC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Define legs + broker fields</a:t>
            </a:r>
          </a:p>
        </p:txBody>
      </p:sp>
      <p:sp>
        <p:nvSpPr>
          <p:cNvPr id="29" name="chevron-4">
            <a:extLst xmlns:a="http://schemas.openxmlformats.org/drawingml/2006/main">
              <a:ext uri="{FF2B5EF4-FFF2-40B4-BE49-F238E27FC236}">
                <a16:creationId xmlns:a16="http://schemas.microsoft.com/office/drawing/2014/main" id="{9B56AFD5-AD83-4E0C-8B56-BE8A0F65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30" name="label-CODE-838-218">
            <a:extLst xmlns:a="http://schemas.openxmlformats.org/drawingml/2006/main">
              <a:ext uri="{FF2B5EF4-FFF2-40B4-BE49-F238E27FC236}">
                <a16:creationId xmlns:a16="http://schemas.microsoft.com/office/drawing/2014/main" id="{DC1FC783-3035-4E1E-8F45-00A61CF4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31" name="stage-number-4">
            <a:extLst xmlns:a="http://schemas.openxmlformats.org/drawingml/2006/main">
              <a:ext uri="{FF2B5EF4-FFF2-40B4-BE49-F238E27FC236}">
                <a16:creationId xmlns:a16="http://schemas.microsoft.com/office/drawing/2014/main" id="{C3027CCF-F734-4438-A49D-A4B00C7F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2" name="stage-title-4">
            <a:extLst xmlns:a="http://schemas.openxmlformats.org/drawingml/2006/main">
              <a:ext uri="{FF2B5EF4-FFF2-40B4-BE49-F238E27FC236}">
                <a16:creationId xmlns:a16="http://schemas.microsoft.com/office/drawing/2014/main" id="{B569BFBD-934B-42DE-A472-A13E2378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Stress test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E9F60D-70AF-4719-BDCD-F5A94EA4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34" name="stage-copy-4">
            <a:extLst xmlns:a="http://schemas.openxmlformats.org/drawingml/2006/main">
              <a:ext uri="{FF2B5EF4-FFF2-40B4-BE49-F238E27FC236}">
                <a16:creationId xmlns:a16="http://schemas.microsoft.com/office/drawing/2014/main" id="{4206C489-D47C-4B1C-8652-2747E3A7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Remove sources + change inputs</a:t>
            </a:r>
          </a:p>
        </p:txBody>
      </p:sp>
      <p:sp>
        <p:nvSpPr>
          <p:cNvPr id="35" name="chevron-5">
            <a:extLst xmlns:a="http://schemas.openxmlformats.org/drawingml/2006/main">
              <a:ext uri="{FF2B5EF4-FFF2-40B4-BE49-F238E27FC236}">
                <a16:creationId xmlns:a16="http://schemas.microsoft.com/office/drawing/2014/main" id="{331B85BC-D874-4EDC-849B-936A4C30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36" name="label-GATE-1033-218">
            <a:extLst xmlns:a="http://schemas.openxmlformats.org/drawingml/2006/main">
              <a:ext uri="{FF2B5EF4-FFF2-40B4-BE49-F238E27FC236}">
                <a16:creationId xmlns:a16="http://schemas.microsoft.com/office/drawing/2014/main" id="{4C1137DB-126D-4F04-952C-28713786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PERMIT</a:t>
            </a:r>
          </a:p>
        </p:txBody>
      </p:sp>
      <p:sp>
        <p:nvSpPr>
          <p:cNvPr id="37" name="stage-number-5">
            <a:extLst xmlns:a="http://schemas.openxmlformats.org/drawingml/2006/main">
              <a:ext uri="{FF2B5EF4-FFF2-40B4-BE49-F238E27FC236}">
                <a16:creationId xmlns:a16="http://schemas.microsoft.com/office/drawing/2014/main" id="{6C7D2476-922B-4454-872C-1615365C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8" name="stage-title-5">
            <a:extLst xmlns:a="http://schemas.openxmlformats.org/drawingml/2006/main">
              <a:ext uri="{FF2B5EF4-FFF2-40B4-BE49-F238E27FC236}">
                <a16:creationId xmlns:a16="http://schemas.microsoft.com/office/drawing/2014/main" id="{AC5FCCCB-A801-454B-BD09-DC3CD8F4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Send or stop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600F38-CD89-43AF-A505-7A5A7B3C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40" name="stage-copy-5">
            <a:extLst xmlns:a="http://schemas.openxmlformats.org/drawingml/2006/main">
              <a:ext uri="{FF2B5EF4-FFF2-40B4-BE49-F238E27FC236}">
                <a16:creationId xmlns:a16="http://schemas.microsoft.com/office/drawing/2014/main" id="{0ABD450B-FCAA-42B4-9031-3749CF53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PAPER ORDER / NO TRADE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7F2F1EA-48E2-4C68-84DC-D355AC98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2" name="metric-exact max loss in checked fixture">
            <a:extLst xmlns:a="http://schemas.openxmlformats.org/drawingml/2006/main">
              <a:ext uri="{FF2B5EF4-FFF2-40B4-BE49-F238E27FC236}">
                <a16:creationId xmlns:a16="http://schemas.microsoft.com/office/drawing/2014/main" id="{E08944F6-8B6D-466C-A232-EA632799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8155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AI</a:t>
            </a:r>
          </a:p>
        </p:txBody>
      </p:sp>
      <p:sp>
        <p:nvSpPr>
          <p:cNvPr id="43" name="metric-caption-exact max loss in checked fixture">
            <a:extLst xmlns:a="http://schemas.openxmlformats.org/drawingml/2006/main">
              <a:ext uri="{FF2B5EF4-FFF2-40B4-BE49-F238E27FC236}">
                <a16:creationId xmlns:a16="http://schemas.microsoft.com/office/drawing/2014/main" id="{E15F0B9A-545C-4878-9A2F-5CF64276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4352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READS + EXPLAINS</a:t>
            </a:r>
          </a:p>
        </p:txBody>
      </p:sp>
      <p:sp>
        <p:nvSpPr>
          <p:cNvPr id="44" name="metric-source-removal challenges">
            <a:extLst xmlns:a="http://schemas.openxmlformats.org/drawingml/2006/main">
              <a:ext uri="{FF2B5EF4-FFF2-40B4-BE49-F238E27FC236}">
                <a16:creationId xmlns:a16="http://schemas.microsoft.com/office/drawing/2014/main" id="{992BE769-08D8-41B9-8C08-B2C437F8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781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CODE</a:t>
            </a:r>
          </a:p>
        </p:txBody>
      </p:sp>
      <p:sp>
        <p:nvSpPr>
          <p:cNvPr id="45" name="metric-caption-source-removal challenges">
            <a:extLst xmlns:a="http://schemas.openxmlformats.org/drawingml/2006/main">
              <a:ext uri="{FF2B5EF4-FFF2-40B4-BE49-F238E27FC236}">
                <a16:creationId xmlns:a16="http://schemas.microsoft.com/office/drawing/2014/main" id="{2947D287-5D0F-4CC2-99F5-323C5E66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343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SIZES + CONSTRUCTS</a:t>
            </a:r>
          </a:p>
        </p:txBody>
      </p:sp>
      <p:sp>
        <p:nvSpPr>
          <p:cNvPr id="46" name="metric-perturbation challenges">
            <a:extLst xmlns:a="http://schemas.openxmlformats.org/drawingml/2006/main">
              <a:ext uri="{FF2B5EF4-FFF2-40B4-BE49-F238E27FC236}">
                <a16:creationId xmlns:a16="http://schemas.microsoft.com/office/drawing/2014/main" id="{1FD2E1E0-566E-43FF-A0E6-5FF4944D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81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CODE</a:t>
            </a:r>
          </a:p>
        </p:txBody>
      </p:sp>
      <p:sp>
        <p:nvSpPr>
          <p:cNvPr id="47" name="metric-caption-perturbation challenges">
            <a:extLst xmlns:a="http://schemas.openxmlformats.org/drawingml/2006/main">
              <a:ext uri="{FF2B5EF4-FFF2-40B4-BE49-F238E27FC236}">
                <a16:creationId xmlns:a16="http://schemas.microsoft.com/office/drawing/2014/main" id="{5E124255-A864-4507-BBE7-34D307FA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343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ISSUES THE PERMIT</a:t>
            </a:r>
          </a:p>
        </p:txBody>
      </p:sp>
      <p:sp>
        <p:nvSpPr>
          <p:cNvPr id="48" name="authority-close">
            <a:extLst xmlns:a="http://schemas.openxmlformats.org/drawingml/2006/main">
              <a:ext uri="{FF2B5EF4-FFF2-40B4-BE49-F238E27FC236}">
                <a16:creationId xmlns:a16="http://schemas.microsoft.com/office/drawing/2014/main" id="{E344E76A-3DBE-4EF8-89BC-6B3FA8AD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5300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The model never writes the order.</a:t>
            </a:r>
          </a:p>
        </p:txBody>
      </p:sp>
    </p:spTree>
    <p:extLst>
      <p:ext uri="{BB962C8B-B14F-4D97-AF65-F5344CB8AC3E}">
        <p14:creationId xmlns:p14="http://schemas.microsoft.com/office/powerpoint/2010/main" val="16332096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label-The product-58-32">
            <a:extLst xmlns:a="http://schemas.openxmlformats.org/drawingml/2006/main">
              <a:ext uri="{FF2B5EF4-FFF2-40B4-BE49-F238E27FC236}">
                <a16:creationId xmlns:a16="http://schemas.microsoft.com/office/drawing/2014/main" id="{21DF212B-9426-4EAC-AF38-BB6EDABA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WATCH IT RUN</a:t>
            </a:r>
          </a:p>
        </p:txBody>
      </p:sp>
      <p:sp>
        <p:nvSpPr>
          <p:cNvPr id="2" name="slide-title-3">
            <a:extLst xmlns:a="http://schemas.openxmlformats.org/drawingml/2006/main">
              <a:ext uri="{FF2B5EF4-FFF2-40B4-BE49-F238E27FC236}">
                <a16:creationId xmlns:a16="http://schemas.microsoft.com/office/drawing/2014/main" id="{640ACDAF-7F29-4E0F-9032-427BEF86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The $100,000 paper account turns historical upside into a forward test.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4400CE-DECB-449E-94B7-44DF7803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36910DE1-CC24-4C14-A559-5CF03228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3">
            <a:extLst xmlns:a="http://schemas.openxmlformats.org/drawingml/2006/main">
              <a:ext uri="{FF2B5EF4-FFF2-40B4-BE49-F238E27FC236}">
                <a16:creationId xmlns:a16="http://schemas.microsoft.com/office/drawing/2014/main" id="{06BB7286-6D5E-477C-9C8F-459E8132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product-frame">
            <a:extLst xmlns:a="http://schemas.openxmlformats.org/drawingml/2006/main">
              <a:ext uri="{FF2B5EF4-FFF2-40B4-BE49-F238E27FC236}">
                <a16:creationId xmlns:a16="http://schemas.microsoft.com/office/drawing/2014/main" id="{AD6F12C5-BA9F-4C8E-9A78-A2D9F34F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767715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CC7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c9ac5d6e34b8e"/>
          <a:srcRect xmlns:a="http://schemas.openxmlformats.org/drawingml/2006/main" l="0" t="5441" r="0" b="54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85800" y="2000250"/>
            <a:ext cx="7410450" cy="3714750"/>
          </a:xfrm>
          <a:prstGeom xmlns:a="http://schemas.openxmlformats.org/drawingml/2006/main" prst="rect">
            <a:avLst/>
          </a:prstGeom>
        </p:spPr>
      </p:pic>
      <p:sp>
        <p:nvSpPr>
          <p:cNvPr id="8" name="label-Visible on the site-904-214">
            <a:extLst xmlns:a="http://schemas.openxmlformats.org/drawingml/2006/main">
              <a:ext uri="{FF2B5EF4-FFF2-40B4-BE49-F238E27FC236}">
                <a16:creationId xmlns:a16="http://schemas.microsoft.com/office/drawing/2014/main" id="{F6AB06B1-682C-48E8-A8AF-E5E1AB32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383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WHAT JUDGES CAN SEE</a:t>
            </a:r>
          </a:p>
        </p:txBody>
      </p:sp>
      <p:sp>
        <p:nvSpPr>
          <p:cNvPr id="9" name="metric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43C106F4-DBC2-4152-8762-7035B6BD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812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VERIFIED</a:t>
            </a:r>
          </a:p>
        </p:txBody>
      </p:sp>
      <p:sp>
        <p:nvSpPr>
          <p:cNvPr id="10" name="metric-caption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948EBC0F-C929-4FFA-83B0-4BD2E82F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9432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ALPACA PAPER ACCOUNT</a:t>
            </a:r>
          </a:p>
        </p:txBody>
      </p:sp>
      <p:sp>
        <p:nvSpPr>
          <p:cNvPr id="11" name="metric-consumed sessions">
            <a:extLst xmlns:a="http://schemas.openxmlformats.org/drawingml/2006/main">
              <a:ext uri="{FF2B5EF4-FFF2-40B4-BE49-F238E27FC236}">
                <a16:creationId xmlns:a16="http://schemas.microsoft.com/office/drawing/2014/main" id="{C1C5A3EF-9B08-41FB-A4DB-87F77267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4861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$100,000</a:t>
            </a:r>
          </a:p>
        </p:txBody>
      </p:sp>
      <p:sp>
        <p:nvSpPr>
          <p:cNvPr id="12" name="metric-caption-consumed sessions">
            <a:extLst xmlns:a="http://schemas.openxmlformats.org/drawingml/2006/main">
              <a:ext uri="{FF2B5EF4-FFF2-40B4-BE49-F238E27FC236}">
                <a16:creationId xmlns:a16="http://schemas.microsoft.com/office/drawing/2014/main" id="{8B17000F-D172-473D-9522-EC2CDA2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0481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STARTING EQUITY</a:t>
            </a:r>
          </a:p>
        </p:txBody>
      </p:sp>
      <p:sp>
        <p:nvSpPr>
          <p:cNvPr id="13" name="metric-at 25 bp per leg">
            <a:extLst xmlns:a="http://schemas.openxmlformats.org/drawingml/2006/main">
              <a:ext uri="{FF2B5EF4-FFF2-40B4-BE49-F238E27FC236}">
                <a16:creationId xmlns:a16="http://schemas.microsoft.com/office/drawing/2014/main" id="{91443F7C-8DBD-4B48-B4C6-18A6494D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5910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$500</a:t>
            </a:r>
          </a:p>
        </p:txBody>
      </p:sp>
      <p:sp>
        <p:nvSpPr>
          <p:cNvPr id="14" name="metric-caption-at 25 bp per leg">
            <a:extLst xmlns:a="http://schemas.openxmlformats.org/drawingml/2006/main">
              <a:ext uri="{FF2B5EF4-FFF2-40B4-BE49-F238E27FC236}">
                <a16:creationId xmlns:a16="http://schemas.microsoft.com/office/drawing/2014/main" id="{0DC14BDB-8EA2-47A5-9701-5A63D6A9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1530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PER-TRADE RISK CEILING</a:t>
            </a:r>
          </a:p>
        </p:txBody>
      </p:sp>
      <p:sp>
        <p:nvSpPr>
          <p:cNvPr id="15" name="product-boundary">
            <a:extLst xmlns:a="http://schemas.openxmlformats.org/drawingml/2006/main">
              <a:ext uri="{FF2B5EF4-FFF2-40B4-BE49-F238E27FC236}">
                <a16:creationId xmlns:a16="http://schemas.microsoft.com/office/drawing/2014/main" id="{8C644FD5-C4ED-4870-BD5C-48CD053E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619750"/>
            <a:ext cx="274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02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The research gate treated the upside as a reason to test G4—not a statistical promotion. A human froze the contest allocation; this account supplies the separate score.</a:t>
            </a:r>
          </a:p>
        </p:txBody>
      </p:sp>
    </p:spTree>
    <p:extLst>
      <p:ext uri="{BB962C8B-B14F-4D97-AF65-F5344CB8AC3E}">
        <p14:creationId xmlns:p14="http://schemas.microsoft.com/office/powerpoint/2010/main" val="8113267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label-Small-account feasibility-58-32">
            <a:extLst xmlns:a="http://schemas.openxmlformats.org/drawingml/2006/main">
              <a:ext uri="{FF2B5EF4-FFF2-40B4-BE49-F238E27FC236}">
                <a16:creationId xmlns:a16="http://schemas.microsoft.com/office/drawing/2014/main" id="{9B081491-0B9F-4F4F-ACD5-8D39FA7C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SEE THE RISK FIRST</a:t>
            </a:r>
          </a:p>
        </p:txBody>
      </p:sp>
      <p:sp>
        <p:nvSpPr>
          <p:cNvPr id="2" name="slide-title-6">
            <a:extLst xmlns:a="http://schemas.openxmlformats.org/drawingml/2006/main">
              <a:ext uri="{FF2B5EF4-FFF2-40B4-BE49-F238E27FC236}">
                <a16:creationId xmlns:a16="http://schemas.microsoft.com/office/drawing/2014/main" id="{3DE694FA-1336-4208-967E-4D184C95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Before Finly sends an order, it shows the exact downside.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B1A30-E373-4C32-869B-36307EDD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252132A0-5F3D-4190-9277-720B5665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6">
            <a:extLst xmlns:a="http://schemas.openxmlformats.org/drawingml/2006/main">
              <a:ext uri="{FF2B5EF4-FFF2-40B4-BE49-F238E27FC236}">
                <a16:creationId xmlns:a16="http://schemas.microsoft.com/office/drawing/2014/main" id="{ECEDF512-E7C1-4E86-A7FC-3FE3DC5B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label-Starting equity-86-226">
            <a:extLst xmlns:a="http://schemas.openxmlformats.org/drawingml/2006/main">
              <a:ext uri="{FF2B5EF4-FFF2-40B4-BE49-F238E27FC236}">
                <a16:creationId xmlns:a16="http://schemas.microsoft.com/office/drawing/2014/main" id="{687147D2-4564-4170-A2ED-E395A95A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MAXIMUM LOSS</a:t>
            </a:r>
          </a:p>
        </p:txBody>
      </p:sp>
      <p:sp>
        <p:nvSpPr>
          <p:cNvPr id="7" name="start-equity">
            <a:extLst xmlns:a="http://schemas.openxmlformats.org/drawingml/2006/main">
              <a:ext uri="{FF2B5EF4-FFF2-40B4-BE49-F238E27FC236}">
                <a16:creationId xmlns:a16="http://schemas.microsoft.com/office/drawing/2014/main" id="{D7BDECB9-BBFC-4112-8538-3802683B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304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4800" b="1" i="0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$366</a:t>
            </a:r>
          </a:p>
        </p:txBody>
      </p:sp>
      <p:sp>
        <p:nvSpPr>
          <p:cNvPr id="8" name="equity-arrow">
            <a:extLst xmlns:a="http://schemas.openxmlformats.org/drawingml/2006/main">
              <a:ext uri="{FF2B5EF4-FFF2-40B4-BE49-F238E27FC236}">
                <a16:creationId xmlns:a16="http://schemas.microsoft.com/office/drawing/2014/main" id="{795DC0C7-1D98-4952-A5E1-10E1E118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647950"/>
            <a:ext cx="114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405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405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VS</a:t>
            </a:r>
          </a:p>
        </p:txBody>
      </p:sp>
      <p:sp>
        <p:nvSpPr>
          <p:cNvPr id="9" name="label-Ending equity-580-226">
            <a:extLst xmlns:a="http://schemas.openxmlformats.org/drawingml/2006/main">
              <a:ext uri="{FF2B5EF4-FFF2-40B4-BE49-F238E27FC236}">
                <a16:creationId xmlns:a16="http://schemas.microsoft.com/office/drawing/2014/main" id="{1F0BDD7C-6C26-4AB8-8749-E9EE592D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526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MAXIMUM GAIN</a:t>
            </a:r>
          </a:p>
        </p:txBody>
      </p:sp>
      <p:sp>
        <p:nvSpPr>
          <p:cNvPr id="10" name="end-equity">
            <a:extLst xmlns:a="http://schemas.openxmlformats.org/drawingml/2006/main">
              <a:ext uri="{FF2B5EF4-FFF2-40B4-BE49-F238E27FC236}">
                <a16:creationId xmlns:a16="http://schemas.microsoft.com/office/drawing/2014/main" id="{40F5DFB1-BD6A-4113-AB35-DED73FAE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53365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17324D"/>
                </a:solidFill>
                <a:latin typeface="Georgia"/>
                <a:ea typeface="Georgia"/>
                <a:cs typeface="Georgia"/>
              </a:defRPr>
            </a:pPr>
            <a:r>
              <a:rPr sz="4800" b="1" i="0">
                <a:solidFill>
                  <a:srgbClr val="17324D"/>
                </a:solidFill>
                <a:latin typeface="Georgia"/>
                <a:ea typeface="Georgia"/>
                <a:cs typeface="Georgia"/>
              </a:rPr>
              <a:t>$634</a:t>
            </a:r>
          </a:p>
        </p:txBody>
      </p:sp>
      <p:sp>
        <p:nvSpPr>
          <p:cNvPr id="11" name="equity-return">
            <a:extLst xmlns:a="http://schemas.openxmlformats.org/drawingml/2006/main">
              <a:ext uri="{FF2B5EF4-FFF2-40B4-BE49-F238E27FC236}">
                <a16:creationId xmlns:a16="http://schemas.microsoft.com/office/drawing/2014/main" id="{BE95903A-D252-4D0C-B8C1-4E9F3030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909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One-contract SPY debit vertical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0671AF-4A7B-4FCE-BA19-46ED6853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0D2B43"/>
            </a:solidFill>
            <a:prstDash val="solid"/>
          </a:ln>
        </p:spPr>
      </p:sp>
      <p:sp>
        <p:nvSpPr>
          <p:cNvPr id="13" name="metric-minimum order notional">
            <a:extLst xmlns:a="http://schemas.openxmlformats.org/drawingml/2006/main">
              <a:ext uri="{FF2B5EF4-FFF2-40B4-BE49-F238E27FC236}">
                <a16:creationId xmlns:a16="http://schemas.microsoft.com/office/drawing/2014/main" id="{4A025178-3887-418C-A637-F89A4AB1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577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4/4</a:t>
            </a:r>
          </a:p>
        </p:txBody>
      </p:sp>
      <p:sp>
        <p:nvSpPr>
          <p:cNvPr id="14" name="metric-caption-minimum order notional">
            <a:extLst xmlns:a="http://schemas.openxmlformats.org/drawingml/2006/main">
              <a:ext uri="{FF2B5EF4-FFF2-40B4-BE49-F238E27FC236}">
                <a16:creationId xmlns:a16="http://schemas.microsoft.com/office/drawing/2014/main" id="{D15A2B91-48D2-41E1-AECC-A7473C98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1967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SOURCE REMOVALS PASSED</a:t>
            </a:r>
          </a:p>
        </p:txBody>
      </p:sp>
      <p:sp>
        <p:nvSpPr>
          <p:cNvPr id="15" name="metric-sell-day fee proxy">
            <a:extLst xmlns:a="http://schemas.openxmlformats.org/drawingml/2006/main">
              <a:ext uri="{FF2B5EF4-FFF2-40B4-BE49-F238E27FC236}">
                <a16:creationId xmlns:a16="http://schemas.microsoft.com/office/drawing/2014/main" id="{67B0CC0B-E078-4CB0-9BC2-38401183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32/32</a:t>
            </a:r>
          </a:p>
        </p:txBody>
      </p:sp>
      <p:sp>
        <p:nvSpPr>
          <p:cNvPr id="16" name="metric-caption-sell-day fee proxy">
            <a:extLst xmlns:a="http://schemas.openxmlformats.org/drawingml/2006/main">
              <a:ext uri="{FF2B5EF4-FFF2-40B4-BE49-F238E27FC236}">
                <a16:creationId xmlns:a16="http://schemas.microsoft.com/office/drawing/2014/main" id="{5F8F19C1-EC5D-483E-9525-D6217397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0196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PERTURBATIONS PASSED</a:t>
            </a:r>
          </a:p>
        </p:txBody>
      </p:sp>
      <p:sp>
        <p:nvSpPr>
          <p:cNvPr id="17" name="metric-sub-minimum orders skipped">
            <a:extLst xmlns:a="http://schemas.openxmlformats.org/drawingml/2006/main">
              <a:ext uri="{FF2B5EF4-FFF2-40B4-BE49-F238E27FC236}">
                <a16:creationId xmlns:a16="http://schemas.microsoft.com/office/drawing/2014/main" id="{6F2C6B57-12A8-44AE-AD88-E5075F92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4577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EXACT</a:t>
            </a:r>
          </a:p>
        </p:txBody>
      </p:sp>
      <p:sp>
        <p:nvSpPr>
          <p:cNvPr id="18" name="metric-caption-sub-minimum orders skipped">
            <a:extLst xmlns:a="http://schemas.openxmlformats.org/drawingml/2006/main">
              <a:ext uri="{FF2B5EF4-FFF2-40B4-BE49-F238E27FC236}">
                <a16:creationId xmlns:a16="http://schemas.microsoft.com/office/drawing/2014/main" id="{46CFCFA7-DA3F-4490-BC33-21A7BFF0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0196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ALPACA-COMPATIBLE FIELDS</a:t>
            </a:r>
          </a:p>
        </p:txBody>
      </p:sp>
      <p:sp>
        <p:nvSpPr>
          <p:cNvPr id="19" name="small-account-boundary">
            <a:extLst xmlns:a="http://schemas.openxmlformats.org/drawingml/2006/main">
              <a:ext uri="{FF2B5EF4-FFF2-40B4-BE49-F238E27FC236}">
                <a16:creationId xmlns:a16="http://schemas.microsoft.com/office/drawing/2014/main" id="{CB9B2EF6-214E-40B5-ABCC-1008A576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0" i="1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68706F"/>
                </a:solidFill>
                <a:latin typeface="Arial"/>
                <a:ea typeface="Arial"/>
                <a:cs typeface="Arial"/>
              </a:rPr>
              <a:t>If the evidence or the numbers change, Finly stops the trade.</a:t>
            </a:r>
          </a:p>
        </p:txBody>
      </p:sp>
    </p:spTree>
    <p:extLst>
      <p:ext uri="{BB962C8B-B14F-4D97-AF65-F5344CB8AC3E}">
        <p14:creationId xmlns:p14="http://schemas.microsoft.com/office/powerpoint/2010/main" val="4314509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label-Forward proof-58-32">
            <a:extLst xmlns:a="http://schemas.openxmlformats.org/drawingml/2006/main">
              <a:ext uri="{FF2B5EF4-FFF2-40B4-BE49-F238E27FC236}">
                <a16:creationId xmlns:a16="http://schemas.microsoft.com/office/drawing/2014/main" id="{6ACF7A3F-C5A1-4AE3-8DF2-0910E9A5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WE BUILT THE CHECKS IN</a:t>
            </a:r>
          </a:p>
        </p:txBody>
      </p:sp>
      <p:sp>
        <p:nvSpPr>
          <p:cNvPr id="2" name="slide-title-8">
            <a:extLst xmlns:a="http://schemas.openxmlformats.org/drawingml/2006/main">
              <a:ext uri="{FF2B5EF4-FFF2-40B4-BE49-F238E27FC236}">
                <a16:creationId xmlns:a16="http://schemas.microsoft.com/office/drawing/2014/main" id="{0BF2187E-DD90-444B-BBDC-68977FAD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Every Finly decision comes with a receipt.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ECCC5-1FED-40D8-BB28-608D943C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E7482"/>
            </a:solidFill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E1E39969-1921-4C18-89E3-02726A2AA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8">
            <a:extLst xmlns:a="http://schemas.openxmlformats.org/drawingml/2006/main">
              <a:ext uri="{FF2B5EF4-FFF2-40B4-BE49-F238E27FC236}">
                <a16:creationId xmlns:a16="http://schemas.microsoft.com/office/drawing/2014/main" id="{E316E011-31FD-43AE-9852-5216AC46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label-Public before the first signal-64-210">
            <a:extLst xmlns:a="http://schemas.openxmlformats.org/drawingml/2006/main">
              <a:ext uri="{FF2B5EF4-FFF2-40B4-BE49-F238E27FC236}">
                <a16:creationId xmlns:a16="http://schemas.microsoft.com/office/drawing/2014/main" id="{F35D3F03-5F0A-421E-A684-5AAC28EB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WHAT'S IN THE RECEIPT</a:t>
            </a:r>
          </a:p>
        </p:txBody>
      </p:sp>
      <p:sp>
        <p:nvSpPr>
          <p:cNvPr id="7" name="attempt-title">
            <a:extLst xmlns:a="http://schemas.openxmlformats.org/drawingml/2006/main">
              <a:ext uri="{FF2B5EF4-FFF2-40B4-BE49-F238E27FC236}">
                <a16:creationId xmlns:a16="http://schemas.microsoft.com/office/drawing/2014/main" id="{B91E7975-DD57-4745-95B4-5D31DE94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619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The evidence, the trade, the risk, and the result.</a:t>
            </a:r>
          </a:p>
        </p:txBody>
      </p:sp>
      <p:sp>
        <p:nvSpPr>
          <p:cNvPr id="8" name="attempt-copy">
            <a:extLst xmlns:a="http://schemas.openxmlformats.org/drawingml/2006/main">
              <a:ext uri="{FF2B5EF4-FFF2-40B4-BE49-F238E27FC236}">
                <a16:creationId xmlns:a16="http://schemas.microsoft.com/office/drawing/2014/main" id="{2E5D9F72-DFB3-40D6-B90B-4F0478E5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5334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CBD4D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CBD4D6"/>
                </a:solidFill>
                <a:latin typeface="Arial"/>
                <a:ea typeface="Arial"/>
                <a:cs typeface="Arial"/>
              </a:rPr>
              <a:t>A judge can see what the AI concluded, what code built, what changed during testing, and what happened next. The receipt links back to the data and code behind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035B69-DC3A-473D-9A0B-16473891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621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E7482"/>
            </a:solidFill>
            <a:prstDash val="solid"/>
          </a:ln>
        </p:spPr>
      </p:sp>
      <p:sp>
        <p:nvSpPr>
          <p:cNvPr id="10" name="metric-runtime-bound files matched">
            <a:extLst xmlns:a="http://schemas.openxmlformats.org/drawingml/2006/main">
              <a:ext uri="{FF2B5EF4-FFF2-40B4-BE49-F238E27FC236}">
                <a16:creationId xmlns:a16="http://schemas.microsoft.com/office/drawing/2014/main" id="{B4D66D95-E9E8-45A4-BA66-D12DCBFB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76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VIEW</a:t>
            </a:r>
          </a:p>
        </p:txBody>
      </p:sp>
      <p:sp>
        <p:nvSpPr>
          <p:cNvPr id="11" name="metric-caption-runtime-bound files matched">
            <a:extLst xmlns:a="http://schemas.openxmlformats.org/drawingml/2006/main">
              <a:ext uri="{FF2B5EF4-FFF2-40B4-BE49-F238E27FC236}">
                <a16:creationId xmlns:a16="http://schemas.microsoft.com/office/drawing/2014/main" id="{98B327E9-A557-4FE1-980B-48AD4D3D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3842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WHAT THE AI CONCLUDED</a:t>
            </a:r>
          </a:p>
        </p:txBody>
      </p:sp>
      <p:sp>
        <p:nvSpPr>
          <p:cNvPr id="12" name="metric-fixed public GET checks">
            <a:extLst xmlns:a="http://schemas.openxmlformats.org/drawingml/2006/main">
              <a:ext uri="{FF2B5EF4-FFF2-40B4-BE49-F238E27FC236}">
                <a16:creationId xmlns:a16="http://schemas.microsoft.com/office/drawing/2014/main" id="{A6E9651B-DAA4-4DFB-88CC-F93D02A6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764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ORDER</a:t>
            </a:r>
          </a:p>
        </p:txBody>
      </p:sp>
      <p:sp>
        <p:nvSpPr>
          <p:cNvPr id="13" name="metric-caption-fixed public GET checks">
            <a:extLst xmlns:a="http://schemas.openxmlformats.org/drawingml/2006/main">
              <a:ext uri="{FF2B5EF4-FFF2-40B4-BE49-F238E27FC236}">
                <a16:creationId xmlns:a16="http://schemas.microsoft.com/office/drawing/2014/main" id="{1F9A1FDF-56E0-4A20-9EF6-84CC4367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384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WHAT CODE BUILT</a:t>
            </a:r>
          </a:p>
        </p:txBody>
      </p:sp>
      <p:sp>
        <p:nvSpPr>
          <p:cNvPr id="14" name="metric-timely signal anchors required">
            <a:extLst xmlns:a="http://schemas.openxmlformats.org/drawingml/2006/main">
              <a:ext uri="{FF2B5EF4-FFF2-40B4-BE49-F238E27FC236}">
                <a16:creationId xmlns:a16="http://schemas.microsoft.com/office/drawing/2014/main" id="{F3808D7B-05B0-4899-86BA-8FCD7DFF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TESTS</a:t>
            </a:r>
          </a:p>
        </p:txBody>
      </p:sp>
      <p:sp>
        <p:nvSpPr>
          <p:cNvPr id="15" name="metric-caption-timely signal anchors required">
            <a:extLst xmlns:a="http://schemas.openxmlformats.org/drawingml/2006/main">
              <a:ext uri="{FF2B5EF4-FFF2-40B4-BE49-F238E27FC236}">
                <a16:creationId xmlns:a16="http://schemas.microsoft.com/office/drawing/2014/main" id="{7A86783B-6107-4828-A484-CB293479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3382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WHAT CHANGED UNDER STRESS</a:t>
            </a:r>
          </a:p>
        </p:txBody>
      </p:sp>
      <p:sp>
        <p:nvSpPr>
          <p:cNvPr id="16" name="metric-reconciled settlements required">
            <a:extLst xmlns:a="http://schemas.openxmlformats.org/drawingml/2006/main">
              <a:ext uri="{FF2B5EF4-FFF2-40B4-BE49-F238E27FC236}">
                <a16:creationId xmlns:a16="http://schemas.microsoft.com/office/drawing/2014/main" id="{9E7B3311-BCE3-46B5-ABF1-8BD4AC3E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718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F7D68"/>
                </a:solidFill>
                <a:latin typeface="Georgia"/>
                <a:ea typeface="Georgia"/>
                <a:cs typeface="Georgia"/>
              </a:rPr>
              <a:t>LOG</a:t>
            </a:r>
          </a:p>
        </p:txBody>
      </p:sp>
      <p:sp>
        <p:nvSpPr>
          <p:cNvPr id="17" name="metric-caption-reconciled settlements required">
            <a:extLst xmlns:a="http://schemas.openxmlformats.org/drawingml/2006/main">
              <a:ext uri="{FF2B5EF4-FFF2-40B4-BE49-F238E27FC236}">
                <a16:creationId xmlns:a16="http://schemas.microsoft.com/office/drawing/2014/main" id="{43C443A3-B990-4AEC-83DF-C7F4E9D2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9338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WHAT HAPPENED NEXT</a:t>
            </a:r>
          </a:p>
        </p:txBody>
      </p:sp>
      <p:sp>
        <p:nvSpPr>
          <p:cNvPr id="18" name="attempt-gate">
            <a:extLst xmlns:a="http://schemas.openxmlformats.org/drawingml/2006/main">
              <a:ext uri="{FF2B5EF4-FFF2-40B4-BE49-F238E27FC236}">
                <a16:creationId xmlns:a16="http://schemas.microsoft.com/office/drawing/2014/main" id="{30097F05-6D04-4EC5-AA09-9BCA7950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62500"/>
            <a:ext cx="48768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5"/>
          </a:solidFill>
          <a:ln xmlns:a="http://schemas.openxmlformats.org/drawingml/2006/main" w="9525">
            <a:solidFill>
              <a:srgbClr val="527087"/>
            </a:solidFill>
            <a:prstDash val="solid"/>
          </a:ln>
        </p:spPr>
      </p:sp>
      <p:sp>
        <p:nvSpPr>
          <p:cNvPr id="19" name="attempt-gate-copy">
            <a:extLst xmlns:a="http://schemas.openxmlformats.org/drawingml/2006/main">
              <a:ext uri="{FF2B5EF4-FFF2-40B4-BE49-F238E27FC236}">
                <a16:creationId xmlns:a16="http://schemas.microsoft.com/office/drawing/2014/main" id="{FB63EABB-AB7B-4EF2-9FEB-63AB2ACC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91100"/>
            <a:ext cx="438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14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806 TESTS DISCOVERED · 804 PASSED · 0 FAILED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Cloud run · exact revision · Alpaca paper account</a:t>
            </a:r>
          </a:p>
        </p:txBody>
      </p:sp>
      <p:sp>
        <p:nvSpPr>
          <p:cNvPr id="20" name="attempt-boundary">
            <a:extLst xmlns:a="http://schemas.openxmlformats.org/drawingml/2006/main">
              <a:ext uri="{FF2B5EF4-FFF2-40B4-BE49-F238E27FC236}">
                <a16:creationId xmlns:a16="http://schemas.microsoft.com/office/drawing/2014/main" id="{20B72F92-15F5-4E2E-A8E4-9AA3322E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533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1">
                <a:solidFill>
                  <a:srgbClr val="9AB0B6"/>
                </a:solidFill>
                <a:latin typeface="Arial"/>
                <a:ea typeface="Arial"/>
                <a:cs typeface="Arial"/>
              </a:defRPr>
            </a:pPr>
            <a:r>
              <a:rPr sz="1125" b="0" i="1">
                <a:solidFill>
                  <a:srgbClr val="9AB0B6"/>
                </a:solidFill>
                <a:latin typeface="Arial"/>
                <a:ea typeface="Arial"/>
                <a:cs typeface="Arial"/>
              </a:rPr>
              <a:t>Open the receipt or run the tests yourself.</a:t>
            </a:r>
          </a:p>
        </p:txBody>
      </p:sp>
    </p:spTree>
    <p:extLst>
      <p:ext uri="{BB962C8B-B14F-4D97-AF65-F5344CB8AC3E}">
        <p14:creationId xmlns:p14="http://schemas.microsoft.com/office/powerpoint/2010/main" val="12077899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label-Why Finly-58-32">
            <a:extLst xmlns:a="http://schemas.openxmlformats.org/drawingml/2006/main">
              <a:ext uri="{FF2B5EF4-FFF2-40B4-BE49-F238E27FC236}">
                <a16:creationId xmlns:a16="http://schemas.microsoft.com/office/drawing/2014/main" id="{AF51A8D4-1333-46A3-8C5B-8378621B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TRY FINLY</a:t>
            </a:r>
          </a:p>
        </p:txBody>
      </p:sp>
      <p:sp>
        <p:nvSpPr>
          <p:cNvPr id="2" name="slide-title-9">
            <a:extLst xmlns:a="http://schemas.openxmlformats.org/drawingml/2006/main">
              <a:ext uri="{FF2B5EF4-FFF2-40B4-BE49-F238E27FC236}">
                <a16:creationId xmlns:a16="http://schemas.microsoft.com/office/drawing/2014/main" id="{BD2B0582-AD28-4ED6-B290-C0F52997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Follow the paper test. Check the numbers. Read the code.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2A2D4A-BBA8-4EB6-B401-1B56159B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E7482"/>
            </a:solidFill>
            <a:prstDash val="solid"/>
          </a:ln>
        </p:spPr>
      </p:sp>
      <p:sp>
        <p:nvSpPr>
          <p:cNvPr id="4" name="footer-9">
            <a:extLst xmlns:a="http://schemas.openxmlformats.org/drawingml/2006/main">
              <a:ext uri="{FF2B5EF4-FFF2-40B4-BE49-F238E27FC236}">
                <a16:creationId xmlns:a16="http://schemas.microsoft.com/office/drawing/2014/main" id="{D5239F40-3BC0-4566-81E1-F3FAC752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AI TRADING WITH BUILT-IN CHECKS</a:t>
            </a:r>
          </a:p>
        </p:txBody>
      </p:sp>
      <p:sp>
        <p:nvSpPr>
          <p:cNvPr id="5" name="page-9">
            <a:extLst xmlns:a="http://schemas.openxmlformats.org/drawingml/2006/main">
              <a:ext uri="{FF2B5EF4-FFF2-40B4-BE49-F238E27FC236}">
                <a16:creationId xmlns:a16="http://schemas.microsoft.com/office/drawing/2014/main" id="{B780CA56-943C-4899-8E59-0F50C8F8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label-P&amp;L evidence-58-220">
            <a:extLst xmlns:a="http://schemas.openxmlformats.org/drawingml/2006/main">
              <a:ext uri="{FF2B5EF4-FFF2-40B4-BE49-F238E27FC236}">
                <a16:creationId xmlns:a16="http://schemas.microsoft.com/office/drawing/2014/main" id="{7C12A42D-4E7C-416F-9A9C-2CAFAA1E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BACKTEST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B052C1-FF4D-4B30-BEFC-AAA773A4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B3A3A"/>
            </a:solidFill>
            <a:prstDash val="solid"/>
          </a:ln>
        </p:spPr>
      </p:sp>
      <p:sp>
        <p:nvSpPr>
          <p:cNvPr id="8" name="criterion-0">
            <a:extLst xmlns:a="http://schemas.openxmlformats.org/drawingml/2006/main">
              <a:ext uri="{FF2B5EF4-FFF2-40B4-BE49-F238E27FC236}">
                <a16:creationId xmlns:a16="http://schemas.microsoft.com/office/drawing/2014/main" id="{B9225463-DA23-4473-93E1-E13FCB663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Historical simulation: $10,000 became $106,711—$38,629 more than SPY after modeled costs.</a:t>
            </a:r>
          </a:p>
        </p:txBody>
      </p:sp>
      <p:sp>
        <p:nvSpPr>
          <p:cNvPr id="9" name="label-Technology-350-220">
            <a:extLst xmlns:a="http://schemas.openxmlformats.org/drawingml/2006/main">
              <a:ext uri="{FF2B5EF4-FFF2-40B4-BE49-F238E27FC236}">
                <a16:creationId xmlns:a16="http://schemas.microsoft.com/office/drawing/2014/main" id="{256C4D86-D7C0-4CE6-9695-BD3B5400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STRESS 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BB092-0A09-4491-8D0E-A9B7C565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1" name="criterion-1">
            <a:extLst xmlns:a="http://schemas.openxmlformats.org/drawingml/2006/main">
              <a:ext uri="{FF2B5EF4-FFF2-40B4-BE49-F238E27FC236}">
                <a16:creationId xmlns:a16="http://schemas.microsoft.com/office/drawing/2014/main" id="{AA00CAF5-8E4A-4BB8-8047-B2135730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out-of-era stress test stayed ahead across 21/21 timing anchors and a 25 bp cost assumption.</a:t>
            </a:r>
          </a:p>
        </p:txBody>
      </p:sp>
      <p:sp>
        <p:nvSpPr>
          <p:cNvPr id="12" name="label-Originality-642-220">
            <a:extLst xmlns:a="http://schemas.openxmlformats.org/drawingml/2006/main">
              <a:ext uri="{FF2B5EF4-FFF2-40B4-BE49-F238E27FC236}">
                <a16:creationId xmlns:a16="http://schemas.microsoft.com/office/drawing/2014/main" id="{45842F15-702B-4340-B3D1-7151BF89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TRADE CHECKS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B6925F-EB7E-47F0-BC87-BB93BE9E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4" name="criterion-2">
            <a:extLst xmlns:a="http://schemas.openxmlformats.org/drawingml/2006/main">
              <a:ext uri="{FF2B5EF4-FFF2-40B4-BE49-F238E27FC236}">
                <a16:creationId xmlns:a16="http://schemas.microsoft.com/office/drawing/2014/main" id="{97B9F06E-8B70-42B9-92EE-7CB2045E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$366 maximum loss, $634 maximum gain, 4/4 source removals, and 32/32 input shocks.</a:t>
            </a:r>
          </a:p>
        </p:txBody>
      </p:sp>
      <p:sp>
        <p:nvSpPr>
          <p:cNvPr id="15" name="label-Forward proof-934-220">
            <a:extLst xmlns:a="http://schemas.openxmlformats.org/drawingml/2006/main">
              <a:ext uri="{FF2B5EF4-FFF2-40B4-BE49-F238E27FC236}">
                <a16:creationId xmlns:a16="http://schemas.microsoft.com/office/drawing/2014/main" id="{EA5F4AA3-B32B-4EDB-A2D6-0C9F3ACD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F7D68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F7D68"/>
                </a:solidFill>
                <a:latin typeface="Arial"/>
                <a:ea typeface="Arial"/>
                <a:cs typeface="Arial"/>
              </a:rPr>
              <a:t>LIVE ACCOUNT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0143B9-2D5A-43FC-94D8-28453DD6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7" name="criterion-3">
            <a:extLst xmlns:a="http://schemas.openxmlformats.org/drawingml/2006/main">
              <a:ext uri="{FF2B5EF4-FFF2-40B4-BE49-F238E27FC236}">
                <a16:creationId xmlns:a16="http://schemas.microsoft.com/office/drawing/2014/main" id="{C322C23B-406F-40A1-B5EA-72A2BE3F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verified $100,000 Alpaca paper account makes every new decision visible and inspectable.</a:t>
            </a:r>
          </a:p>
        </p:txBody>
      </p:sp>
      <p:sp>
        <p:nvSpPr>
          <p:cNvPr id="18" name="closing-line">
            <a:extLst xmlns:a="http://schemas.openxmlformats.org/drawingml/2006/main">
              <a:ext uri="{FF2B5EF4-FFF2-40B4-BE49-F238E27FC236}">
                <a16:creationId xmlns:a16="http://schemas.microsoft.com/office/drawing/2014/main" id="{FDCEE1D7-D104-4C34-A622-0181A270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10629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AI reads the market. Code guards the account.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owlsowo.github.io/finly-bot</a:t>
            </a:r>
          </a:p>
        </p:txBody>
      </p:sp>
    </p:spTree>
    <p:extLst>
      <p:ext uri="{BB962C8B-B14F-4D97-AF65-F5344CB8AC3E}">
        <p14:creationId xmlns:p14="http://schemas.microsoft.com/office/powerpoint/2010/main" val="609388274"/>
      </p:ext>
    </p:extLst>
  </p:cSld>
</p:sld>
</file>

<file path=ppt/theme/theme1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2026-08-31T10:35:38.8310000Z</dcterms:created>
  <dcterms:modified xsi:type="dcterms:W3CDTF">2026-08-31T10:35:38.8310000Z</dcterms:modified>
</coreProperties>
</file>