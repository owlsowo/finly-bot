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1307c96fb043d5" /><Relationship Type="http://schemas.openxmlformats.org/officeDocument/2006/relationships/extended-properties" Target="/docProps/app.xml" Id="R0b9e0f58906a4455" /><Relationship Type="http://schemas.openxmlformats.org/officeDocument/2006/relationships/officeDocument" Target="/ppt/presentation.xml" Id="R95fedb102e89411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866c0e51326477f"/>
  </p:sldMasterIdLst>
  <p:notesMasterIdLst>
    <p:notesMasterId xmlns:r="http://schemas.openxmlformats.org/officeDocument/2006/relationships" r:id="R875e3baa9b3f444f"/>
  </p:notesMasterIdLst>
  <p:sldIdLst>
    <p:sldId xmlns:r="http://schemas.openxmlformats.org/officeDocument/2006/relationships" id="256" r:id="R7e37f49797694a9f"/>
    <p:sldId xmlns:r="http://schemas.openxmlformats.org/officeDocument/2006/relationships" id="257" r:id="R2c066df18f6f43ae"/>
    <p:sldId xmlns:r="http://schemas.openxmlformats.org/officeDocument/2006/relationships" id="258" r:id="Rcc9bc909400041f4"/>
    <p:sldId xmlns:r="http://schemas.openxmlformats.org/officeDocument/2006/relationships" id="259" r:id="Rb4c20bb7c8164ec9"/>
    <p:sldId xmlns:r="http://schemas.openxmlformats.org/officeDocument/2006/relationships" id="260" r:id="R48b29775b26f44a3"/>
    <p:sldId xmlns:r="http://schemas.openxmlformats.org/officeDocument/2006/relationships" id="261" r:id="R9e88ae65566c4d51"/>
    <p:sldId xmlns:r="http://schemas.openxmlformats.org/officeDocument/2006/relationships" id="262" r:id="Rcff0e5c4d26a4274"/>
    <p:sldId xmlns:r="http://schemas.openxmlformats.org/officeDocument/2006/relationships" id="263" r:id="R3c0400055abd4481"/>
    <p:sldId xmlns:r="http://schemas.openxmlformats.org/officeDocument/2006/relationships" id="264" r:id="Rfca0ba62da8e4cd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ae8b964b45e4f13" /><Relationship Type="http://schemas.openxmlformats.org/officeDocument/2006/relationships/slideMaster" Target="/ppt/slideMasters/slideMaster1.xml" Id="R0866c0e51326477f" /><Relationship Type="http://schemas.openxmlformats.org/officeDocument/2006/relationships/notesMaster" Target="/ppt/notesMasters/notesMaster1.xml" Id="R875e3baa9b3f444f" /><Relationship Type="http://schemas.openxmlformats.org/officeDocument/2006/relationships/presProps" Target="/ppt/presProps.xml" Id="Rff56bcf7bb814cd2" /><Relationship Type="http://schemas.openxmlformats.org/officeDocument/2006/relationships/tableStyles" Target="/ppt/tableStyles.xml" Id="R8ab8c96dc30b4e28" /><Relationship Type="http://schemas.openxmlformats.org/officeDocument/2006/relationships/slide" Target="/ppt/slides/slide1.xml" Id="R7e37f49797694a9f" /><Relationship Type="http://schemas.openxmlformats.org/officeDocument/2006/relationships/slide" Target="/ppt/slides/slide2.xml" Id="R2c066df18f6f43ae" /><Relationship Type="http://schemas.openxmlformats.org/officeDocument/2006/relationships/slide" Target="/ppt/slides/slide3.xml" Id="Rcc9bc909400041f4" /><Relationship Type="http://schemas.openxmlformats.org/officeDocument/2006/relationships/slide" Target="/ppt/slides/slide4.xml" Id="Rb4c20bb7c8164ec9" /><Relationship Type="http://schemas.openxmlformats.org/officeDocument/2006/relationships/slide" Target="/ppt/slides/slide5.xml" Id="R48b29775b26f44a3" /><Relationship Type="http://schemas.openxmlformats.org/officeDocument/2006/relationships/slide" Target="/ppt/slides/slide6.xml" Id="R9e88ae65566c4d51" /><Relationship Type="http://schemas.openxmlformats.org/officeDocument/2006/relationships/slide" Target="/ppt/slides/slide7.xml" Id="Rcff0e5c4d26a4274" /><Relationship Type="http://schemas.openxmlformats.org/officeDocument/2006/relationships/slide" Target="/ppt/slides/slide8.xml" Id="R3c0400055abd4481" /><Relationship Type="http://schemas.openxmlformats.org/officeDocument/2006/relationships/slide" Target="/ppt/slides/slide9.xml" Id="Rfca0ba62da8e4cd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178e58ce7b405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Finly">
  <a:themeElements>
    <a:clrScheme name="Finly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Finl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c29365614a24625" /><Relationship Type="http://schemas.openxmlformats.org/officeDocument/2006/relationships/notesMaster" Target="/ppt/notesMasters/notesMaster1.xml" Id="Rcf3be661800f42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acec1d3ddf4ad8" /><Relationship Type="http://schemas.openxmlformats.org/officeDocument/2006/relationships/notesMaster" Target="/ppt/notesMasters/notesMaster1.xml" Id="R4d92083e7222443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523e3dfc4894443" /><Relationship Type="http://schemas.openxmlformats.org/officeDocument/2006/relationships/notesMaster" Target="/ppt/notesMasters/notesMaster1.xml" Id="Rd26678f4b1f543c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7d816d6b9ec4b13" /><Relationship Type="http://schemas.openxmlformats.org/officeDocument/2006/relationships/notesMaster" Target="/ppt/notesMasters/notesMaster1.xml" Id="Rfa36cecde863476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7660309b78045c8" /><Relationship Type="http://schemas.openxmlformats.org/officeDocument/2006/relationships/notesMaster" Target="/ppt/notesMasters/notesMaster1.xml" Id="Rf9923bd44a18457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43cb7e2ffa5407b" /><Relationship Type="http://schemas.openxmlformats.org/officeDocument/2006/relationships/notesMaster" Target="/ppt/notesMasters/notesMaster1.xml" Id="R14eb5a05e8d24e1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491c88412754c3f" /><Relationship Type="http://schemas.openxmlformats.org/officeDocument/2006/relationships/notesMaster" Target="/ppt/notesMasters/notesMaster1.xml" Id="Rb7a824bac49a4d5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d0e718556bc40ee" /><Relationship Type="http://schemas.openxmlformats.org/officeDocument/2006/relationships/notesMaster" Target="/ppt/notesMasters/notesMaster1.xml" Id="Rc0e82e2f095f4b3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6e2acdc97a447af" /><Relationship Type="http://schemas.openxmlformats.org/officeDocument/2006/relationships/notesMaster" Target="/ppt/notesMasters/notesMaster1.xml" Id="R4f6a83a73ac54c8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Finly project architecture and public claim registry: public/data/submission_claims_lock.json</a:t>
            </a:r>
          </a:p>
          <a:p xmlns:a="http://schemas.openxmlformats.org/drawingml/2006/main">
            <a:r>
              <a:t>- No external visual assets; the Finly mark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Finly technical paper, Sections 1 and 3.</a:t>
            </a:r>
          </a:p>
          <a:p xmlns:a="http://schemas.openxmlformats.org/drawingml/2006/main">
            <a:r>
              <a:t>- Claim boundary: public/data/submission_claims_lock.json.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Finly technical paper, Section 3.</a:t>
            </a:r>
          </a:p>
          <a:p xmlns:a="http://schemas.openxmlformats.org/drawingml/2006/main">
            <a:r>
              <a:t>- Alpaca order interface: https://docs.alpaca.markets/reference/postorder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Finly quantitative evidence surface: research/output/submission_quantitative_evidence_surface.json</a:t>
            </a:r>
          </a:p>
          <a:p xmlns:a="http://schemas.openxmlformats.org/drawingml/2006/main">
            <a:r>
              <a:t>- Locked chart series: public/data/g4_wealth_drawdown.json</a:t>
            </a:r>
          </a:p>
          <a:p xmlns:a="http://schemas.openxmlformats.org/drawingml/2006/main">
            <a:r>
              <a:t>- These figures are descriptive ETF replay results, not options P&amp;L or a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Finly claim registry: public/data/submission_claims_lock.json</a:t>
            </a:r>
          </a:p>
          <a:p xmlns:a="http://schemas.openxmlformats.org/drawingml/2006/main">
            <a:r>
              <a:t>- H. White, 'A Reality Check for Data Snooping,' Econometrica 68(5), 2000. https://doi.org/10.1111/1468-0262.00152</a:t>
            </a:r>
          </a:p>
          <a:p xmlns:a="http://schemas.openxmlformats.org/drawingml/2006/main">
            <a:r>
              <a:t>- D. Bailey and M. López de Prado, 'The Deflated Sharpe Ratio,' Journal of Portfolio Management 40(5), 2014. https://doi.org/10.3905/jpm.2014.40.5.094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Finly Generation 6 output and conservative research ledger: research/output/submission_quantitative_evidence_surface.json</a:t>
            </a:r>
          </a:p>
          <a:p xmlns:a="http://schemas.openxmlformats.org/drawingml/2006/main">
            <a:r>
              <a:t>- The attempt count is heterogeneous and must not be described as independent hypotheses.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Production-policy holdout and current proposal: public/data/submission_claims_lock.json</a:t>
            </a:r>
          </a:p>
          <a:p xmlns:a="http://schemas.openxmlformats.org/drawingml/2006/main">
            <a:r>
              <a:t>- Finly Forward Trial 1 protocol: research/forward_trial1_protocol.json</a:t>
            </a:r>
          </a:p>
          <a:p xmlns:a="http://schemas.openxmlformats.org/drawingml/2006/main">
            <a:r>
              <a:t>- Verification guide: research/FORWARD_TRIAL1.md</a:t>
            </a:r>
          </a:p>
          <a:p xmlns:a="http://schemas.openxmlformats.org/drawingml/2006/main">
            <a:r>
              <a:t>- Production policy is distinct from G4. Current state: zero commitments, zero settlements, no broker authority, and performance inference disabled.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Alpaca Options Trading documentation: https://docs.alpaca.markets/us/docs/options-trading</a:t>
            </a:r>
          </a:p>
          <a:p xmlns:a="http://schemas.openxmlformats.org/drawingml/2006/main">
            <a:r>
              <a:t>- Alpaca Create Order API: https://docs.alpaca.markets/reference/postorder</a:t>
            </a:r>
          </a:p>
          <a:p xmlns:a="http://schemas.openxmlformats.org/drawingml/2006/main">
            <a:r>
              <a:t>- Finly checked fixtures and challenge results: public/data/submission_claims_lock.json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Official Alpaca AI Trading Agents Hackathon judging criteria: P&amp;L Performance, Technology Implementation, Creativity &amp; Originality, and Presentation &amp; Execution.</a:t>
            </a:r>
          </a:p>
          <a:p xmlns:a="http://schemas.openxmlformats.org/drawingml/2006/main">
            <a:r>
              <a:t>- Event page: https://lablab.ai/ai-hackathons/alpaca-ai-trading-agents-hackathon</a:t>
            </a:r>
          </a:p>
          <a:p xmlns:a="http://schemas.openxmlformats.org/drawingml/2006/main">
            <a:r>
              <a:t>- Finly claim registry: public/data/submission_claims_lock.json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91af3a3cd24c4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fb8facac4244ca1" /><Relationship Type="http://schemas.openxmlformats.org/officeDocument/2006/relationships/slideLayout" Target="/ppt/slideLayouts/slideLayout1.xml" Id="R52c250752fbe4d3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c250752fbe4d3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Finly">
  <a:themeElements>
    <a:clrScheme name="Finly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Finl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07a4a012364cd5" /><Relationship Type="http://schemas.openxmlformats.org/officeDocument/2006/relationships/image" Target="/ppt/media/image.png" Id="R4ab8e7576d0b4924" /><Relationship Type="http://schemas.openxmlformats.org/officeDocument/2006/relationships/notesSlide" Target="/ppt/notesSlides/notesSlide1.xml" Id="R3871fa08b78b44e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2845bcacb74946" /><Relationship Type="http://schemas.openxmlformats.org/officeDocument/2006/relationships/notesSlide" Target="/ppt/notesSlides/notesSlide2.xml" Id="R4424abdcd8a34bd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48fe6cbe04400b" /><Relationship Type="http://schemas.openxmlformats.org/officeDocument/2006/relationships/notesSlide" Target="/ppt/notesSlides/notesSlide3.xml" Id="Rfd756ece33624a2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f45dff5f6347db" /><Relationship Type="http://schemas.openxmlformats.org/officeDocument/2006/relationships/image" Target="/ppt/media/image2.png" Id="R7eb5d40d51c143e6" /><Relationship Type="http://schemas.openxmlformats.org/officeDocument/2006/relationships/notesSlide" Target="/ppt/notesSlides/notesSlide4.xml" Id="R279911b0c2434a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c644e09bd64efd" /><Relationship Type="http://schemas.openxmlformats.org/officeDocument/2006/relationships/notesSlide" Target="/ppt/notesSlides/notesSlide5.xml" Id="R61dbeff5e24947b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b7fbefd72c4606" /><Relationship Type="http://schemas.openxmlformats.org/officeDocument/2006/relationships/notesSlide" Target="/ppt/notesSlides/notesSlide6.xml" Id="R82e180eac5c94ec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28935edbb94da7" /><Relationship Type="http://schemas.openxmlformats.org/officeDocument/2006/relationships/notesSlide" Target="/ppt/notesSlides/notesSlide7.xml" Id="R46d9c5129e63492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cde298040b4fe0" /><Relationship Type="http://schemas.openxmlformats.org/officeDocument/2006/relationships/notesSlide" Target="/ppt/notesSlides/notesSlide8.xml" Id="R6584708bac42430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e73678036243c7" /><Relationship Type="http://schemas.openxmlformats.org/officeDocument/2006/relationships/notesSlide" Target="/ppt/notesSlides/notesSlide9.xml" Id="R32ba63b4b3eb496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-1">
            <a:extLst xmlns:a="http://schemas.openxmlformats.org/drawingml/2006/main">
              <a:ext uri="{FF2B5EF4-FFF2-40B4-BE49-F238E27FC236}">
                <a16:creationId xmlns:a16="http://schemas.microsoft.com/office/drawing/2014/main" id="{245FCD6A-7272-4795-AEAA-0311C10F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2" name="page-1">
            <a:extLst xmlns:a="http://schemas.openxmlformats.org/drawingml/2006/main">
              <a:ext uri="{FF2B5EF4-FFF2-40B4-BE49-F238E27FC236}">
                <a16:creationId xmlns:a16="http://schemas.microsoft.com/office/drawing/2014/main" id="{7D4F5D04-424D-49CF-A5BC-43011C576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b8e7576d0b4924"/>
          <a:stretch xmlns:a="http://schemas.openxmlformats.org/drawingml/2006/main"/>
        </p:blipFill>
        <p:spPr>
          <a:xfrm xmlns:a="http://schemas.openxmlformats.org/drawingml/2006/main">
            <a:off x="590550" y="523875"/>
            <a:ext cx="723900" cy="723900"/>
          </a:xfrm>
          <a:prstGeom xmlns:a="http://schemas.openxmlformats.org/drawingml/2006/main" prst="rect">
            <a:avLst/>
          </a:prstGeom>
        </p:spPr>
      </p:pic>
      <p:sp>
        <p:nvSpPr>
          <p:cNvPr id="4" name="title-wordmark">
            <a:extLst xmlns:a="http://schemas.openxmlformats.org/drawingml/2006/main">
              <a:ext uri="{FF2B5EF4-FFF2-40B4-BE49-F238E27FC236}">
                <a16:creationId xmlns:a16="http://schemas.microsoft.com/office/drawing/2014/main" id="{C327D3EC-165F-4AAB-B640-86AA0E87F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6477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FINLY</a:t>
            </a:r>
          </a:p>
        </p:txBody>
      </p:sp>
      <p:sp>
        <p:nvSpPr>
          <p:cNvPr id="5" name="label-Controlled-delegation options agent-62-177">
            <a:extLst xmlns:a="http://schemas.openxmlformats.org/drawingml/2006/main">
              <a:ext uri="{FF2B5EF4-FFF2-40B4-BE49-F238E27FC236}">
                <a16:creationId xmlns:a16="http://schemas.microsoft.com/office/drawing/2014/main" id="{BEB76F9A-0E40-4746-90EA-90ABFB32C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85925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CONTROLLED-DELEGATION OPTIONS AGENT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A096B938-C073-4C6E-85A1-A398EC28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05025"/>
            <a:ext cx="96202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450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45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A good backtest should still have to earn the right to trade.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FA6B26-200B-4831-9EB2-2E92EF122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67200"/>
            <a:ext cx="8439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EB8A7"/>
            </a:solidFill>
            <a:prstDash val="solid"/>
          </a:ln>
        </p:spPr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13F2F2E8-8698-4CCE-A1DD-B0BD65CD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43425"/>
            <a:ext cx="8286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800" b="0" i="0">
                <a:solidFill>
                  <a:srgbClr val="D5DDD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D5DDDF"/>
                </a:solidFill>
                <a:latin typeface="Arial"/>
                <a:ea typeface="Arial"/>
                <a:cs typeface="Arial"/>
              </a:rPr>
              <a:t>Finly separates market judgment from capital-bearing authority and demonstrates the distinction by withholding promotion from its strongest internal historical candidate.</a:t>
            </a:r>
          </a:p>
        </p:txBody>
      </p:sp>
      <p:sp>
        <p:nvSpPr>
          <p:cNvPr id="9" name="author">
            <a:extLst xmlns:a="http://schemas.openxmlformats.org/drawingml/2006/main">
              <a:ext uri="{FF2B5EF4-FFF2-40B4-BE49-F238E27FC236}">
                <a16:creationId xmlns:a16="http://schemas.microsoft.com/office/drawing/2014/main" id="{16CF6532-C7BB-457D-B354-A25EB9C4B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9FB1B8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9FB1B8"/>
                </a:solidFill>
                <a:latin typeface="Arial"/>
                <a:ea typeface="Arial"/>
                <a:cs typeface="Arial"/>
              </a:rPr>
              <a:t>Bruce Wen · Brandeis University · Alpaca AI Trading Agents Hackathon</a:t>
            </a:r>
          </a:p>
        </p:txBody>
      </p:sp>
    </p:spTree>
    <p:extLst>
      <p:ext uri="{BB962C8B-B14F-4D97-AF65-F5344CB8AC3E}">
        <p14:creationId xmlns:p14="http://schemas.microsoft.com/office/powerpoint/2010/main" val="7505241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label-The design problem-58-32">
            <a:extLst xmlns:a="http://schemas.openxmlformats.org/drawingml/2006/main">
              <a:ext uri="{FF2B5EF4-FFF2-40B4-BE49-F238E27FC236}">
                <a16:creationId xmlns:a16="http://schemas.microsoft.com/office/drawing/2014/main" id="{4FB0DB63-F71D-495D-8834-D58F6128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THE DESIGN PROBLEM</a:t>
            </a:r>
          </a:p>
        </p:txBody>
      </p:sp>
      <p:sp>
        <p:nvSpPr>
          <p:cNvPr id="2" name="slide-title-2">
            <a:extLst xmlns:a="http://schemas.openxmlformats.org/drawingml/2006/main">
              <a:ext uri="{FF2B5EF4-FFF2-40B4-BE49-F238E27FC236}">
                <a16:creationId xmlns:a16="http://schemas.microsoft.com/office/drawing/2014/main" id="{E3E9F0F3-5F84-4B4A-836C-005E2F702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Market judgment and trading authority should be evaluated as different capabilities.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3B097B-9EAC-4E46-B639-E2A431DA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2">
            <a:extLst xmlns:a="http://schemas.openxmlformats.org/drawingml/2006/main">
              <a:ext uri="{FF2B5EF4-FFF2-40B4-BE49-F238E27FC236}">
                <a16:creationId xmlns:a16="http://schemas.microsoft.com/office/drawing/2014/main" id="{2D434DBF-13AC-44B0-8A1F-50A74B393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2">
            <a:extLst xmlns:a="http://schemas.openxmlformats.org/drawingml/2006/main">
              <a:ext uri="{FF2B5EF4-FFF2-40B4-BE49-F238E27FC236}">
                <a16:creationId xmlns:a16="http://schemas.microsoft.com/office/drawing/2014/main" id="{6880ACD8-5DAC-4A28-BCC9-49555A7B5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label-Judgment-74-215">
            <a:extLst xmlns:a="http://schemas.openxmlformats.org/drawingml/2006/main">
              <a:ext uri="{FF2B5EF4-FFF2-40B4-BE49-F238E27FC236}">
                <a16:creationId xmlns:a16="http://schemas.microsoft.com/office/drawing/2014/main" id="{88CB5F06-5341-4FB0-90C1-A14F8BA51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JUDGMENT</a:t>
            </a:r>
          </a:p>
        </p:txBody>
      </p:sp>
      <p:sp>
        <p:nvSpPr>
          <p:cNvPr id="7" name="judgment-question">
            <a:extLst xmlns:a="http://schemas.openxmlformats.org/drawingml/2006/main">
              <a:ext uri="{FF2B5EF4-FFF2-40B4-BE49-F238E27FC236}">
                <a16:creationId xmlns:a16="http://schemas.microsoft.com/office/drawing/2014/main" id="{795ABE0B-BB74-4CB7-B29E-8357EEAD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71725"/>
            <a:ext cx="4286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9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What does the evidence suggest?</a:t>
            </a:r>
          </a:p>
        </p:txBody>
      </p:sp>
      <p:sp>
        <p:nvSpPr>
          <p:cNvPr id="8" name="judgment-copy">
            <a:extLst xmlns:a="http://schemas.openxmlformats.org/drawingml/2006/main">
              <a:ext uri="{FF2B5EF4-FFF2-40B4-BE49-F238E27FC236}">
                <a16:creationId xmlns:a16="http://schemas.microsoft.com/office/drawing/2014/main" id="{FC368ECE-1658-401F-93CC-2EC20F92A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57550"/>
            <a:ext cx="4095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65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A model may assess bounded evidence, explain uncertainty, be reassessed under a code-owned challenge, or veto.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7E4540-AE37-4619-95EC-ACF18A418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0002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8CCC7"/>
            </a:solidFill>
            <a:prstDash val="solid"/>
          </a:ln>
        </p:spPr>
      </p:sp>
      <p:sp>
        <p:nvSpPr>
          <p:cNvPr id="10" name="divider">
            <a:extLst xmlns:a="http://schemas.openxmlformats.org/drawingml/2006/main">
              <a:ext uri="{FF2B5EF4-FFF2-40B4-BE49-F238E27FC236}">
                <a16:creationId xmlns:a16="http://schemas.microsoft.com/office/drawing/2014/main" id="{42C7DF1C-8095-4F4F-80EA-45EDC0734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000250"/>
            <a:ext cx="1905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label-Authority-654-215">
            <a:extLst xmlns:a="http://schemas.openxmlformats.org/drawingml/2006/main">
              <a:ext uri="{FF2B5EF4-FFF2-40B4-BE49-F238E27FC236}">
                <a16:creationId xmlns:a16="http://schemas.microsoft.com/office/drawing/2014/main" id="{7A26C27C-AA81-4EC5-85DC-98AC54353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04787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AUTHORITY</a:t>
            </a:r>
          </a:p>
        </p:txBody>
      </p:sp>
      <p:sp>
        <p:nvSpPr>
          <p:cNvPr id="12" name="authority-question">
            <a:extLst xmlns:a="http://schemas.openxmlformats.org/drawingml/2006/main">
              <a:ext uri="{FF2B5EF4-FFF2-40B4-BE49-F238E27FC236}">
                <a16:creationId xmlns:a16="http://schemas.microsoft.com/office/drawing/2014/main" id="{8F6D2DF6-12E8-409C-8906-6E1E1026C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71725"/>
            <a:ext cx="476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6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2475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What may place capital at risk?</a:t>
            </a:r>
          </a:p>
        </p:txBody>
      </p:sp>
      <p:sp>
        <p:nvSpPr>
          <p:cNvPr id="13" name="authority-copy">
            <a:extLst xmlns:a="http://schemas.openxmlformats.org/drawingml/2006/main">
              <a:ext uri="{FF2B5EF4-FFF2-40B4-BE49-F238E27FC236}">
                <a16:creationId xmlns:a16="http://schemas.microsoft.com/office/drawing/2014/main" id="{B171B280-8F9E-4DD6-BA52-DA6E5134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257550"/>
            <a:ext cx="46291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65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Deterministic code owns direction, horizon, option structure, maximum loss, order fields, and the final permit decision.</a:t>
            </a:r>
          </a:p>
        </p:txBody>
      </p:sp>
      <p:sp>
        <p:nvSpPr>
          <p:cNvPr id="14" name="core-thesis">
            <a:extLst xmlns:a="http://schemas.openxmlformats.org/drawingml/2006/main">
              <a:ext uri="{FF2B5EF4-FFF2-40B4-BE49-F238E27FC236}">
                <a16:creationId xmlns:a16="http://schemas.microsoft.com/office/drawing/2014/main" id="{9E5C4F84-BF27-476B-8AF7-A01C3E16C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53025"/>
            <a:ext cx="10153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1950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Finly’s claim is deliberately narrow: useful interpretation does not automatically confer trading authority.</a:t>
            </a:r>
          </a:p>
        </p:txBody>
      </p:sp>
    </p:spTree>
    <p:extLst>
      <p:ext uri="{BB962C8B-B14F-4D97-AF65-F5344CB8AC3E}">
        <p14:creationId xmlns:p14="http://schemas.microsoft.com/office/powerpoint/2010/main" val="12159693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label-Operating model-58-32">
            <a:extLst xmlns:a="http://schemas.openxmlformats.org/drawingml/2006/main">
              <a:ext uri="{FF2B5EF4-FFF2-40B4-BE49-F238E27FC236}">
                <a16:creationId xmlns:a16="http://schemas.microsoft.com/office/drawing/2014/main" id="{0C2955D2-3E06-4BD8-A03C-3781EC98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OPERATING MODEL</a:t>
            </a:r>
          </a:p>
        </p:txBody>
      </p:sp>
      <p:sp>
        <p:nvSpPr>
          <p:cNvPr id="2" name="slide-title-3">
            <a:extLst xmlns:a="http://schemas.openxmlformats.org/drawingml/2006/main">
              <a:ext uri="{FF2B5EF4-FFF2-40B4-BE49-F238E27FC236}">
                <a16:creationId xmlns:a16="http://schemas.microsoft.com/office/drawing/2014/main" id="{4F2B66E7-F6E8-4F5D-8151-A3299DCB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Finly gives the model evidentiary rights while reserving capital-bearing decisions for code.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B25AD4-6DC4-4FC2-8C8E-0AF9A7438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3">
            <a:extLst xmlns:a="http://schemas.openxmlformats.org/drawingml/2006/main">
              <a:ext uri="{FF2B5EF4-FFF2-40B4-BE49-F238E27FC236}">
                <a16:creationId xmlns:a16="http://schemas.microsoft.com/office/drawing/2014/main" id="{C68230D0-9934-4862-A7D2-3ACD2657B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3">
            <a:extLst xmlns:a="http://schemas.openxmlformats.org/drawingml/2006/main">
              <a:ext uri="{FF2B5EF4-FFF2-40B4-BE49-F238E27FC236}">
                <a16:creationId xmlns:a16="http://schemas.microsoft.com/office/drawing/2014/main" id="{5E9ECC40-5F77-4D90-B398-E542D0EC6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label-EVIDENCE-58-216">
            <a:extLst xmlns:a="http://schemas.openxmlformats.org/drawingml/2006/main">
              <a:ext uri="{FF2B5EF4-FFF2-40B4-BE49-F238E27FC236}">
                <a16:creationId xmlns:a16="http://schemas.microsoft.com/office/drawing/2014/main" id="{91CC1DB9-2C89-4431-A406-40091D3E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57400"/>
            <a:ext cx="2114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7" name="stage-number-0">
            <a:extLst xmlns:a="http://schemas.openxmlformats.org/drawingml/2006/main">
              <a:ext uri="{FF2B5EF4-FFF2-40B4-BE49-F238E27FC236}">
                <a16:creationId xmlns:a16="http://schemas.microsoft.com/office/drawing/2014/main" id="{A63A7D5B-7676-4C29-8373-8ADFCE108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622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stage-title-0">
            <a:extLst xmlns:a="http://schemas.openxmlformats.org/drawingml/2006/main">
              <a:ext uri="{FF2B5EF4-FFF2-40B4-BE49-F238E27FC236}">
                <a16:creationId xmlns:a16="http://schemas.microsoft.com/office/drawing/2014/main" id="{E290353E-6D35-4C51-ABD9-472F31171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71775"/>
            <a:ext cx="2114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21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Gather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BD8FCF-6545-49C1-93CD-B56F1F04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24225"/>
            <a:ext cx="2038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10" name="stage-copy-0">
            <a:extLst xmlns:a="http://schemas.openxmlformats.org/drawingml/2006/main">
              <a:ext uri="{FF2B5EF4-FFF2-40B4-BE49-F238E27FC236}">
                <a16:creationId xmlns:a16="http://schemas.microsoft.com/office/drawing/2014/main" id="{A498AB54-165F-445B-8444-5F0712EF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33775"/>
            <a:ext cx="2057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Source-tagged evidence</a:t>
            </a:r>
          </a:p>
        </p:txBody>
      </p:sp>
      <p:sp>
        <p:nvSpPr>
          <p:cNvPr id="11" name="chevron-1">
            <a:extLst xmlns:a="http://schemas.openxmlformats.org/drawingml/2006/main">
              <a:ext uri="{FF2B5EF4-FFF2-40B4-BE49-F238E27FC236}">
                <a16:creationId xmlns:a16="http://schemas.microsoft.com/office/drawing/2014/main" id="{B2AD3A96-4F69-467B-954C-EF82CCE6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143250"/>
            <a:ext cx="228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15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315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12" name="label-MODEL-292-216">
            <a:extLst xmlns:a="http://schemas.openxmlformats.org/drawingml/2006/main">
              <a:ext uri="{FF2B5EF4-FFF2-40B4-BE49-F238E27FC236}">
                <a16:creationId xmlns:a16="http://schemas.microsoft.com/office/drawing/2014/main" id="{A6A5BF28-0EE8-4FFB-8E94-36D242E5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057400"/>
            <a:ext cx="2114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13" name="stage-number-1">
            <a:extLst xmlns:a="http://schemas.openxmlformats.org/drawingml/2006/main">
              <a:ext uri="{FF2B5EF4-FFF2-40B4-BE49-F238E27FC236}">
                <a16:creationId xmlns:a16="http://schemas.microsoft.com/office/drawing/2014/main" id="{1A568708-E0D7-466F-85F5-237186613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3622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4" name="stage-title-1">
            <a:extLst xmlns:a="http://schemas.openxmlformats.org/drawingml/2006/main">
              <a:ext uri="{FF2B5EF4-FFF2-40B4-BE49-F238E27FC236}">
                <a16:creationId xmlns:a16="http://schemas.microsoft.com/office/drawing/2014/main" id="{8ED99B5F-321F-4439-8BD5-C649D843B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771775"/>
            <a:ext cx="2114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21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Propose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B677C1-5B10-4941-BA1D-F844277C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324225"/>
            <a:ext cx="2038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B3A3A"/>
            </a:solidFill>
            <a:prstDash val="solid"/>
          </a:ln>
        </p:spPr>
      </p:sp>
      <p:sp>
        <p:nvSpPr>
          <p:cNvPr id="16" name="stage-copy-1">
            <a:extLst xmlns:a="http://schemas.openxmlformats.org/drawingml/2006/main">
              <a:ext uri="{FF2B5EF4-FFF2-40B4-BE49-F238E27FC236}">
                <a16:creationId xmlns:a16="http://schemas.microsoft.com/office/drawing/2014/main" id="{79AB7D09-1C52-4F76-8CB8-8416E8AD8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533775"/>
            <a:ext cx="2057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Score, rationale, veto</a:t>
            </a:r>
          </a:p>
        </p:txBody>
      </p:sp>
      <p:sp>
        <p:nvSpPr>
          <p:cNvPr id="17" name="chevron-2">
            <a:extLst xmlns:a="http://schemas.openxmlformats.org/drawingml/2006/main">
              <a:ext uri="{FF2B5EF4-FFF2-40B4-BE49-F238E27FC236}">
                <a16:creationId xmlns:a16="http://schemas.microsoft.com/office/drawing/2014/main" id="{396E9D56-D927-440D-BAC5-74341E4E5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143250"/>
            <a:ext cx="228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15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315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18" name="label-CODE-526-216">
            <a:extLst xmlns:a="http://schemas.openxmlformats.org/drawingml/2006/main">
              <a:ext uri="{FF2B5EF4-FFF2-40B4-BE49-F238E27FC236}">
                <a16:creationId xmlns:a16="http://schemas.microsoft.com/office/drawing/2014/main" id="{87BB1EE1-CA6B-485E-AC40-2BEAC15CA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057400"/>
            <a:ext cx="2114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19" name="stage-number-2">
            <a:extLst xmlns:a="http://schemas.openxmlformats.org/drawingml/2006/main">
              <a:ext uri="{FF2B5EF4-FFF2-40B4-BE49-F238E27FC236}">
                <a16:creationId xmlns:a16="http://schemas.microsoft.com/office/drawing/2014/main" id="{1D793CD7-F992-49A2-A15A-D8E081160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3622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0" name="stage-title-2">
            <a:extLst xmlns:a="http://schemas.openxmlformats.org/drawingml/2006/main">
              <a:ext uri="{FF2B5EF4-FFF2-40B4-BE49-F238E27FC236}">
                <a16:creationId xmlns:a16="http://schemas.microsoft.com/office/drawing/2014/main" id="{AAA7B172-E157-4815-AAFE-A7DD62951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771775"/>
            <a:ext cx="2114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21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Compile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B28B62-5CD7-46F1-92CE-C0BAEB4B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324225"/>
            <a:ext cx="2038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22" name="stage-copy-2">
            <a:extLst xmlns:a="http://schemas.openxmlformats.org/drawingml/2006/main">
              <a:ext uri="{FF2B5EF4-FFF2-40B4-BE49-F238E27FC236}">
                <a16:creationId xmlns:a16="http://schemas.microsoft.com/office/drawing/2014/main" id="{AEF705AC-962C-456A-B708-8F388D63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533775"/>
            <a:ext cx="2057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Direction, horizon, spread</a:t>
            </a:r>
          </a:p>
        </p:txBody>
      </p:sp>
      <p:sp>
        <p:nvSpPr>
          <p:cNvPr id="23" name="chevron-3">
            <a:extLst xmlns:a="http://schemas.openxmlformats.org/drawingml/2006/main">
              <a:ext uri="{FF2B5EF4-FFF2-40B4-BE49-F238E27FC236}">
                <a16:creationId xmlns:a16="http://schemas.microsoft.com/office/drawing/2014/main" id="{E5B7CF06-33F9-443C-A9AB-7598611A6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43250"/>
            <a:ext cx="228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15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315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24" name="label-CODE-760-216">
            <a:extLst xmlns:a="http://schemas.openxmlformats.org/drawingml/2006/main">
              <a:ext uri="{FF2B5EF4-FFF2-40B4-BE49-F238E27FC236}">
                <a16:creationId xmlns:a16="http://schemas.microsoft.com/office/drawing/2014/main" id="{3EB5CC21-BC74-433C-A070-BBE88C83E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57400"/>
            <a:ext cx="2114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CODE</a:t>
            </a:r>
          </a:p>
        </p:txBody>
      </p:sp>
      <p:sp>
        <p:nvSpPr>
          <p:cNvPr id="25" name="stage-number-3">
            <a:extLst xmlns:a="http://schemas.openxmlformats.org/drawingml/2006/main">
              <a:ext uri="{FF2B5EF4-FFF2-40B4-BE49-F238E27FC236}">
                <a16:creationId xmlns:a16="http://schemas.microsoft.com/office/drawing/2014/main" id="{91EC4CD6-868C-49B9-859F-85CEB8B69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622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6" name="stage-title-3">
            <a:extLst xmlns:a="http://schemas.openxmlformats.org/drawingml/2006/main">
              <a:ext uri="{FF2B5EF4-FFF2-40B4-BE49-F238E27FC236}">
                <a16:creationId xmlns:a16="http://schemas.microsoft.com/office/drawing/2014/main" id="{9478D293-2BA0-4BD0-83EA-AA16148A1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71775"/>
            <a:ext cx="2114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21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Challenge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DD4048-FA4B-4C25-ABBD-B38C0935F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24225"/>
            <a:ext cx="2038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28" name="stage-copy-3">
            <a:extLst xmlns:a="http://schemas.openxmlformats.org/drawingml/2006/main">
              <a:ext uri="{FF2B5EF4-FFF2-40B4-BE49-F238E27FC236}">
                <a16:creationId xmlns:a16="http://schemas.microsoft.com/office/drawing/2014/main" id="{0924FEB4-5EEE-4C8D-942E-B867965CD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33775"/>
            <a:ext cx="2057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Costs, removals, controls</a:t>
            </a:r>
          </a:p>
        </p:txBody>
      </p:sp>
      <p:sp>
        <p:nvSpPr>
          <p:cNvPr id="29" name="chevron-4">
            <a:extLst xmlns:a="http://schemas.openxmlformats.org/drawingml/2006/main">
              <a:ext uri="{FF2B5EF4-FFF2-40B4-BE49-F238E27FC236}">
                <a16:creationId xmlns:a16="http://schemas.microsoft.com/office/drawing/2014/main" id="{75EFE676-9F76-4D51-B4E4-88073F4D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43250"/>
            <a:ext cx="228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6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15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315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›</a:t>
            </a:r>
          </a:p>
        </p:txBody>
      </p:sp>
      <p:sp>
        <p:nvSpPr>
          <p:cNvPr id="30" name="label-GATEWAY-994-216">
            <a:extLst xmlns:a="http://schemas.openxmlformats.org/drawingml/2006/main">
              <a:ext uri="{FF2B5EF4-FFF2-40B4-BE49-F238E27FC236}">
                <a16:creationId xmlns:a16="http://schemas.microsoft.com/office/drawing/2014/main" id="{FE1451FB-9A74-497F-B9D1-4EB5085FF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057400"/>
            <a:ext cx="2114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GATEWAY</a:t>
            </a:r>
          </a:p>
        </p:txBody>
      </p:sp>
      <p:sp>
        <p:nvSpPr>
          <p:cNvPr id="31" name="stage-number-4">
            <a:extLst xmlns:a="http://schemas.openxmlformats.org/drawingml/2006/main">
              <a:ext uri="{FF2B5EF4-FFF2-40B4-BE49-F238E27FC236}">
                <a16:creationId xmlns:a16="http://schemas.microsoft.com/office/drawing/2014/main" id="{785B32E3-BDC3-4CB6-8A36-749EB538C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3622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2" name="stage-title-4">
            <a:extLst xmlns:a="http://schemas.openxmlformats.org/drawingml/2006/main">
              <a:ext uri="{FF2B5EF4-FFF2-40B4-BE49-F238E27FC236}">
                <a16:creationId xmlns:a16="http://schemas.microsoft.com/office/drawing/2014/main" id="{21D051C3-1664-446A-A72C-0EF65A1E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771775"/>
            <a:ext cx="2114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21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Decide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2ACE3C-58DB-47D3-8DA5-A6B778B58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324225"/>
            <a:ext cx="2038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E6F5C"/>
            </a:solidFill>
            <a:prstDash val="solid"/>
          </a:ln>
        </p:spPr>
      </p:sp>
      <p:sp>
        <p:nvSpPr>
          <p:cNvPr id="34" name="stage-copy-4">
            <a:extLst xmlns:a="http://schemas.openxmlformats.org/drawingml/2006/main">
              <a:ext uri="{FF2B5EF4-FFF2-40B4-BE49-F238E27FC236}">
                <a16:creationId xmlns:a16="http://schemas.microsoft.com/office/drawing/2014/main" id="{E3AED13C-8E41-4FAC-9B1C-FA3DBFDF0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533775"/>
            <a:ext cx="2057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PERMIT or NO_TRADE</a:t>
            </a:r>
          </a:p>
        </p:txBody>
      </p:sp>
      <p:sp>
        <p:nvSpPr>
          <p:cNvPr id="35" name="authority-band">
            <a:extLst xmlns:a="http://schemas.openxmlformats.org/drawingml/2006/main">
              <a:ext uri="{FF2B5EF4-FFF2-40B4-BE49-F238E27FC236}">
                <a16:creationId xmlns:a16="http://schemas.microsoft.com/office/drawing/2014/main" id="{9CDBDBB2-AC8E-4D1B-899A-653CACD18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110871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authority-band-label">
            <a:extLst xmlns:a="http://schemas.openxmlformats.org/drawingml/2006/main">
              <a:ext uri="{FF2B5EF4-FFF2-40B4-BE49-F238E27FC236}">
                <a16:creationId xmlns:a16="http://schemas.microsoft.com/office/drawing/2014/main" id="{60C0F61D-98C7-4123-8F23-5526CF1C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0150"/>
            <a:ext cx="417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 i="0">
                <a:solidFill>
                  <a:srgbClr val="A7C7BA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A7C7BA"/>
                </a:solidFill>
                <a:latin typeface="Arial"/>
                <a:ea typeface="Arial"/>
                <a:cs typeface="Arial"/>
              </a:rPr>
              <a:t>THE MODEL MAY INFORM OR VETO</a:t>
            </a:r>
          </a:p>
        </p:txBody>
      </p:sp>
      <p:sp>
        <p:nvSpPr>
          <p:cNvPr id="37" name="authority-band-divider">
            <a:extLst xmlns:a="http://schemas.openxmlformats.org/drawingml/2006/main">
              <a:ext uri="{FF2B5EF4-FFF2-40B4-BE49-F238E27FC236}">
                <a16:creationId xmlns:a16="http://schemas.microsoft.com/office/drawing/2014/main" id="{7730CD93-ED02-4F89-8CF1-A336F66A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943475"/>
            <a:ext cx="600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325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325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— but it never writes the order.</a:t>
            </a:r>
          </a:p>
        </p:txBody>
      </p:sp>
    </p:spTree>
    <p:extLst>
      <p:ext uri="{BB962C8B-B14F-4D97-AF65-F5344CB8AC3E}">
        <p14:creationId xmlns:p14="http://schemas.microsoft.com/office/powerpoint/2010/main" val="14613031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label-Consumed replay-58-32">
            <a:extLst xmlns:a="http://schemas.openxmlformats.org/drawingml/2006/main">
              <a:ext uri="{FF2B5EF4-FFF2-40B4-BE49-F238E27FC236}">
                <a16:creationId xmlns:a16="http://schemas.microsoft.com/office/drawing/2014/main" id="{5ABB9D46-0A7D-44A9-87CF-A0CB78DE1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CONSUMED REPLAY</a:t>
            </a:r>
          </a:p>
        </p:txBody>
      </p:sp>
      <p:sp>
        <p:nvSpPr>
          <p:cNvPr id="2" name="slide-title-4">
            <a:extLst xmlns:a="http://schemas.openxmlformats.org/drawingml/2006/main">
              <a:ext uri="{FF2B5EF4-FFF2-40B4-BE49-F238E27FC236}">
                <a16:creationId xmlns:a16="http://schemas.microsoft.com/office/drawing/2014/main" id="{815C5020-227E-4D9C-BD6B-96357F3CA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The strongest internal historical candidate warranted further testing but not promotion.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67B4A2-7CF4-47AB-9D65-69678328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4">
            <a:extLst xmlns:a="http://schemas.openxmlformats.org/drawingml/2006/main">
              <a:ext uri="{FF2B5EF4-FFF2-40B4-BE49-F238E27FC236}">
                <a16:creationId xmlns:a16="http://schemas.microsoft.com/office/drawing/2014/main" id="{FD1584AE-6D72-40B9-9972-B0BBCBE1A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4">
            <a:extLst xmlns:a="http://schemas.openxmlformats.org/drawingml/2006/main">
              <a:ext uri="{FF2B5EF4-FFF2-40B4-BE49-F238E27FC236}">
                <a16:creationId xmlns:a16="http://schemas.microsoft.com/office/drawing/2014/main" id="{8295C9EE-13CC-43E1-9E5D-06D277415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b5d40d51c143e6"/>
          <a:stretch xmlns:a="http://schemas.openxmlformats.org/drawingml/2006/main"/>
        </p:blipFill>
        <p:spPr>
          <a:xfrm xmlns:a="http://schemas.openxmlformats.org/drawingml/2006/main">
            <a:off x="1146810" y="1885950"/>
            <a:ext cx="6278880" cy="39243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26AFD5-5F41-49A0-A7F7-6FF980FB1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8CCC7"/>
            </a:solidFill>
            <a:prstDash val="solid"/>
          </a:ln>
        </p:spPr>
      </p:sp>
      <p:sp>
        <p:nvSpPr>
          <p:cNvPr id="8" name="metric-G4 annualized return">
            <a:extLst xmlns:a="http://schemas.openxmlformats.org/drawingml/2006/main">
              <a:ext uri="{FF2B5EF4-FFF2-40B4-BE49-F238E27FC236}">
                <a16:creationId xmlns:a16="http://schemas.microsoft.com/office/drawing/2014/main" id="{B8ADD590-302D-4261-9764-2BE359095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14550"/>
            <a:ext cx="2800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18.97%</a:t>
            </a:r>
          </a:p>
        </p:txBody>
      </p:sp>
      <p:sp>
        <p:nvSpPr>
          <p:cNvPr id="9" name="metric-caption-G4 annualized return">
            <a:extLst xmlns:a="http://schemas.openxmlformats.org/drawingml/2006/main">
              <a:ext uri="{FF2B5EF4-FFF2-40B4-BE49-F238E27FC236}">
                <a16:creationId xmlns:a16="http://schemas.microsoft.com/office/drawing/2014/main" id="{D5C65874-B7E5-44A9-BDB8-93C0D5B0A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76525"/>
            <a:ext cx="2800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G4 ANNUALIZED RETURN</a:t>
            </a:r>
          </a:p>
        </p:txBody>
      </p:sp>
      <p:sp>
        <p:nvSpPr>
          <p:cNvPr id="10" name="metric-SPY annualized return">
            <a:extLst xmlns:a="http://schemas.openxmlformats.org/drawingml/2006/main">
              <a:ext uri="{FF2B5EF4-FFF2-40B4-BE49-F238E27FC236}">
                <a16:creationId xmlns:a16="http://schemas.microsoft.com/office/drawing/2014/main" id="{7D76BED5-4235-4796-BDA6-50024DCF0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19450"/>
            <a:ext cx="2800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15.11%</a:t>
            </a:r>
          </a:p>
        </p:txBody>
      </p:sp>
      <p:sp>
        <p:nvSpPr>
          <p:cNvPr id="11" name="metric-caption-SPY annualized return">
            <a:extLst xmlns:a="http://schemas.openxmlformats.org/drawingml/2006/main">
              <a:ext uri="{FF2B5EF4-FFF2-40B4-BE49-F238E27FC236}">
                <a16:creationId xmlns:a16="http://schemas.microsoft.com/office/drawing/2014/main" id="{6108CBE4-EDE7-4FA1-B954-59109E78F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781425"/>
            <a:ext cx="2800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SPY ANNUALIZED RETURN</a:t>
            </a:r>
          </a:p>
        </p:txBody>
      </p:sp>
      <p:sp>
        <p:nvSpPr>
          <p:cNvPr id="12" name="metric-G4 maximum drawdown">
            <a:extLst xmlns:a="http://schemas.openxmlformats.org/drawingml/2006/main">
              <a:ext uri="{FF2B5EF4-FFF2-40B4-BE49-F238E27FC236}">
                <a16:creationId xmlns:a16="http://schemas.microsoft.com/office/drawing/2014/main" id="{B0374DFB-BBB4-45F9-9B1F-8B15F7B1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24350"/>
            <a:ext cx="2800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−28.99%</a:t>
            </a:r>
          </a:p>
        </p:txBody>
      </p:sp>
      <p:sp>
        <p:nvSpPr>
          <p:cNvPr id="13" name="metric-caption-G4 maximum drawdown">
            <a:extLst xmlns:a="http://schemas.openxmlformats.org/drawingml/2006/main">
              <a:ext uri="{FF2B5EF4-FFF2-40B4-BE49-F238E27FC236}">
                <a16:creationId xmlns:a16="http://schemas.microsoft.com/office/drawing/2014/main" id="{7AB9541B-0108-4F53-AC0D-244C0F96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886325"/>
            <a:ext cx="2800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G4 MAXIMUM DRAWDOWN</a:t>
            </a:r>
          </a:p>
        </p:txBody>
      </p:sp>
      <p:sp>
        <p:nvSpPr>
          <p:cNvPr id="14" name="historical-boundary">
            <a:extLst xmlns:a="http://schemas.openxmlformats.org/drawingml/2006/main">
              <a:ext uri="{FF2B5EF4-FFF2-40B4-BE49-F238E27FC236}">
                <a16:creationId xmlns:a16="http://schemas.microsoft.com/office/drawing/2014/main" id="{550FBE08-C79D-48A6-B24E-E9B60DBD6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62650"/>
            <a:ext cx="1038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2013-01-02 to 2026-08-27 · adjusted closes · modeled 5 bp one-way turnover cost · selected after viewing history</a:t>
            </a:r>
          </a:p>
        </p:txBody>
      </p:sp>
    </p:spTree>
    <p:extLst>
      <p:ext uri="{BB962C8B-B14F-4D97-AF65-F5344CB8AC3E}">
        <p14:creationId xmlns:p14="http://schemas.microsoft.com/office/powerpoint/2010/main" val="146745563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label-Promotion decision-58-32">
            <a:extLst xmlns:a="http://schemas.openxmlformats.org/drawingml/2006/main">
              <a:ext uri="{FF2B5EF4-FFF2-40B4-BE49-F238E27FC236}">
                <a16:creationId xmlns:a16="http://schemas.microsoft.com/office/drawing/2014/main" id="{C902747D-C6F7-4419-8343-8BED4367D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PROMOTION DECISION</a:t>
            </a:r>
          </a:p>
        </p:txBody>
      </p:sp>
      <p:sp>
        <p:nvSpPr>
          <p:cNvPr id="2" name="slide-title-5">
            <a:extLst xmlns:a="http://schemas.openxmlformats.org/drawingml/2006/main">
              <a:ext uri="{FF2B5EF4-FFF2-40B4-BE49-F238E27FC236}">
                <a16:creationId xmlns:a16="http://schemas.microsoft.com/office/drawing/2014/main" id="{1899E92A-D765-4A59-A583-5C923E2F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The candidate failed the tests intended to distinguish a compelling chart from deployable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13B2D3-8B0C-46BE-8DE7-A3290BAA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5">
            <a:extLst xmlns:a="http://schemas.openxmlformats.org/drawingml/2006/main">
              <a:ext uri="{FF2B5EF4-FFF2-40B4-BE49-F238E27FC236}">
                <a16:creationId xmlns:a16="http://schemas.microsoft.com/office/drawing/2014/main" id="{FB69BF1D-A3B2-4C32-B587-579492196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5">
            <a:extLst xmlns:a="http://schemas.openxmlformats.org/drawingml/2006/main">
              <a:ext uri="{FF2B5EF4-FFF2-40B4-BE49-F238E27FC236}">
                <a16:creationId xmlns:a16="http://schemas.microsoft.com/office/drawing/2014/main" id="{A6B3544F-2029-43DF-B8FE-B55CA5DA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rejected">
            <a:extLst xmlns:a="http://schemas.openxmlformats.org/drawingml/2006/main">
              <a:ext uri="{FF2B5EF4-FFF2-40B4-BE49-F238E27FC236}">
                <a16:creationId xmlns:a16="http://schemas.microsoft.com/office/drawing/2014/main" id="{C014C0C4-1E37-41F2-98B0-EB3BEF19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33575"/>
            <a:ext cx="3238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350" b="1" i="0">
                <a:solidFill>
                  <a:srgbClr val="8B3A3A"/>
                </a:solidFill>
                <a:latin typeface="Georgia"/>
                <a:ea typeface="Georgia"/>
                <a:cs typeface="Georgia"/>
              </a:defRPr>
            </a:pPr>
            <a:r>
              <a:rPr sz="4350" b="1" i="0">
                <a:solidFill>
                  <a:srgbClr val="8B3A3A"/>
                </a:solidFill>
                <a:latin typeface="Georgia"/>
                <a:ea typeface="Georgia"/>
                <a:cs typeface="Georgia"/>
              </a:rPr>
              <a:t>REJECTED</a:t>
            </a:r>
          </a:p>
        </p:txBody>
      </p:sp>
      <p:sp>
        <p:nvSpPr>
          <p:cNvPr id="7" name="rejected-copy">
            <a:extLst xmlns:a="http://schemas.openxmlformats.org/drawingml/2006/main">
              <a:ext uri="{FF2B5EF4-FFF2-40B4-BE49-F238E27FC236}">
                <a16:creationId xmlns:a16="http://schemas.microsoft.com/office/drawing/2014/main" id="{35227E98-F321-4BC6-9F80-7EA248068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24150"/>
            <a:ext cx="4000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65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Calendar and cost sensitivity passed. The inferential and independence gates did not.</a:t>
            </a:r>
          </a:p>
        </p:txBody>
      </p:sp>
      <p:sp>
        <p:nvSpPr>
          <p:cNvPr id="8" name="label-Gate-530-210">
            <a:extLst xmlns:a="http://schemas.openxmlformats.org/drawingml/2006/main">
              <a:ext uri="{FF2B5EF4-FFF2-40B4-BE49-F238E27FC236}">
                <a16:creationId xmlns:a16="http://schemas.microsoft.com/office/drawing/2014/main" id="{961D027D-CA34-40B8-96D3-4BB5A8884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0002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GATE</a:t>
            </a:r>
          </a:p>
        </p:txBody>
      </p:sp>
      <p:sp>
        <p:nvSpPr>
          <p:cNvPr id="9" name="label-Observed-930-210">
            <a:extLst xmlns:a="http://schemas.openxmlformats.org/drawingml/2006/main">
              <a:ext uri="{FF2B5EF4-FFF2-40B4-BE49-F238E27FC236}">
                <a16:creationId xmlns:a16="http://schemas.microsoft.com/office/drawing/2014/main" id="{10EA3041-DE58-453F-9730-2D9EFE05A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002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10" name="label-Required-1073-210">
            <a:extLst xmlns:a="http://schemas.openxmlformats.org/drawingml/2006/main">
              <a:ext uri="{FF2B5EF4-FFF2-40B4-BE49-F238E27FC236}">
                <a16:creationId xmlns:a16="http://schemas.microsoft.com/office/drawing/2014/main" id="{68BED6F2-46E1-4049-90CF-7F9A5E97F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20002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REQUIRED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32E08C-1561-4B63-A63F-17AC569DF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305050"/>
            <a:ext cx="632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D2B43"/>
            </a:solidFill>
            <a:prstDash val="solid"/>
          </a:ln>
        </p:spPr>
      </p:sp>
      <p:sp>
        <p:nvSpPr>
          <p:cNvPr id="12" name="gate-0">
            <a:extLst xmlns:a="http://schemas.openxmlformats.org/drawingml/2006/main">
              <a:ext uri="{FF2B5EF4-FFF2-40B4-BE49-F238E27FC236}">
                <a16:creationId xmlns:a16="http://schemas.microsoft.com/office/drawing/2014/main" id="{7ABB7970-B61F-4889-84E5-4998E92D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47650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Deflated Sharpe probability</a:t>
            </a:r>
          </a:p>
        </p:txBody>
      </p:sp>
      <p:sp>
        <p:nvSpPr>
          <p:cNvPr id="13" name="observed-0">
            <a:extLst xmlns:a="http://schemas.openxmlformats.org/drawingml/2006/main">
              <a:ext uri="{FF2B5EF4-FFF2-40B4-BE49-F238E27FC236}">
                <a16:creationId xmlns:a16="http://schemas.microsoft.com/office/drawing/2014/main" id="{056AD48B-F886-481F-8D86-28A548AA7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7650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425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3.75%</a:t>
            </a:r>
          </a:p>
        </p:txBody>
      </p:sp>
      <p:sp>
        <p:nvSpPr>
          <p:cNvPr id="14" name="required-0">
            <a:extLst xmlns:a="http://schemas.openxmlformats.org/drawingml/2006/main">
              <a:ext uri="{FF2B5EF4-FFF2-40B4-BE49-F238E27FC236}">
                <a16:creationId xmlns:a16="http://schemas.microsoft.com/office/drawing/2014/main" id="{11977F79-0063-4020-92EE-0DD58589C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247650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425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≥95%</a:t>
            </a:r>
          </a:p>
        </p:txBody>
      </p:sp>
      <p:sp>
        <p:nvSpPr>
          <p:cNvPr id="15" name="fail-0">
            <a:extLst xmlns:a="http://schemas.openxmlformats.org/drawingml/2006/main">
              <a:ext uri="{FF2B5EF4-FFF2-40B4-BE49-F238E27FC236}">
                <a16:creationId xmlns:a16="http://schemas.microsoft.com/office/drawing/2014/main" id="{7276DA24-2921-4E4E-9AF6-73CE08B6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19400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FAIL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EE00C3-C794-45DC-93D4-E7A309D1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990850"/>
            <a:ext cx="632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17" name="gate-1">
            <a:extLst xmlns:a="http://schemas.openxmlformats.org/drawingml/2006/main">
              <a:ext uri="{FF2B5EF4-FFF2-40B4-BE49-F238E27FC236}">
                <a16:creationId xmlns:a16="http://schemas.microsoft.com/office/drawing/2014/main" id="{C30CE464-E7C4-4C83-91AC-3C8FD39D7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16230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Worst adjusted familywise p-value</a:t>
            </a:r>
          </a:p>
        </p:txBody>
      </p:sp>
      <p:sp>
        <p:nvSpPr>
          <p:cNvPr id="18" name="observed-1">
            <a:extLst xmlns:a="http://schemas.openxmlformats.org/drawingml/2006/main">
              <a:ext uri="{FF2B5EF4-FFF2-40B4-BE49-F238E27FC236}">
                <a16:creationId xmlns:a16="http://schemas.microsoft.com/office/drawing/2014/main" id="{0A71F592-F876-4ACE-A3AD-DF38CB422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6230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425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0.3718</a:t>
            </a:r>
          </a:p>
        </p:txBody>
      </p:sp>
      <p:sp>
        <p:nvSpPr>
          <p:cNvPr id="19" name="required-1">
            <a:extLst xmlns:a="http://schemas.openxmlformats.org/drawingml/2006/main">
              <a:ext uri="{FF2B5EF4-FFF2-40B4-BE49-F238E27FC236}">
                <a16:creationId xmlns:a16="http://schemas.microsoft.com/office/drawing/2014/main" id="{99B28A2C-72B7-4543-B72C-236E65DD5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316230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425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≤0.05</a:t>
            </a:r>
          </a:p>
        </p:txBody>
      </p:sp>
      <p:sp>
        <p:nvSpPr>
          <p:cNvPr id="20" name="fail-1">
            <a:extLst xmlns:a="http://schemas.openxmlformats.org/drawingml/2006/main">
              <a:ext uri="{FF2B5EF4-FFF2-40B4-BE49-F238E27FC236}">
                <a16:creationId xmlns:a16="http://schemas.microsoft.com/office/drawing/2014/main" id="{5066A95D-2901-4775-B247-9737A77B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505200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FAIL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DA6DA1-DAE7-40BC-A767-E98097A77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676650"/>
            <a:ext cx="632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22" name="gate-2">
            <a:extLst xmlns:a="http://schemas.openxmlformats.org/drawingml/2006/main">
              <a:ext uri="{FF2B5EF4-FFF2-40B4-BE49-F238E27FC236}">
                <a16:creationId xmlns:a16="http://schemas.microsoft.com/office/drawing/2014/main" id="{7BD6B0D6-FC24-437E-8BCF-1B35CEF7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84810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Static growth-control independence</a:t>
            </a:r>
          </a:p>
        </p:txBody>
      </p:sp>
      <p:sp>
        <p:nvSpPr>
          <p:cNvPr id="23" name="observed-2">
            <a:extLst xmlns:a="http://schemas.openxmlformats.org/drawingml/2006/main">
              <a:ext uri="{FF2B5EF4-FFF2-40B4-BE49-F238E27FC236}">
                <a16:creationId xmlns:a16="http://schemas.microsoft.com/office/drawing/2014/main" id="{D0AB43F4-44EE-4C02-AEB7-983166881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84810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425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Unsupported</a:t>
            </a:r>
          </a:p>
        </p:txBody>
      </p:sp>
      <p:sp>
        <p:nvSpPr>
          <p:cNvPr id="24" name="required-2">
            <a:extLst xmlns:a="http://schemas.openxmlformats.org/drawingml/2006/main">
              <a:ext uri="{FF2B5EF4-FFF2-40B4-BE49-F238E27FC236}">
                <a16:creationId xmlns:a16="http://schemas.microsoft.com/office/drawing/2014/main" id="{52539482-887F-4FC3-8026-4626A172E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384810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425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Supported</a:t>
            </a:r>
          </a:p>
        </p:txBody>
      </p:sp>
      <p:sp>
        <p:nvSpPr>
          <p:cNvPr id="25" name="fail-2">
            <a:extLst xmlns:a="http://schemas.openxmlformats.org/drawingml/2006/main">
              <a:ext uri="{FF2B5EF4-FFF2-40B4-BE49-F238E27FC236}">
                <a16:creationId xmlns:a16="http://schemas.microsoft.com/office/drawing/2014/main" id="{377FD917-2F8C-449C-9563-BE018AED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191000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FAIL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6EFF735-4B79-4081-AB2D-AC58680DA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62450"/>
            <a:ext cx="632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27" name="gate-3">
            <a:extLst xmlns:a="http://schemas.openxmlformats.org/drawingml/2006/main">
              <a:ext uri="{FF2B5EF4-FFF2-40B4-BE49-F238E27FC236}">
                <a16:creationId xmlns:a16="http://schemas.microsoft.com/office/drawing/2014/main" id="{8F3F34A9-5EE9-412A-87D3-FA8D01977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53390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425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Authenticated source overlap</a:t>
            </a:r>
          </a:p>
        </p:txBody>
      </p:sp>
      <p:sp>
        <p:nvSpPr>
          <p:cNvPr id="28" name="observed-3">
            <a:extLst xmlns:a="http://schemas.openxmlformats.org/drawingml/2006/main">
              <a:ext uri="{FF2B5EF4-FFF2-40B4-BE49-F238E27FC236}">
                <a16:creationId xmlns:a16="http://schemas.microsoft.com/office/drawing/2014/main" id="{54FE12FE-BD11-40AE-AE63-43FDD969D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53390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425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Not passed</a:t>
            </a:r>
          </a:p>
        </p:txBody>
      </p:sp>
      <p:sp>
        <p:nvSpPr>
          <p:cNvPr id="29" name="required-3">
            <a:extLst xmlns:a="http://schemas.openxmlformats.org/drawingml/2006/main">
              <a:ext uri="{FF2B5EF4-FFF2-40B4-BE49-F238E27FC236}">
                <a16:creationId xmlns:a16="http://schemas.microsoft.com/office/drawing/2014/main" id="{15BAE5A0-5E23-40F0-91F6-CAE6E1638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453390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425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Passed</a:t>
            </a:r>
          </a:p>
        </p:txBody>
      </p:sp>
      <p:sp>
        <p:nvSpPr>
          <p:cNvPr id="30" name="fail-3">
            <a:extLst xmlns:a="http://schemas.openxmlformats.org/drawingml/2006/main">
              <a:ext uri="{FF2B5EF4-FFF2-40B4-BE49-F238E27FC236}">
                <a16:creationId xmlns:a16="http://schemas.microsoft.com/office/drawing/2014/main" id="{FED74E63-8D03-4046-B15D-60853FBE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876800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FAIL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D9A3CD4-1EAC-472B-9B56-6556EB8D5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048250"/>
            <a:ext cx="632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32" name="decision-line">
            <a:extLst xmlns:a="http://schemas.openxmlformats.org/drawingml/2006/main">
              <a:ext uri="{FF2B5EF4-FFF2-40B4-BE49-F238E27FC236}">
                <a16:creationId xmlns:a16="http://schemas.microsoft.com/office/drawing/2014/main" id="{A04476AF-5040-4DA9-B987-CBEF3156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0"/>
            <a:ext cx="108013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8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decision-line-copy">
            <a:extLst xmlns:a="http://schemas.openxmlformats.org/drawingml/2006/main">
              <a:ext uri="{FF2B5EF4-FFF2-40B4-BE49-F238E27FC236}">
                <a16:creationId xmlns:a16="http://schemas.microsoft.com/office/drawing/2014/main" id="{D8118F42-D03B-4B09-8D20-2A83D0817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24500"/>
            <a:ext cx="10334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 i="0">
                <a:solidFill>
                  <a:srgbClr val="8B3A3A"/>
                </a:solidFill>
                <a:latin typeface="Georgia"/>
                <a:ea typeface="Georgia"/>
                <a:cs typeface="Georgia"/>
              </a:defRPr>
            </a:pPr>
            <a:r>
              <a:rPr sz="1875" b="1" i="0">
                <a:solidFill>
                  <a:srgbClr val="8B3A3A"/>
                </a:solidFill>
                <a:latin typeface="Georgia"/>
                <a:ea typeface="Georgia"/>
                <a:cs typeface="Georgia"/>
              </a:rPr>
              <a:t>A strategy can remain a useful hypothesis without receiving permission to trade.</a:t>
            </a:r>
          </a:p>
        </p:txBody>
      </p:sp>
    </p:spTree>
    <p:extLst>
      <p:ext uri="{BB962C8B-B14F-4D97-AF65-F5344CB8AC3E}">
        <p14:creationId xmlns:p14="http://schemas.microsoft.com/office/powerpoint/2010/main" val="2711209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label-Research chronology-58-32">
            <a:extLst xmlns:a="http://schemas.openxmlformats.org/drawingml/2006/main">
              <a:ext uri="{FF2B5EF4-FFF2-40B4-BE49-F238E27FC236}">
                <a16:creationId xmlns:a16="http://schemas.microsoft.com/office/drawing/2014/main" id="{44B9452E-463B-4FAC-80B2-1E3202D56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RESEARCH CHRONOLOGY</a:t>
            </a:r>
          </a:p>
        </p:txBody>
      </p:sp>
      <p:sp>
        <p:nvSpPr>
          <p:cNvPr id="2" name="slide-title-6">
            <a:extLst xmlns:a="http://schemas.openxmlformats.org/drawingml/2006/main">
              <a:ext uri="{FF2B5EF4-FFF2-40B4-BE49-F238E27FC236}">
                <a16:creationId xmlns:a16="http://schemas.microsoft.com/office/drawing/2014/main" id="{4E174B16-72E1-4A2E-842E-D49BE9BA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Later constrained search strengthened the refusal rather than rescuing the original result.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A43D30-0C0D-4C96-8709-6911309E4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6">
            <a:extLst xmlns:a="http://schemas.openxmlformats.org/drawingml/2006/main">
              <a:ext uri="{FF2B5EF4-FFF2-40B4-BE49-F238E27FC236}">
                <a16:creationId xmlns:a16="http://schemas.microsoft.com/office/drawing/2014/main" id="{977CBD82-4363-46E9-8301-A12F4ACFB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6">
            <a:extLst xmlns:a="http://schemas.openxmlformats.org/drawingml/2006/main">
              <a:ext uri="{FF2B5EF4-FFF2-40B4-BE49-F238E27FC236}">
                <a16:creationId xmlns:a16="http://schemas.microsoft.com/office/drawing/2014/main" id="{9E4E1F23-160A-40C2-B4AF-97C03B07A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metric-hash-frozen retrospective G6 challengers">
            <a:extLst xmlns:a="http://schemas.openxmlformats.org/drawingml/2006/main">
              <a:ext uri="{FF2B5EF4-FFF2-40B4-BE49-F238E27FC236}">
                <a16:creationId xmlns:a16="http://schemas.microsoft.com/office/drawing/2014/main" id="{47999733-49F0-4760-8737-F308FF579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2724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7</a:t>
            </a:r>
          </a:p>
        </p:txBody>
      </p:sp>
      <p:sp>
        <p:nvSpPr>
          <p:cNvPr id="7" name="metric-caption-hash-frozen retrospective G6 challengers">
            <a:extLst xmlns:a="http://schemas.openxmlformats.org/drawingml/2006/main">
              <a:ext uri="{FF2B5EF4-FFF2-40B4-BE49-F238E27FC236}">
                <a16:creationId xmlns:a16="http://schemas.microsoft.com/office/drawing/2014/main" id="{5E540B5E-A8C2-497F-99D1-920CA1851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19375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HASH-FROZEN RETROSPECTIVE G6 CHALLENGERS</a:t>
            </a:r>
          </a:p>
        </p:txBody>
      </p:sp>
      <p:sp>
        <p:nvSpPr>
          <p:cNvPr id="8" name="metric-new challengers promoted">
            <a:extLst xmlns:a="http://schemas.openxmlformats.org/drawingml/2006/main">
              <a:ext uri="{FF2B5EF4-FFF2-40B4-BE49-F238E27FC236}">
                <a16:creationId xmlns:a16="http://schemas.microsoft.com/office/drawing/2014/main" id="{B4542B6E-7A7E-4345-B8E6-9FE18792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057400"/>
            <a:ext cx="2724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8B3A3A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8B3A3A"/>
                </a:solidFill>
                <a:latin typeface="Georgia"/>
                <a:ea typeface="Georgia"/>
                <a:cs typeface="Georgia"/>
              </a:rPr>
              <a:t>0</a:t>
            </a:r>
          </a:p>
        </p:txBody>
      </p:sp>
      <p:sp>
        <p:nvSpPr>
          <p:cNvPr id="9" name="metric-caption-new challengers promoted">
            <a:extLst xmlns:a="http://schemas.openxmlformats.org/drawingml/2006/main">
              <a:ext uri="{FF2B5EF4-FFF2-40B4-BE49-F238E27FC236}">
                <a16:creationId xmlns:a16="http://schemas.microsoft.com/office/drawing/2014/main" id="{99A8D9DB-C524-492C-9492-5EA8049A8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619375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NEW CHALLENGERS PROMOTED</a:t>
            </a:r>
          </a:p>
        </p:txBody>
      </p:sp>
      <p:sp>
        <p:nvSpPr>
          <p:cNvPr id="10" name="metric-conservative mixed ledger items">
            <a:extLst xmlns:a="http://schemas.openxmlformats.org/drawingml/2006/main">
              <a:ext uri="{FF2B5EF4-FFF2-40B4-BE49-F238E27FC236}">
                <a16:creationId xmlns:a16="http://schemas.microsoft.com/office/drawing/2014/main" id="{F2760713-CDC8-4F9A-900A-F990C448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057400"/>
            <a:ext cx="3714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113</a:t>
            </a:r>
          </a:p>
        </p:txBody>
      </p:sp>
      <p:sp>
        <p:nvSpPr>
          <p:cNvPr id="11" name="metric-caption-conservative mixed ledger items">
            <a:extLst xmlns:a="http://schemas.openxmlformats.org/drawingml/2006/main">
              <a:ext uri="{FF2B5EF4-FFF2-40B4-BE49-F238E27FC236}">
                <a16:creationId xmlns:a16="http://schemas.microsoft.com/office/drawing/2014/main" id="{A8FFC00B-FCE1-479B-A713-570C7E21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19375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CONSERVATIVE MIXED LEDGER ITEMS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D79099-33C1-4CA3-AEA9-8ADB592E9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1013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D2B43"/>
            </a:solidFill>
            <a:prstDash val="solid"/>
          </a:ln>
        </p:spPr>
      </p:sp>
      <p:sp>
        <p:nvSpPr>
          <p:cNvPr id="13" name="timeline-dot-0">
            <a:extLst xmlns:a="http://schemas.openxmlformats.org/drawingml/2006/main">
              <a:ext uri="{FF2B5EF4-FFF2-40B4-BE49-F238E27FC236}">
                <a16:creationId xmlns:a16="http://schemas.microsoft.com/office/drawing/2014/main" id="{B4079597-D847-4469-B36F-35EFD9D5E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6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87AD92-1181-4F2A-B388-657C1E68F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00475"/>
            <a:ext cx="2247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8CCC7"/>
            </a:solidFill>
            <a:prstDash val="solid"/>
          </a:ln>
        </p:spPr>
      </p:sp>
      <p:sp>
        <p:nvSpPr>
          <p:cNvPr id="15" name="label-G4-72-430">
            <a:extLst xmlns:a="http://schemas.openxmlformats.org/drawingml/2006/main">
              <a:ext uri="{FF2B5EF4-FFF2-40B4-BE49-F238E27FC236}">
                <a16:creationId xmlns:a16="http://schemas.microsoft.com/office/drawing/2014/main" id="{9BA44BB5-1D80-49DF-932E-6374394C6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G4</a:t>
            </a:r>
          </a:p>
        </p:txBody>
      </p:sp>
      <p:sp>
        <p:nvSpPr>
          <p:cNvPr id="16" name="timeline-middle-0">
            <a:extLst xmlns:a="http://schemas.openxmlformats.org/drawingml/2006/main">
              <a:ext uri="{FF2B5EF4-FFF2-40B4-BE49-F238E27FC236}">
                <a16:creationId xmlns:a16="http://schemas.microsoft.com/office/drawing/2014/main" id="{97BB3AF7-6D6B-4029-8699-9A14E93F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Attractive replay</a:t>
            </a:r>
          </a:p>
        </p:txBody>
      </p:sp>
      <p:sp>
        <p:nvSpPr>
          <p:cNvPr id="17" name="timeline-bottom-0">
            <a:extLst xmlns:a="http://schemas.openxmlformats.org/drawingml/2006/main">
              <a:ext uri="{FF2B5EF4-FFF2-40B4-BE49-F238E27FC236}">
                <a16:creationId xmlns:a16="http://schemas.microsoft.com/office/drawing/2014/main" id="{528B41DC-1476-4E2B-81E0-B61BAD4D7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228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Selected after history</a:t>
            </a:r>
          </a:p>
        </p:txBody>
      </p:sp>
      <p:sp>
        <p:nvSpPr>
          <p:cNvPr id="18" name="timeline-dot-1">
            <a:extLst xmlns:a="http://schemas.openxmlformats.org/drawingml/2006/main">
              <a:ext uri="{FF2B5EF4-FFF2-40B4-BE49-F238E27FC236}">
                <a16:creationId xmlns:a16="http://schemas.microsoft.com/office/drawing/2014/main" id="{BC661D91-5FFF-4410-BAA3-805F94962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714750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6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02BA88-ACA8-449E-98BA-1643FA0A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800475"/>
            <a:ext cx="2247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8CCC7"/>
            </a:solidFill>
            <a:prstDash val="solid"/>
          </a:ln>
        </p:spPr>
      </p:sp>
      <p:sp>
        <p:nvSpPr>
          <p:cNvPr id="20" name="label-Corrections-348-430">
            <a:extLst xmlns:a="http://schemas.openxmlformats.org/drawingml/2006/main">
              <a:ext uri="{FF2B5EF4-FFF2-40B4-BE49-F238E27FC236}">
                <a16:creationId xmlns:a16="http://schemas.microsoft.com/office/drawing/2014/main" id="{EDBD5EF4-3501-4788-9A19-01FC474AA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0957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CORRECTIONS</a:t>
            </a:r>
          </a:p>
        </p:txBody>
      </p:sp>
      <p:sp>
        <p:nvSpPr>
          <p:cNvPr id="21" name="timeline-middle-1">
            <a:extLst xmlns:a="http://schemas.openxmlformats.org/drawingml/2006/main">
              <a:ext uri="{FF2B5EF4-FFF2-40B4-BE49-F238E27FC236}">
                <a16:creationId xmlns:a16="http://schemas.microsoft.com/office/drawing/2014/main" id="{CDD2E682-4935-411C-A1F0-93F7F4C3B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3815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Multiplicity exposed</a:t>
            </a:r>
          </a:p>
        </p:txBody>
      </p:sp>
      <p:sp>
        <p:nvSpPr>
          <p:cNvPr id="22" name="timeline-bottom-1">
            <a:extLst xmlns:a="http://schemas.openxmlformats.org/drawingml/2006/main">
              <a:ext uri="{FF2B5EF4-FFF2-40B4-BE49-F238E27FC236}">
                <a16:creationId xmlns:a16="http://schemas.microsoft.com/office/drawing/2014/main" id="{ED6DE4F1-107B-45F5-A71C-8F53877D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819650"/>
            <a:ext cx="228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Promotion gates fail</a:t>
            </a:r>
          </a:p>
        </p:txBody>
      </p:sp>
      <p:sp>
        <p:nvSpPr>
          <p:cNvPr id="23" name="timeline-dot-2">
            <a:extLst xmlns:a="http://schemas.openxmlformats.org/drawingml/2006/main">
              <a:ext uri="{FF2B5EF4-FFF2-40B4-BE49-F238E27FC236}">
                <a16:creationId xmlns:a16="http://schemas.microsoft.com/office/drawing/2014/main" id="{9D3E1B3E-CE37-4AFD-B99C-C2A5AB989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714750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E6F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F15521-B04A-4137-95AE-0ACF39A9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800475"/>
            <a:ext cx="2247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8CCC7"/>
            </a:solidFill>
            <a:prstDash val="solid"/>
          </a:ln>
        </p:spPr>
      </p:sp>
      <p:sp>
        <p:nvSpPr>
          <p:cNvPr id="25" name="label-G6-624-430">
            <a:extLst xmlns:a="http://schemas.openxmlformats.org/drawingml/2006/main">
              <a:ext uri="{FF2B5EF4-FFF2-40B4-BE49-F238E27FC236}">
                <a16:creationId xmlns:a16="http://schemas.microsoft.com/office/drawing/2014/main" id="{576B7E31-3F2E-47E2-BF0B-C3A21C4A5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957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G6</a:t>
            </a:r>
          </a:p>
        </p:txBody>
      </p:sp>
      <p:sp>
        <p:nvSpPr>
          <p:cNvPr id="26" name="timeline-middle-2">
            <a:extLst xmlns:a="http://schemas.openxmlformats.org/drawingml/2006/main">
              <a:ext uri="{FF2B5EF4-FFF2-40B4-BE49-F238E27FC236}">
                <a16:creationId xmlns:a16="http://schemas.microsoft.com/office/drawing/2014/main" id="{CCC77785-23AF-4262-A228-0BD90967E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3815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9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Seven hash-frozen candidates</a:t>
            </a:r>
          </a:p>
        </p:txBody>
      </p:sp>
      <p:sp>
        <p:nvSpPr>
          <p:cNvPr id="27" name="timeline-bottom-2">
            <a:extLst xmlns:a="http://schemas.openxmlformats.org/drawingml/2006/main">
              <a:ext uri="{FF2B5EF4-FFF2-40B4-BE49-F238E27FC236}">
                <a16:creationId xmlns:a16="http://schemas.microsoft.com/office/drawing/2014/main" id="{76CC1B5C-8A2F-4B30-A17A-2B8476DEF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819650"/>
            <a:ext cx="228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Retrospective; no selection</a:t>
            </a:r>
          </a:p>
        </p:txBody>
      </p:sp>
      <p:sp>
        <p:nvSpPr>
          <p:cNvPr id="28" name="timeline-dot-3">
            <a:extLst xmlns:a="http://schemas.openxmlformats.org/drawingml/2006/main">
              <a:ext uri="{FF2B5EF4-FFF2-40B4-BE49-F238E27FC236}">
                <a16:creationId xmlns:a16="http://schemas.microsoft.com/office/drawing/2014/main" id="{CAF7994C-D5FC-45DB-ABEE-D18F60EC3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714750"/>
            <a:ext cx="1714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3A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label-Decision-900-430">
            <a:extLst xmlns:a="http://schemas.openxmlformats.org/drawingml/2006/main">
              <a:ext uri="{FF2B5EF4-FFF2-40B4-BE49-F238E27FC236}">
                <a16:creationId xmlns:a16="http://schemas.microsoft.com/office/drawing/2014/main" id="{F0B6A4F6-52AC-4B5C-A5E7-FFA69E623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957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DECISION</a:t>
            </a:r>
          </a:p>
        </p:txBody>
      </p:sp>
      <p:sp>
        <p:nvSpPr>
          <p:cNvPr id="30" name="timeline-middle-3">
            <a:extLst xmlns:a="http://schemas.openxmlformats.org/drawingml/2006/main">
              <a:ext uri="{FF2B5EF4-FFF2-40B4-BE49-F238E27FC236}">
                <a16:creationId xmlns:a16="http://schemas.microsoft.com/office/drawing/2014/main" id="{FE9112A8-C118-4EF6-B05B-617C53D0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3815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Keep G4 descriptive</a:t>
            </a:r>
          </a:p>
        </p:txBody>
      </p:sp>
      <p:sp>
        <p:nvSpPr>
          <p:cNvPr id="31" name="timeline-bottom-3">
            <a:extLst xmlns:a="http://schemas.openxmlformats.org/drawingml/2006/main">
              <a:ext uri="{FF2B5EF4-FFF2-40B4-BE49-F238E27FC236}">
                <a16:creationId xmlns:a16="http://schemas.microsoft.com/office/drawing/2014/main" id="{1C3DC94E-02B8-47CD-B165-D8A30BA56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819650"/>
            <a:ext cx="228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Deploy none</a:t>
            </a:r>
          </a:p>
        </p:txBody>
      </p:sp>
      <p:sp>
        <p:nvSpPr>
          <p:cNvPr id="32" name="attempt-footnote">
            <a:extLst xmlns:a="http://schemas.openxmlformats.org/drawingml/2006/main">
              <a:ext uri="{FF2B5EF4-FFF2-40B4-BE49-F238E27FC236}">
                <a16:creationId xmlns:a16="http://schemas.microsoft.com/office/drawing/2014/main" id="{74744CF8-92E9-4197-9C2F-398321A2D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24525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1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0" i="1">
                <a:solidFill>
                  <a:srgbClr val="68706F"/>
                </a:solidFill>
                <a:latin typeface="Arial"/>
                <a:ea typeface="Arial"/>
                <a:cs typeface="Arial"/>
              </a:rPr>
              <a:t>The count includes controls, rejected or unexecuted suggestions, invalidated and aborted runs, and reruns—not 113 independent viable strategies.</a:t>
            </a:r>
          </a:p>
        </p:txBody>
      </p:sp>
    </p:spTree>
    <p:extLst>
      <p:ext uri="{BB962C8B-B14F-4D97-AF65-F5344CB8AC3E}">
        <p14:creationId xmlns:p14="http://schemas.microsoft.com/office/powerpoint/2010/main" val="179086677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label-Production ≠ G4-58-32">
            <a:extLst xmlns:a="http://schemas.openxmlformats.org/drawingml/2006/main">
              <a:ext uri="{FF2B5EF4-FFF2-40B4-BE49-F238E27FC236}">
                <a16:creationId xmlns:a16="http://schemas.microsoft.com/office/drawing/2014/main" id="{771BCCDB-1B6D-4BD5-AC70-042025578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PRODUCTION ≠ G4</a:t>
            </a:r>
          </a:p>
        </p:txBody>
      </p:sp>
      <p:sp>
        <p:nvSpPr>
          <p:cNvPr id="2" name="slide-title-7">
            <a:extLst xmlns:a="http://schemas.openxmlformats.org/drawingml/2006/main">
              <a:ext uri="{FF2B5EF4-FFF2-40B4-BE49-F238E27FC236}">
                <a16:creationId xmlns:a16="http://schemas.microsoft.com/office/drawing/2014/main" id="{674C183C-66BA-40D7-B646-72261795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Production Finly traded raw return for lower risk; its next proof begins at zero.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04FDEE-EA24-4592-9052-1F0DE82C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7">
            <a:extLst xmlns:a="http://schemas.openxmlformats.org/drawingml/2006/main">
              <a:ext uri="{FF2B5EF4-FFF2-40B4-BE49-F238E27FC236}">
                <a16:creationId xmlns:a16="http://schemas.microsoft.com/office/drawing/2014/main" id="{3BC79142-14D4-4B2E-B474-1B7C5840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7">
            <a:extLst xmlns:a="http://schemas.openxmlformats.org/drawingml/2006/main">
              <a:ext uri="{FF2B5EF4-FFF2-40B4-BE49-F238E27FC236}">
                <a16:creationId xmlns:a16="http://schemas.microsoft.com/office/drawing/2014/main" id="{6C89AADE-F25A-4036-B9B4-B3230382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6" name="production-panel">
            <a:extLst xmlns:a="http://schemas.openxmlformats.org/drawingml/2006/main">
              <a:ext uri="{FF2B5EF4-FFF2-40B4-BE49-F238E27FC236}">
                <a16:creationId xmlns:a16="http://schemas.microsoft.com/office/drawing/2014/main" id="{9C80BC5B-42EE-4AFE-B067-82F4F6A9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09750"/>
            <a:ext cx="53911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CC7"/>
            </a:solidFill>
            <a:prstDash val="solid"/>
          </a:ln>
        </p:spPr>
      </p:sp>
      <p:sp>
        <p:nvSpPr>
          <p:cNvPr id="7" name="label-Fixed holdout · 2025-01-02 to 2026-08-28-82-216">
            <a:extLst xmlns:a="http://schemas.openxmlformats.org/drawingml/2006/main">
              <a:ext uri="{FF2B5EF4-FFF2-40B4-BE49-F238E27FC236}">
                <a16:creationId xmlns:a16="http://schemas.microsoft.com/office/drawing/2014/main" id="{06A77C58-DE11-48F7-9168-8C1E60CD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574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FIXED HOLDOUT · 2025-01-02 TO 2026-08-28</a:t>
            </a:r>
          </a:p>
        </p:txBody>
      </p:sp>
      <p:sp>
        <p:nvSpPr>
          <p:cNvPr id="8" name="production-title">
            <a:extLst xmlns:a="http://schemas.openxmlformats.org/drawingml/2006/main">
              <a:ext uri="{FF2B5EF4-FFF2-40B4-BE49-F238E27FC236}">
                <a16:creationId xmlns:a16="http://schemas.microsoft.com/office/drawing/2014/main" id="{647925CB-E023-4B7A-8267-2F664033B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0300"/>
            <a:ext cx="457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21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tsmom_ensemble_vol</a:t>
            </a:r>
          </a:p>
        </p:txBody>
      </p:sp>
      <p:sp>
        <p:nvSpPr>
          <p:cNvPr id="9" name="production-subtitle">
            <a:extLst xmlns:a="http://schemas.openxmlformats.org/drawingml/2006/main">
              <a:ext uri="{FF2B5EF4-FFF2-40B4-BE49-F238E27FC236}">
                <a16:creationId xmlns:a16="http://schemas.microsoft.com/office/drawing/2014/main" id="{B54FD446-1E28-4469-924F-E0487F09F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57500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SPY/BIL trend + volatility policy · G4 remained a rejected shadow</a:t>
            </a:r>
          </a:p>
        </p:txBody>
      </p:sp>
      <p:sp>
        <p:nvSpPr>
          <p:cNvPr id="10" name="label-Metric-82-352">
            <a:extLst xmlns:a="http://schemas.openxmlformats.org/drawingml/2006/main">
              <a:ext uri="{FF2B5EF4-FFF2-40B4-BE49-F238E27FC236}">
                <a16:creationId xmlns:a16="http://schemas.microsoft.com/office/drawing/2014/main" id="{F4CE619D-374D-4585-A150-AF929AC8C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52800"/>
            <a:ext cx="2238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METRIC</a:t>
            </a:r>
          </a:p>
        </p:txBody>
      </p:sp>
      <p:sp>
        <p:nvSpPr>
          <p:cNvPr id="11" name="label-Production-330-352">
            <a:extLst xmlns:a="http://schemas.openxmlformats.org/drawingml/2006/main">
              <a:ext uri="{FF2B5EF4-FFF2-40B4-BE49-F238E27FC236}">
                <a16:creationId xmlns:a16="http://schemas.microsoft.com/office/drawing/2014/main" id="{5C07D0BB-E341-471C-9685-DA86FD22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352800"/>
            <a:ext cx="990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PRODUCTION</a:t>
            </a:r>
          </a:p>
        </p:txBody>
      </p:sp>
      <p:sp>
        <p:nvSpPr>
          <p:cNvPr id="12" name="label-SPY-480-352">
            <a:extLst xmlns:a="http://schemas.openxmlformats.org/drawingml/2006/main">
              <a:ext uri="{FF2B5EF4-FFF2-40B4-BE49-F238E27FC236}">
                <a16:creationId xmlns:a16="http://schemas.microsoft.com/office/drawing/2014/main" id="{14CE126E-A2CE-4B27-864C-51DDD7BF0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528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SPY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4D684E-4690-40C1-9C9C-CCF59FAB1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90925"/>
            <a:ext cx="455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14" name="production-metric-0">
            <a:extLst xmlns:a="http://schemas.openxmlformats.org/drawingml/2006/main">
              <a:ext uri="{FF2B5EF4-FFF2-40B4-BE49-F238E27FC236}">
                <a16:creationId xmlns:a16="http://schemas.microsoft.com/office/drawing/2014/main" id="{D713BA28-A814-4397-8EFF-94C33ACAC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Annualized return</a:t>
            </a:r>
          </a:p>
        </p:txBody>
      </p:sp>
      <p:sp>
        <p:nvSpPr>
          <p:cNvPr id="15" name="production-value-0">
            <a:extLst xmlns:a="http://schemas.openxmlformats.org/drawingml/2006/main">
              <a:ext uri="{FF2B5EF4-FFF2-40B4-BE49-F238E27FC236}">
                <a16:creationId xmlns:a16="http://schemas.microsoft.com/office/drawing/2014/main" id="{633CBC6D-D755-41E2-A994-71E6EF60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76650"/>
            <a:ext cx="990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350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11.13%</a:t>
            </a:r>
          </a:p>
        </p:txBody>
      </p:sp>
      <p:sp>
        <p:nvSpPr>
          <p:cNvPr id="16" name="spy-value-0">
            <a:extLst xmlns:a="http://schemas.openxmlformats.org/drawingml/2006/main">
              <a:ext uri="{FF2B5EF4-FFF2-40B4-BE49-F238E27FC236}">
                <a16:creationId xmlns:a16="http://schemas.microsoft.com/office/drawing/2014/main" id="{1435F825-B1E6-4B7F-B3E7-F61BEE83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7665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35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19.19%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C497DD-13FC-40CB-8611-81056FEF7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76700"/>
            <a:ext cx="455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18" name="production-metric-1">
            <a:extLst xmlns:a="http://schemas.openxmlformats.org/drawingml/2006/main">
              <a:ext uri="{FF2B5EF4-FFF2-40B4-BE49-F238E27FC236}">
                <a16:creationId xmlns:a16="http://schemas.microsoft.com/office/drawing/2014/main" id="{57DBDCF5-65E2-4950-81E5-64937608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62425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Annualized volatility</a:t>
            </a:r>
          </a:p>
        </p:txBody>
      </p:sp>
      <p:sp>
        <p:nvSpPr>
          <p:cNvPr id="19" name="production-value-1">
            <a:extLst xmlns:a="http://schemas.openxmlformats.org/drawingml/2006/main">
              <a:ext uri="{FF2B5EF4-FFF2-40B4-BE49-F238E27FC236}">
                <a16:creationId xmlns:a16="http://schemas.microsoft.com/office/drawing/2014/main" id="{2FC5A3EB-E0D2-4F5F-9B5D-D32BF83EC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162425"/>
            <a:ext cx="990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350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8.31%</a:t>
            </a:r>
          </a:p>
        </p:txBody>
      </p:sp>
      <p:sp>
        <p:nvSpPr>
          <p:cNvPr id="20" name="spy-value-1">
            <a:extLst xmlns:a="http://schemas.openxmlformats.org/drawingml/2006/main">
              <a:ext uri="{FF2B5EF4-FFF2-40B4-BE49-F238E27FC236}">
                <a16:creationId xmlns:a16="http://schemas.microsoft.com/office/drawing/2014/main" id="{52A7F03E-5DDD-497E-938D-B3272F5E6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62425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35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17.33%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CC3E62-5D35-4725-9E55-A408F27A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62475"/>
            <a:ext cx="4552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4E1DA"/>
            </a:solidFill>
            <a:prstDash val="solid"/>
          </a:ln>
        </p:spPr>
      </p:sp>
      <p:sp>
        <p:nvSpPr>
          <p:cNvPr id="22" name="production-metric-2">
            <a:extLst xmlns:a="http://schemas.openxmlformats.org/drawingml/2006/main">
              <a:ext uri="{FF2B5EF4-FFF2-40B4-BE49-F238E27FC236}">
                <a16:creationId xmlns:a16="http://schemas.microsoft.com/office/drawing/2014/main" id="{30B26087-3A20-438B-96FA-2EFE47183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482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 i="0">
                <a:solidFill>
                  <a:srgbClr val="0D2B43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0D2B43"/>
                </a:solidFill>
                <a:latin typeface="Arial"/>
                <a:ea typeface="Arial"/>
                <a:cs typeface="Arial"/>
              </a:rPr>
              <a:t>Maximum drawdown</a:t>
            </a:r>
          </a:p>
        </p:txBody>
      </p:sp>
      <p:sp>
        <p:nvSpPr>
          <p:cNvPr id="23" name="production-value-2">
            <a:extLst xmlns:a="http://schemas.openxmlformats.org/drawingml/2006/main">
              <a:ext uri="{FF2B5EF4-FFF2-40B4-BE49-F238E27FC236}">
                <a16:creationId xmlns:a16="http://schemas.microsoft.com/office/drawing/2014/main" id="{64D59D33-6C6B-4D94-959F-DA98A91E7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48200"/>
            <a:ext cx="990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350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−5.79%</a:t>
            </a:r>
          </a:p>
        </p:txBody>
      </p:sp>
      <p:sp>
        <p:nvSpPr>
          <p:cNvPr id="24" name="spy-value-2">
            <a:extLst xmlns:a="http://schemas.openxmlformats.org/drawingml/2006/main">
              <a:ext uri="{FF2B5EF4-FFF2-40B4-BE49-F238E27FC236}">
                <a16:creationId xmlns:a16="http://schemas.microsoft.com/office/drawing/2014/main" id="{6BCEE8C2-2E2A-41A1-813E-0F5CFF03B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648200"/>
            <a:ext cx="762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35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−18.76%</a:t>
            </a:r>
          </a:p>
        </p:txBody>
      </p:sp>
      <p:sp>
        <p:nvSpPr>
          <p:cNvPr id="25" name="proposal-boundary">
            <a:extLst xmlns:a="http://schemas.openxmlformats.org/drawingml/2006/main">
              <a:ext uri="{FF2B5EF4-FFF2-40B4-BE49-F238E27FC236}">
                <a16:creationId xmlns:a16="http://schemas.microsoft.com/office/drawing/2014/main" id="{76538665-FDFE-47B7-86DD-A3A76FD2A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5780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Latest research-only proposal: 95.71% SPY / 4.29% BIL. The paper account stayed defensive; no mutation was requested.</a:t>
            </a:r>
          </a:p>
        </p:txBody>
      </p:sp>
      <p:sp>
        <p:nvSpPr>
          <p:cNvPr id="26" name="forward-panel">
            <a:extLst xmlns:a="http://schemas.openxmlformats.org/drawingml/2006/main">
              <a:ext uri="{FF2B5EF4-FFF2-40B4-BE49-F238E27FC236}">
                <a16:creationId xmlns:a16="http://schemas.microsoft.com/office/drawing/2014/main" id="{EBCB15B9-D9A3-48FC-993C-8EECFF87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809750"/>
            <a:ext cx="5334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2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label-Forward Trial 1-690-218">
            <a:extLst xmlns:a="http://schemas.openxmlformats.org/drawingml/2006/main">
              <a:ext uri="{FF2B5EF4-FFF2-40B4-BE49-F238E27FC236}">
                <a16:creationId xmlns:a16="http://schemas.microsoft.com/office/drawing/2014/main" id="{B5C06968-238B-49C3-9F94-B5F51950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764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9BC1B0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9BC1B0"/>
                </a:solidFill>
                <a:latin typeface="Arial"/>
                <a:ea typeface="Arial"/>
                <a:cs typeface="Arial"/>
              </a:rPr>
              <a:t>FORWARD TRIAL 1</a:t>
            </a:r>
          </a:p>
        </p:txBody>
      </p:sp>
      <p:sp>
        <p:nvSpPr>
          <p:cNvPr id="28" name="zero">
            <a:extLst xmlns:a="http://schemas.openxmlformats.org/drawingml/2006/main">
              <a:ext uri="{FF2B5EF4-FFF2-40B4-BE49-F238E27FC236}">
                <a16:creationId xmlns:a16="http://schemas.microsoft.com/office/drawing/2014/main" id="{7B006850-3994-4F29-9F41-6735FFC9D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38400"/>
            <a:ext cx="1809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78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8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88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0</a:t>
            </a:r>
          </a:p>
        </p:txBody>
      </p:sp>
      <p:sp>
        <p:nvSpPr>
          <p:cNvPr id="29" name="zero-caption">
            <a:extLst xmlns:a="http://schemas.openxmlformats.org/drawingml/2006/main">
              <a:ext uri="{FF2B5EF4-FFF2-40B4-BE49-F238E27FC236}">
                <a16:creationId xmlns:a16="http://schemas.microsoft.com/office/drawing/2014/main" id="{3276B77F-5B8B-4934-B371-E5AF985EB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of 252 settled observations</a:t>
            </a:r>
          </a:p>
        </p:txBody>
      </p:sp>
      <p:sp>
        <p:nvSpPr>
          <p:cNvPr id="30" name="zero-copy">
            <a:extLst xmlns:a="http://schemas.openxmlformats.org/drawingml/2006/main">
              <a:ext uri="{FF2B5EF4-FFF2-40B4-BE49-F238E27FC236}">
                <a16:creationId xmlns:a16="http://schemas.microsoft.com/office/drawing/2014/main" id="{F6CDB5BC-50BA-4868-B82E-F5D8DEE1C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52800"/>
            <a:ext cx="2781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7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 i="0">
                <a:solidFill>
                  <a:srgbClr val="CBD4D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CBD4D6"/>
                </a:solidFill>
                <a:latin typeface="Arial"/>
                <a:ea typeface="Arial"/>
                <a:cs typeface="Arial"/>
              </a:rPr>
              <a:t>No next-month inference. Production writes, broker authority, and performance inference remain disabled.</a:t>
            </a:r>
          </a:p>
        </p:txBody>
      </p:sp>
      <p:sp>
        <p:nvSpPr>
          <p:cNvPr id="31" name="forward-stage-box-0">
            <a:extLst xmlns:a="http://schemas.openxmlformats.org/drawingml/2006/main">
              <a:ext uri="{FF2B5EF4-FFF2-40B4-BE49-F238E27FC236}">
                <a16:creationId xmlns:a16="http://schemas.microsoft.com/office/drawing/2014/main" id="{5D247C5B-19F0-4566-B9B6-5EC2C2E0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67200"/>
            <a:ext cx="2095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5"/>
          </a:solidFill>
          <a:ln xmlns:a="http://schemas.openxmlformats.org/drawingml/2006/main" w="9525">
            <a:solidFill>
              <a:srgbClr val="527087"/>
            </a:solidFill>
            <a:prstDash val="solid"/>
          </a:ln>
        </p:spPr>
      </p:sp>
      <p:sp>
        <p:nvSpPr>
          <p:cNvPr id="32" name="forward-stage-0">
            <a:extLst xmlns:a="http://schemas.openxmlformats.org/drawingml/2006/main">
              <a:ext uri="{FF2B5EF4-FFF2-40B4-BE49-F238E27FC236}">
                <a16:creationId xmlns:a16="http://schemas.microsoft.com/office/drawing/2014/main" id="{7733C4DC-5B24-48CF-B5E0-288390316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343400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  Commit</a:t>
            </a:r>
          </a:p>
        </p:txBody>
      </p:sp>
      <p:sp>
        <p:nvSpPr>
          <p:cNvPr id="33" name="forward-stage-box-1">
            <a:extLst xmlns:a="http://schemas.openxmlformats.org/drawingml/2006/main">
              <a:ext uri="{FF2B5EF4-FFF2-40B4-BE49-F238E27FC236}">
                <a16:creationId xmlns:a16="http://schemas.microsoft.com/office/drawing/2014/main" id="{6111F476-14BD-416F-9FA0-61327E5A3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267200"/>
            <a:ext cx="2095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5"/>
          </a:solidFill>
          <a:ln xmlns:a="http://schemas.openxmlformats.org/drawingml/2006/main" w="9525">
            <a:solidFill>
              <a:srgbClr val="527087"/>
            </a:solidFill>
            <a:prstDash val="solid"/>
          </a:ln>
        </p:spPr>
      </p:sp>
      <p:sp>
        <p:nvSpPr>
          <p:cNvPr id="34" name="forward-stage-1">
            <a:extLst xmlns:a="http://schemas.openxmlformats.org/drawingml/2006/main">
              <a:ext uri="{FF2B5EF4-FFF2-40B4-BE49-F238E27FC236}">
                <a16:creationId xmlns:a16="http://schemas.microsoft.com/office/drawing/2014/main" id="{63D9822B-3542-49F6-8336-B71AC81D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343400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  Anchor</a:t>
            </a:r>
          </a:p>
        </p:txBody>
      </p:sp>
      <p:sp>
        <p:nvSpPr>
          <p:cNvPr id="35" name="forward-stage-box-2">
            <a:extLst xmlns:a="http://schemas.openxmlformats.org/drawingml/2006/main">
              <a:ext uri="{FF2B5EF4-FFF2-40B4-BE49-F238E27FC236}">
                <a16:creationId xmlns:a16="http://schemas.microsoft.com/office/drawing/2014/main" id="{18C5B521-C34E-46E8-BDA2-EBE06EB2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62500"/>
            <a:ext cx="2095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5"/>
          </a:solidFill>
          <a:ln xmlns:a="http://schemas.openxmlformats.org/drawingml/2006/main" w="9525">
            <a:solidFill>
              <a:srgbClr val="527087"/>
            </a:solidFill>
            <a:prstDash val="solid"/>
          </a:ln>
        </p:spPr>
      </p:sp>
      <p:sp>
        <p:nvSpPr>
          <p:cNvPr id="36" name="forward-stage-2">
            <a:extLst xmlns:a="http://schemas.openxmlformats.org/drawingml/2006/main">
              <a:ext uri="{FF2B5EF4-FFF2-40B4-BE49-F238E27FC236}">
                <a16:creationId xmlns:a16="http://schemas.microsoft.com/office/drawing/2014/main" id="{2646F079-4F91-4DBC-B0A1-831D578A8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838700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  Settle</a:t>
            </a:r>
          </a:p>
        </p:txBody>
      </p:sp>
      <p:sp>
        <p:nvSpPr>
          <p:cNvPr id="37" name="forward-stage-box-3">
            <a:extLst xmlns:a="http://schemas.openxmlformats.org/drawingml/2006/main">
              <a:ext uri="{FF2B5EF4-FFF2-40B4-BE49-F238E27FC236}">
                <a16:creationId xmlns:a16="http://schemas.microsoft.com/office/drawing/2014/main" id="{53EA4E95-9215-468B-9DDB-8A128A9D5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762500"/>
            <a:ext cx="2095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55"/>
          </a:solidFill>
          <a:ln xmlns:a="http://schemas.openxmlformats.org/drawingml/2006/main" w="9525">
            <a:solidFill>
              <a:srgbClr val="527087"/>
            </a:solidFill>
            <a:prstDash val="solid"/>
          </a:ln>
        </p:spPr>
      </p:sp>
      <p:sp>
        <p:nvSpPr>
          <p:cNvPr id="38" name="forward-stage-3">
            <a:extLst xmlns:a="http://schemas.openxmlformats.org/drawingml/2006/main">
              <a:ext uri="{FF2B5EF4-FFF2-40B4-BE49-F238E27FC236}">
                <a16:creationId xmlns:a16="http://schemas.microsoft.com/office/drawing/2014/main" id="{4D9705F5-EAA4-47E3-BA37-855E569BC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838700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  Infer</a:t>
            </a:r>
          </a:p>
        </p:txBody>
      </p:sp>
      <p:sp>
        <p:nvSpPr>
          <p:cNvPr id="39" name="anchor-boundary">
            <a:extLst xmlns:a="http://schemas.openxmlformats.org/drawingml/2006/main">
              <a:ext uri="{FF2B5EF4-FFF2-40B4-BE49-F238E27FC236}">
                <a16:creationId xmlns:a16="http://schemas.microsoft.com/office/drawing/2014/main" id="{29C48FD2-E807-4068-B356-018051176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14950"/>
            <a:ext cx="4514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0" i="1">
                <a:solidFill>
                  <a:srgbClr val="9AB0B6"/>
                </a:solidFill>
                <a:latin typeface="Arial"/>
                <a:ea typeface="Arial"/>
                <a:cs typeface="Arial"/>
              </a:defRPr>
            </a:pPr>
            <a:r>
              <a:rPr sz="975" b="0" i="1">
                <a:solidFill>
                  <a:srgbClr val="9AB0B6"/>
                </a:solidFill>
                <a:latin typeface="Arial"/>
                <a:ea typeface="Arial"/>
                <a:cs typeface="Arial"/>
              </a:rPr>
              <a:t>A local hash does not prove capture timing; the independent pre-execution anchor remains closed.</a:t>
            </a:r>
          </a:p>
        </p:txBody>
      </p:sp>
    </p:spTree>
    <p:extLst>
      <p:ext uri="{BB962C8B-B14F-4D97-AF65-F5344CB8AC3E}">
        <p14:creationId xmlns:p14="http://schemas.microsoft.com/office/powerpoint/2010/main" val="9364827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label-Broker boundary-58-32">
            <a:extLst xmlns:a="http://schemas.openxmlformats.org/drawingml/2006/main">
              <a:ext uri="{FF2B5EF4-FFF2-40B4-BE49-F238E27FC236}">
                <a16:creationId xmlns:a16="http://schemas.microsoft.com/office/drawing/2014/main" id="{0775CC07-2612-41E8-BE3E-AA469FBDB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BROKER BOUNDARY</a:t>
            </a:r>
          </a:p>
        </p:txBody>
      </p:sp>
      <p:sp>
        <p:nvSpPr>
          <p:cNvPr id="2" name="slide-title-8">
            <a:extLst xmlns:a="http://schemas.openxmlformats.org/drawingml/2006/main">
              <a:ext uri="{FF2B5EF4-FFF2-40B4-BE49-F238E27FC236}">
                <a16:creationId xmlns:a16="http://schemas.microsoft.com/office/drawing/2014/main" id="{F508649A-E65F-4BFE-B929-32BFB5753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Any Alpaca options order must pass through a deterministic, defined-risk gateway.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DB04AE-F087-438F-ACDA-50CDAAD8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0D2B43"/>
            </a:solidFill>
            <a:prstDash val="solid"/>
          </a:ln>
        </p:spPr>
      </p:sp>
      <p:sp>
        <p:nvSpPr>
          <p:cNvPr id="4" name="footer-8">
            <a:extLst xmlns:a="http://schemas.openxmlformats.org/drawingml/2006/main">
              <a:ext uri="{FF2B5EF4-FFF2-40B4-BE49-F238E27FC236}">
                <a16:creationId xmlns:a16="http://schemas.microsoft.com/office/drawing/2014/main" id="{AC395806-14C1-4010-9B92-AC7FB086C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8">
            <a:extLst xmlns:a="http://schemas.openxmlformats.org/drawingml/2006/main">
              <a:ext uri="{FF2B5EF4-FFF2-40B4-BE49-F238E27FC236}">
                <a16:creationId xmlns:a16="http://schemas.microsoft.com/office/drawing/2014/main" id="{F7E08CD0-232D-4924-862A-5F552DFC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label-MODEL-66-226">
            <a:extLst xmlns:a="http://schemas.openxmlformats.org/drawingml/2006/main">
              <a:ext uri="{FF2B5EF4-FFF2-40B4-BE49-F238E27FC236}">
                <a16:creationId xmlns:a16="http://schemas.microsoft.com/office/drawing/2014/main" id="{7757B523-2976-4042-8168-E208F57F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2247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MODEL</a:t>
            </a:r>
          </a:p>
        </p:txBody>
      </p:sp>
      <p:sp>
        <p:nvSpPr>
          <p:cNvPr id="7" name="broker-title-0">
            <a:extLst xmlns:a="http://schemas.openxmlformats.org/drawingml/2006/main">
              <a:ext uri="{FF2B5EF4-FFF2-40B4-BE49-F238E27FC236}">
                <a16:creationId xmlns:a16="http://schemas.microsoft.com/office/drawing/2014/main" id="{E1BD2C3F-EDD2-411B-9F05-1DAAF24A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52700"/>
            <a:ext cx="2247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2025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Bounded assessment</a:t>
            </a:r>
          </a:p>
        </p:txBody>
      </p:sp>
      <p:sp>
        <p:nvSpPr>
          <p:cNvPr id="8" name="broker-copy-0">
            <a:extLst xmlns:a="http://schemas.openxmlformats.org/drawingml/2006/main">
              <a:ext uri="{FF2B5EF4-FFF2-40B4-BE49-F238E27FC236}">
                <a16:creationId xmlns:a16="http://schemas.microsoft.com/office/drawing/2014/main" id="{5685C3A7-2666-41AA-9EF5-BB1A7BAE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0"/>
            <a:ext cx="2247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May propose or veto</a:t>
            </a:r>
          </a:p>
        </p:txBody>
      </p:sp>
      <p:sp>
        <p:nvSpPr>
          <p:cNvPr id="9" name="broker-arrow-0">
            <a:extLst xmlns:a="http://schemas.openxmlformats.org/drawingml/2006/main">
              <a:ext uri="{FF2B5EF4-FFF2-40B4-BE49-F238E27FC236}">
                <a16:creationId xmlns:a16="http://schemas.microsoft.com/office/drawing/2014/main" id="{493157E4-A2D8-4DBA-80B4-A2621063C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76550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label-COMPILER-358-226">
            <a:extLst xmlns:a="http://schemas.openxmlformats.org/drawingml/2006/main">
              <a:ext uri="{FF2B5EF4-FFF2-40B4-BE49-F238E27FC236}">
                <a16:creationId xmlns:a16="http://schemas.microsoft.com/office/drawing/2014/main" id="{28A993FA-6B74-4AF3-AB16-53D71F77C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152650"/>
            <a:ext cx="2247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COMPILER</a:t>
            </a:r>
          </a:p>
        </p:txBody>
      </p:sp>
      <p:sp>
        <p:nvSpPr>
          <p:cNvPr id="11" name="broker-title-1">
            <a:extLst xmlns:a="http://schemas.openxmlformats.org/drawingml/2006/main">
              <a:ext uri="{FF2B5EF4-FFF2-40B4-BE49-F238E27FC236}">
                <a16:creationId xmlns:a16="http://schemas.microsoft.com/office/drawing/2014/main" id="{651AED3F-0C82-45EF-AEC9-BF535612E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52700"/>
            <a:ext cx="2247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2025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Defined-risk intent</a:t>
            </a:r>
          </a:p>
        </p:txBody>
      </p:sp>
      <p:sp>
        <p:nvSpPr>
          <p:cNvPr id="12" name="broker-copy-1">
            <a:extLst xmlns:a="http://schemas.openxmlformats.org/drawingml/2006/main">
              <a:ext uri="{FF2B5EF4-FFF2-40B4-BE49-F238E27FC236}">
                <a16:creationId xmlns:a16="http://schemas.microsoft.com/office/drawing/2014/main" id="{B0B57FA3-02C2-4AAE-8E71-0E515434F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33750"/>
            <a:ext cx="2247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Code owns structure</a:t>
            </a:r>
          </a:p>
        </p:txBody>
      </p:sp>
      <p:sp>
        <p:nvSpPr>
          <p:cNvPr id="13" name="broker-arrow-1">
            <a:extLst xmlns:a="http://schemas.openxmlformats.org/drawingml/2006/main">
              <a:ext uri="{FF2B5EF4-FFF2-40B4-BE49-F238E27FC236}">
                <a16:creationId xmlns:a16="http://schemas.microsoft.com/office/drawing/2014/main" id="{66EA1D48-69C2-4EDA-8583-5027D1953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76550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label-GATEWAY-650-226">
            <a:extLst xmlns:a="http://schemas.openxmlformats.org/drawingml/2006/main">
              <a:ext uri="{FF2B5EF4-FFF2-40B4-BE49-F238E27FC236}">
                <a16:creationId xmlns:a16="http://schemas.microsoft.com/office/drawing/2014/main" id="{C22638F2-A686-413A-A71A-1404AA49E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52650"/>
            <a:ext cx="2247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GATEWAY</a:t>
            </a:r>
          </a:p>
        </p:txBody>
      </p:sp>
      <p:sp>
        <p:nvSpPr>
          <p:cNvPr id="15" name="broker-title-2">
            <a:extLst xmlns:a="http://schemas.openxmlformats.org/drawingml/2006/main">
              <a:ext uri="{FF2B5EF4-FFF2-40B4-BE49-F238E27FC236}">
                <a16:creationId xmlns:a16="http://schemas.microsoft.com/office/drawing/2014/main" id="{10E61873-8039-4988-B29B-F05D05A2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52700"/>
            <a:ext cx="2247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2025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Exact equality</a:t>
            </a:r>
          </a:p>
        </p:txBody>
      </p:sp>
      <p:sp>
        <p:nvSpPr>
          <p:cNvPr id="16" name="broker-copy-2">
            <a:extLst xmlns:a="http://schemas.openxmlformats.org/drawingml/2006/main">
              <a:ext uri="{FF2B5EF4-FFF2-40B4-BE49-F238E27FC236}">
                <a16:creationId xmlns:a16="http://schemas.microsoft.com/office/drawing/2014/main" id="{787B950A-927B-4DB5-A1D2-F3A686F18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247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Mismatch → NO_TRADE</a:t>
            </a:r>
          </a:p>
        </p:txBody>
      </p:sp>
      <p:sp>
        <p:nvSpPr>
          <p:cNvPr id="17" name="broker-arrow-2">
            <a:extLst xmlns:a="http://schemas.openxmlformats.org/drawingml/2006/main">
              <a:ext uri="{FF2B5EF4-FFF2-40B4-BE49-F238E27FC236}">
                <a16:creationId xmlns:a16="http://schemas.microsoft.com/office/drawing/2014/main" id="{8E9E7A8C-2444-4842-AA63-ADA38124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76550"/>
            <a:ext cx="400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0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2250" b="0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8" name="label-ALPACA-942-226">
            <a:extLst xmlns:a="http://schemas.openxmlformats.org/drawingml/2006/main">
              <a:ext uri="{FF2B5EF4-FFF2-40B4-BE49-F238E27FC236}">
                <a16:creationId xmlns:a16="http://schemas.microsoft.com/office/drawing/2014/main" id="{65117E8A-FD42-49B0-8877-C0958B496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152650"/>
            <a:ext cx="2247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2E6F5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E6F5C"/>
                </a:solidFill>
                <a:latin typeface="Arial"/>
                <a:ea typeface="Arial"/>
                <a:cs typeface="Arial"/>
              </a:rPr>
              <a:t>ALPACA</a:t>
            </a:r>
          </a:p>
        </p:txBody>
      </p:sp>
      <p:sp>
        <p:nvSpPr>
          <p:cNvPr id="19" name="broker-title-3">
            <a:extLst xmlns:a="http://schemas.openxmlformats.org/drawingml/2006/main">
              <a:ext uri="{FF2B5EF4-FFF2-40B4-BE49-F238E27FC236}">
                <a16:creationId xmlns:a16="http://schemas.microsoft.com/office/drawing/2014/main" id="{C80B64F7-823C-4706-B61E-93A41D243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552700"/>
            <a:ext cx="2247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2025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Paper interface</a:t>
            </a:r>
          </a:p>
        </p:txBody>
      </p:sp>
      <p:sp>
        <p:nvSpPr>
          <p:cNvPr id="20" name="broker-copy-3">
            <a:extLst xmlns:a="http://schemas.openxmlformats.org/drawingml/2006/main">
              <a:ext uri="{FF2B5EF4-FFF2-40B4-BE49-F238E27FC236}">
                <a16:creationId xmlns:a16="http://schemas.microsoft.com/office/drawing/2014/main" id="{2857FA7D-0AED-4FFB-A27E-218E69FAB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33750"/>
            <a:ext cx="2247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 i="0">
                <a:solidFill>
                  <a:srgbClr val="263238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263238"/>
                </a:solidFill>
                <a:latin typeface="Arial"/>
                <a:ea typeface="Arial"/>
                <a:cs typeface="Arial"/>
              </a:rPr>
              <a:t>No model-authored payload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42EF0B-2694-4A6E-9923-E3CF1C30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150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D2B43"/>
            </a:solidFill>
            <a:prstDash val="solid"/>
          </a:ln>
        </p:spPr>
      </p:sp>
      <p:sp>
        <p:nvSpPr>
          <p:cNvPr id="22" name="metric-exact max loss in checked fixture">
            <a:extLst xmlns:a="http://schemas.openxmlformats.org/drawingml/2006/main">
              <a:ext uri="{FF2B5EF4-FFF2-40B4-BE49-F238E27FC236}">
                <a16:creationId xmlns:a16="http://schemas.microsoft.com/office/drawing/2014/main" id="{2834C0EC-C902-462C-BD8C-A063DC3F7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0D2B43"/>
                </a:solidFill>
                <a:latin typeface="Georgia"/>
                <a:ea typeface="Georgia"/>
                <a:cs typeface="Georgia"/>
              </a:rPr>
              <a:t>$366</a:t>
            </a:r>
          </a:p>
        </p:txBody>
      </p:sp>
      <p:sp>
        <p:nvSpPr>
          <p:cNvPr id="23" name="metric-caption-exact max loss in checked fixture">
            <a:extLst xmlns:a="http://schemas.openxmlformats.org/drawingml/2006/main">
              <a:ext uri="{FF2B5EF4-FFF2-40B4-BE49-F238E27FC236}">
                <a16:creationId xmlns:a16="http://schemas.microsoft.com/office/drawing/2014/main" id="{B70A6FFC-23E0-4C19-BAA9-2E35D2D2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292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EXACT MAX LOSS IN CHECKED FIXTURE</a:t>
            </a:r>
          </a:p>
        </p:txBody>
      </p:sp>
      <p:sp>
        <p:nvSpPr>
          <p:cNvPr id="24" name="metric-source-removal challenges">
            <a:extLst xmlns:a="http://schemas.openxmlformats.org/drawingml/2006/main">
              <a:ext uri="{FF2B5EF4-FFF2-40B4-BE49-F238E27FC236}">
                <a16:creationId xmlns:a16="http://schemas.microsoft.com/office/drawing/2014/main" id="{70E137F7-4B6B-4E27-9601-681060B8A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6672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4/4</a:t>
            </a:r>
          </a:p>
        </p:txBody>
      </p:sp>
      <p:sp>
        <p:nvSpPr>
          <p:cNvPr id="25" name="metric-caption-source-removal challenges">
            <a:extLst xmlns:a="http://schemas.openxmlformats.org/drawingml/2006/main">
              <a:ext uri="{FF2B5EF4-FFF2-40B4-BE49-F238E27FC236}">
                <a16:creationId xmlns:a16="http://schemas.microsoft.com/office/drawing/2014/main" id="{001DAFCB-8580-4FDE-9889-6DCC72D49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2292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SOURCE-REMOVAL CHALLENGES</a:t>
            </a:r>
          </a:p>
        </p:txBody>
      </p:sp>
      <p:sp>
        <p:nvSpPr>
          <p:cNvPr id="26" name="metric-perturbation challenges">
            <a:extLst xmlns:a="http://schemas.openxmlformats.org/drawingml/2006/main">
              <a:ext uri="{FF2B5EF4-FFF2-40B4-BE49-F238E27FC236}">
                <a16:creationId xmlns:a16="http://schemas.microsoft.com/office/drawing/2014/main" id="{4099566A-0939-4ECF-84B5-C95B527FF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6725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defRPr>
            </a:pPr>
            <a:r>
              <a:rPr sz="3300" b="1" i="0">
                <a:solidFill>
                  <a:srgbClr val="2E6F5C"/>
                </a:solidFill>
                <a:latin typeface="Georgia"/>
                <a:ea typeface="Georgia"/>
                <a:cs typeface="Georgia"/>
              </a:rPr>
              <a:t>32/32</a:t>
            </a:r>
          </a:p>
        </p:txBody>
      </p:sp>
      <p:sp>
        <p:nvSpPr>
          <p:cNvPr id="27" name="metric-caption-perturbation challenges">
            <a:extLst xmlns:a="http://schemas.openxmlformats.org/drawingml/2006/main">
              <a:ext uri="{FF2B5EF4-FFF2-40B4-BE49-F238E27FC236}">
                <a16:creationId xmlns:a16="http://schemas.microsoft.com/office/drawing/2014/main" id="{83510299-6C52-4FA4-B8C2-8E592AF4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22922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68706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8706F"/>
                </a:solidFill>
                <a:latin typeface="Arial"/>
                <a:ea typeface="Arial"/>
                <a:cs typeface="Arial"/>
              </a:rPr>
              <a:t>PERTURBATION CHALLENGES</a:t>
            </a:r>
          </a:p>
        </p:txBody>
      </p:sp>
      <p:sp>
        <p:nvSpPr>
          <p:cNvPr id="28" name="alpaca-status">
            <a:extLst xmlns:a="http://schemas.openxmlformats.org/drawingml/2006/main">
              <a:ext uri="{FF2B5EF4-FFF2-40B4-BE49-F238E27FC236}">
                <a16:creationId xmlns:a16="http://schemas.microsoft.com/office/drawing/2014/main" id="{E3C3E0AC-74B0-4358-A8BA-81FF99144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762500"/>
            <a:ext cx="19526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1" i="0">
                <a:solidFill>
                  <a:srgbClr val="8B3A3A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8B3A3A"/>
                </a:solidFill>
                <a:latin typeface="Arial"/>
                <a:ea typeface="Arial"/>
                <a:cs typeface="Arial"/>
              </a:rPr>
              <a:t>Authenticated Alpaca evidence is read-only; no order or fill is presented as performance evidence.</a:t>
            </a:r>
          </a:p>
        </p:txBody>
      </p:sp>
    </p:spTree>
    <p:extLst>
      <p:ext uri="{BB962C8B-B14F-4D97-AF65-F5344CB8AC3E}">
        <p14:creationId xmlns:p14="http://schemas.microsoft.com/office/powerpoint/2010/main" val="18207991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D2B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label-What Finly proves today-58-32">
            <a:extLst xmlns:a="http://schemas.openxmlformats.org/drawingml/2006/main">
              <a:ext uri="{FF2B5EF4-FFF2-40B4-BE49-F238E27FC236}">
                <a16:creationId xmlns:a16="http://schemas.microsoft.com/office/drawing/2014/main" id="{62971ACF-E62A-44B0-9BE5-A2714C61D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WHAT FINLY PROVES TODAY</a:t>
            </a:r>
          </a:p>
        </p:txBody>
      </p:sp>
      <p:sp>
        <p:nvSpPr>
          <p:cNvPr id="2" name="slide-title-9">
            <a:extLst xmlns:a="http://schemas.openxmlformats.org/drawingml/2006/main">
              <a:ext uri="{FF2B5EF4-FFF2-40B4-BE49-F238E27FC236}">
                <a16:creationId xmlns:a16="http://schemas.microsoft.com/office/drawing/2014/main" id="{12D785D1-D76D-4CF5-9A82-5EC9EE04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110871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15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Finly makes its authority boundary inspectable now; forward returns remain the next test.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9BA905-8EEE-49BF-B34E-33839495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5E7482"/>
            </a:solidFill>
            <a:prstDash val="solid"/>
          </a:ln>
        </p:spPr>
      </p:sp>
      <p:sp>
        <p:nvSpPr>
          <p:cNvPr id="4" name="footer-9">
            <a:extLst xmlns:a="http://schemas.openxmlformats.org/drawingml/2006/main">
              <a:ext uri="{FF2B5EF4-FFF2-40B4-BE49-F238E27FC236}">
                <a16:creationId xmlns:a16="http://schemas.microsoft.com/office/drawing/2014/main" id="{1B1C4775-00B6-45D8-A8F1-D37D5A45A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FINLY  /  PROOF BEFORE AUTHORITY</a:t>
            </a:r>
          </a:p>
        </p:txBody>
      </p:sp>
      <p:sp>
        <p:nvSpPr>
          <p:cNvPr id="5" name="page-9">
            <a:extLst xmlns:a="http://schemas.openxmlformats.org/drawingml/2006/main">
              <a:ext uri="{FF2B5EF4-FFF2-40B4-BE49-F238E27FC236}">
                <a16:creationId xmlns:a16="http://schemas.microsoft.com/office/drawing/2014/main" id="{38685F6B-F854-424B-B269-B83B03020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590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825" b="1" i="0">
                <a:solidFill>
                  <a:srgbClr val="C5D0D4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C5D0D4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6" name="label-Technology-58-231">
            <a:extLst xmlns:a="http://schemas.openxmlformats.org/drawingml/2006/main">
              <a:ext uri="{FF2B5EF4-FFF2-40B4-BE49-F238E27FC236}">
                <a16:creationId xmlns:a16="http://schemas.microsoft.com/office/drawing/2014/main" id="{17BC781D-09F7-4DC4-8FED-B4B4410D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0027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TECHNOLOGY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71DB00-3E0B-4CB3-9ADD-74929A2F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336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E7482"/>
            </a:solidFill>
            <a:prstDash val="solid"/>
          </a:ln>
        </p:spPr>
      </p:sp>
      <p:sp>
        <p:nvSpPr>
          <p:cNvPr id="8" name="criterion-0">
            <a:extLst xmlns:a="http://schemas.openxmlformats.org/drawingml/2006/main">
              <a:ext uri="{FF2B5EF4-FFF2-40B4-BE49-F238E27FC236}">
                <a16:creationId xmlns:a16="http://schemas.microsoft.com/office/drawing/2014/main" id="{89511B15-F5C7-46B8-9364-A85CE25F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771775"/>
            <a:ext cx="23431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authority boundary is implemented, tested, and inspectable—not merely described.</a:t>
            </a:r>
          </a:p>
        </p:txBody>
      </p:sp>
      <p:sp>
        <p:nvSpPr>
          <p:cNvPr id="9" name="label-Originality-350-231">
            <a:extLst xmlns:a="http://schemas.openxmlformats.org/drawingml/2006/main">
              <a:ext uri="{FF2B5EF4-FFF2-40B4-BE49-F238E27FC236}">
                <a16:creationId xmlns:a16="http://schemas.microsoft.com/office/drawing/2014/main" id="{14A4ACDA-75F0-4406-BB82-EC1806E34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20027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ORIGINALITY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8A6175-79F7-44AD-B2C7-84EA4E153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336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E7482"/>
            </a:solidFill>
            <a:prstDash val="solid"/>
          </a:ln>
        </p:spPr>
      </p:sp>
      <p:sp>
        <p:nvSpPr>
          <p:cNvPr id="11" name="criterion-1">
            <a:extLst xmlns:a="http://schemas.openxmlformats.org/drawingml/2006/main">
              <a:ext uri="{FF2B5EF4-FFF2-40B4-BE49-F238E27FC236}">
                <a16:creationId xmlns:a16="http://schemas.microsoft.com/office/drawing/2014/main" id="{C7AC0DF3-5264-49F5-80A7-DA6AD01ED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71775"/>
            <a:ext cx="23431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Finly treats correction, refusal, and claim governance as product behavior.</a:t>
            </a:r>
          </a:p>
        </p:txBody>
      </p:sp>
      <p:sp>
        <p:nvSpPr>
          <p:cNvPr id="12" name="label-Presentation-642-231">
            <a:extLst xmlns:a="http://schemas.openxmlformats.org/drawingml/2006/main">
              <a:ext uri="{FF2B5EF4-FFF2-40B4-BE49-F238E27FC236}">
                <a16:creationId xmlns:a16="http://schemas.microsoft.com/office/drawing/2014/main" id="{7342C629-E748-4EBD-A2DE-CD07D3D87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0027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8EB8A7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8EB8A7"/>
                </a:solidFill>
                <a:latin typeface="Arial"/>
                <a:ea typeface="Arial"/>
                <a:cs typeface="Arial"/>
              </a:rPr>
              <a:t>PRESENTATION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760D99-D73E-41B4-9B9B-9FD9AEA2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5336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E7482"/>
            </a:solidFill>
            <a:prstDash val="solid"/>
          </a:ln>
        </p:spPr>
      </p:sp>
      <p:sp>
        <p:nvSpPr>
          <p:cNvPr id="14" name="criterion-2">
            <a:extLst xmlns:a="http://schemas.openxmlformats.org/drawingml/2006/main">
              <a:ext uri="{FF2B5EF4-FFF2-40B4-BE49-F238E27FC236}">
                <a16:creationId xmlns:a16="http://schemas.microsoft.com/office/drawing/2014/main" id="{FE58B6F1-4538-4B53-9D73-5D9B6DA0A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771775"/>
            <a:ext cx="23431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Every headline is traceable to a locked evidence surface and explicit limitation.</a:t>
            </a:r>
          </a:p>
        </p:txBody>
      </p:sp>
      <p:sp>
        <p:nvSpPr>
          <p:cNvPr id="15" name="label-P&amp;L-934-231">
            <a:extLst xmlns:a="http://schemas.openxmlformats.org/drawingml/2006/main">
              <a:ext uri="{FF2B5EF4-FFF2-40B4-BE49-F238E27FC236}">
                <a16:creationId xmlns:a16="http://schemas.microsoft.com/office/drawing/2014/main" id="{14541604-2BC9-42A4-93F9-91ED2F145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200275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75" b="1" i="0">
                <a:solidFill>
                  <a:srgbClr val="D49B91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D49B91"/>
                </a:solidFill>
                <a:latin typeface="Arial"/>
                <a:ea typeface="Arial"/>
                <a:cs typeface="Arial"/>
              </a:rPr>
              <a:t>P&amp;L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4907A3-F351-4C73-A62C-0A6BF7881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533650"/>
            <a:ext cx="2343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B3A3A"/>
            </a:solidFill>
            <a:prstDash val="solid"/>
          </a:ln>
        </p:spPr>
      </p:sp>
      <p:sp>
        <p:nvSpPr>
          <p:cNvPr id="17" name="criterion-3">
            <a:extLst xmlns:a="http://schemas.openxmlformats.org/drawingml/2006/main">
              <a:ext uri="{FF2B5EF4-FFF2-40B4-BE49-F238E27FC236}">
                <a16:creationId xmlns:a16="http://schemas.microsoft.com/office/drawing/2014/main" id="{23CE781D-294E-4F0F-95A3-3BFB257E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71775"/>
            <a:ext cx="23431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1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consumed ETF replay is descriptively attractive; options execution and forward performance remain the next proof.</a:t>
            </a:r>
          </a:p>
        </p:txBody>
      </p:sp>
      <p:sp>
        <p:nvSpPr>
          <p:cNvPr id="18" name="closing-line">
            <a:extLst xmlns:a="http://schemas.openxmlformats.org/drawingml/2006/main">
              <a:ext uri="{FF2B5EF4-FFF2-40B4-BE49-F238E27FC236}">
                <a16:creationId xmlns:a16="http://schemas.microsoft.com/office/drawing/2014/main" id="{7D315FCD-9801-44CA-8A2E-67D135BE4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81550"/>
            <a:ext cx="106299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400" b="1" i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400" b="1" i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Finly does not ask one historical chart to carry more weight than it can bear. It shows why a proposal was permitted or refused, and leaves profitability to the forward record.</a:t>
            </a:r>
          </a:p>
        </p:txBody>
      </p:sp>
    </p:spTree>
    <p:extLst>
      <p:ext uri="{BB962C8B-B14F-4D97-AF65-F5344CB8AC3E}">
        <p14:creationId xmlns:p14="http://schemas.microsoft.com/office/powerpoint/2010/main" val="458499660"/>
      </p:ext>
    </p:extLst>
  </p:cSld>
</p:sld>
</file>

<file path=ppt/theme/theme1.xml><?xml version="1.0" encoding="utf-8"?>
<a:theme xmlns:a="http://schemas.openxmlformats.org/drawingml/2006/main" name="Finly">
  <a:themeElements>
    <a:clrScheme name="Finly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Finly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Finly Presentation Builder</ap:Application>
  <ap:PresentationFormat>On-screen Show (16:9)</ap:PresentationFormat>
  <ap:Slides>9</ap:Slides>
  <ap:Notes>9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Bruce Wen</dc:creator>
  <lastModifiedBy>Bruce Wen</lastModifiedBy>
  <dc:title>Finly: Proof Before Authority</dc:title>
  <dcterms:created xsi:type="dcterms:W3CDTF">2026-08-29T12:00:00Z</dcterms:created>
  <dcterms:modified xsi:type="dcterms:W3CDTF">2026-08-29T12:00:00Z</dcterms:modified>
  <dc:subject>Alpaca AI Trading Agents Hackathon presentation</dc:subject>
  <keywords>Finly, Alpaca, trading agent, controlled delegation</keywords>
  <dc:description>Finly judge presentation prepared by Bruce Wen.</dc:description>
</coreProperties>
</file>