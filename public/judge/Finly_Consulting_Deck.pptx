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894fe6e43d4e48" /><Relationship Type="http://schemas.openxmlformats.org/officeDocument/2006/relationships/extended-properties" Target="/docProps/app.xml" Id="R21626d3802444a63" /><Relationship Type="http://schemas.openxmlformats.org/officeDocument/2006/relationships/officeDocument" Target="/ppt/presentation.xml" Id="Rf6b6ff0f560a41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0923fac73747f5"/>
  </p:sldMasterIdLst>
  <p:notesMasterIdLst>
    <p:notesMasterId xmlns:r="http://schemas.openxmlformats.org/officeDocument/2006/relationships" r:id="Rd5fd90e74cfb4851"/>
  </p:notesMasterIdLst>
  <p:sldIdLst>
    <p:sldId xmlns:r="http://schemas.openxmlformats.org/officeDocument/2006/relationships" id="256" r:id="Ra859c8bc387444aa"/>
    <p:sldId xmlns:r="http://schemas.openxmlformats.org/officeDocument/2006/relationships" id="257" r:id="R3065e087c43b4367"/>
    <p:sldId xmlns:r="http://schemas.openxmlformats.org/officeDocument/2006/relationships" id="258" r:id="Rfa38649777ee401c"/>
    <p:sldId xmlns:r="http://schemas.openxmlformats.org/officeDocument/2006/relationships" id="259" r:id="R104f10e0387844c6"/>
    <p:sldId xmlns:r="http://schemas.openxmlformats.org/officeDocument/2006/relationships" id="260" r:id="Re376941d3c1e4145"/>
    <p:sldId xmlns:r="http://schemas.openxmlformats.org/officeDocument/2006/relationships" id="261" r:id="Re12dfaee93d846ba"/>
    <p:sldId xmlns:r="http://schemas.openxmlformats.org/officeDocument/2006/relationships" id="262" r:id="R90185166963a4e15"/>
    <p:sldId xmlns:r="http://schemas.openxmlformats.org/officeDocument/2006/relationships" id="263" r:id="R3e5c236902ad4745"/>
    <p:sldId xmlns:r="http://schemas.openxmlformats.org/officeDocument/2006/relationships" id="264" r:id="R72a0ae7bbbde44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8a893a30dd4d0d" /><Relationship Type="http://schemas.openxmlformats.org/officeDocument/2006/relationships/slideMaster" Target="/ppt/slideMasters/slideMaster1.xml" Id="Ra20923fac73747f5" /><Relationship Type="http://schemas.openxmlformats.org/officeDocument/2006/relationships/notesMaster" Target="/ppt/notesMasters/notesMaster1.xml" Id="Rd5fd90e74cfb4851" /><Relationship Type="http://schemas.openxmlformats.org/officeDocument/2006/relationships/presProps" Target="/ppt/presProps.xml" Id="Rde026aed9ae64ddb" /><Relationship Type="http://schemas.openxmlformats.org/officeDocument/2006/relationships/tableStyles" Target="/ppt/tableStyles.xml" Id="Rd8aa235cdf134099" /><Relationship Type="http://schemas.openxmlformats.org/officeDocument/2006/relationships/slide" Target="/ppt/slides/slide1.xml" Id="Ra859c8bc387444aa" /><Relationship Type="http://schemas.openxmlformats.org/officeDocument/2006/relationships/slide" Target="/ppt/slides/slide2.xml" Id="R3065e087c43b4367" /><Relationship Type="http://schemas.openxmlformats.org/officeDocument/2006/relationships/slide" Target="/ppt/slides/slide3.xml" Id="Rfa38649777ee401c" /><Relationship Type="http://schemas.openxmlformats.org/officeDocument/2006/relationships/slide" Target="/ppt/slides/slide4.xml" Id="R104f10e0387844c6" /><Relationship Type="http://schemas.openxmlformats.org/officeDocument/2006/relationships/slide" Target="/ppt/slides/slide5.xml" Id="Re376941d3c1e4145" /><Relationship Type="http://schemas.openxmlformats.org/officeDocument/2006/relationships/slide" Target="/ppt/slides/slide6.xml" Id="Re12dfaee93d846ba" /><Relationship Type="http://schemas.openxmlformats.org/officeDocument/2006/relationships/slide" Target="/ppt/slides/slide7.xml" Id="R90185166963a4e15" /><Relationship Type="http://schemas.openxmlformats.org/officeDocument/2006/relationships/slide" Target="/ppt/slides/slide8.xml" Id="R3e5c236902ad4745" /><Relationship Type="http://schemas.openxmlformats.org/officeDocument/2006/relationships/slide" Target="/ppt/slides/slide9.xml" Id="R72a0ae7bbbde44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1a59c6012b41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f8873db5d0458d" /><Relationship Type="http://schemas.openxmlformats.org/officeDocument/2006/relationships/notesMaster" Target="/ppt/notesMasters/notesMaster1.xml" Id="Rd47150aeb2cf40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69ec1cb37247b8" /><Relationship Type="http://schemas.openxmlformats.org/officeDocument/2006/relationships/notesMaster" Target="/ppt/notesMasters/notesMaster1.xml" Id="R392c7ac871d24a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27cfbefa544f96" /><Relationship Type="http://schemas.openxmlformats.org/officeDocument/2006/relationships/notesMaster" Target="/ppt/notesMasters/notesMaster1.xml" Id="R9d6a192e94884f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b9473c601b491a" /><Relationship Type="http://schemas.openxmlformats.org/officeDocument/2006/relationships/notesMaster" Target="/ppt/notesMasters/notesMaster1.xml" Id="Ra9e6654db6af41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a3a69e177e41b8" /><Relationship Type="http://schemas.openxmlformats.org/officeDocument/2006/relationships/notesMaster" Target="/ppt/notesMasters/notesMaster1.xml" Id="Ra4defa4dc4c94c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1c443a95894279" /><Relationship Type="http://schemas.openxmlformats.org/officeDocument/2006/relationships/notesMaster" Target="/ppt/notesMasters/notesMaster1.xml" Id="Re6629514a899402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c7851f90e24200" /><Relationship Type="http://schemas.openxmlformats.org/officeDocument/2006/relationships/notesMaster" Target="/ppt/notesMasters/notesMaster1.xml" Id="R0e58b5777404413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84388162e5443ef" /><Relationship Type="http://schemas.openxmlformats.org/officeDocument/2006/relationships/notesMaster" Target="/ppt/notesMasters/notesMaster1.xml" Id="Rc58f088d72074a6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bc64778cef40e2" /><Relationship Type="http://schemas.openxmlformats.org/officeDocument/2006/relationships/notesMaster" Target="/ppt/notesMasters/notesMaster1.xml" Id="R6b0b4d39e98645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Sanitized paper account: https://owlsowo.github.io/finly-bot/data/competition_live.json</a:t>
            </a:r>
          </a:p>
          <a:p xmlns:a="http://schemas.openxmlformats.org/drawingml/2006/main">
            <a:r>
              <a:t>- The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Decision trace: https://owlsowo.github.io/finly-bot/data/llama_decision_trace.json</a:t>
            </a:r>
          </a:p>
          <a:p xmlns:a="http://schemas.openxmlformats.org/drawingml/2006/main">
            <a:r>
              <a:t>- Positive decision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Interactive product: https://owlsowo.github.io/finly-bot/#demo</a:t>
            </a:r>
          </a:p>
          <a:p xmlns:a="http://schemas.openxmlformats.org/drawingml/2006/main">
            <a:r>
              <a:t>- Model trace: https://owlsowo.github.io/finly-bot/data/llama_decision_trace.json</a:t>
            </a:r>
          </a:p>
          <a:p xmlns:a="http://schemas.openxmlformats.org/drawingml/2006/main">
            <a:r>
              <a:t>- Compiled order receipt: https://owlsowo.github.io/finly-bot/data/latest_receipt.json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wealth and drawdown series: https://owlsowo.github.io/finly-bot/data/g4_wealth_drawdown.json</a:t>
            </a:r>
          </a:p>
          <a:p xmlns:a="http://schemas.openxmlformats.org/drawingml/2006/main">
            <a:r>
              <a:t>- Quantitative claim boundary: https://owlsowo.github.io/finly-bot/data/quantitative_release_gate.json</a:t>
            </a:r>
          </a:p>
          <a:p xmlns:a="http://schemas.openxmlformats.org/drawingml/2006/main">
            <a:r>
              <a:t>- Historical simulation with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External-era evidence: https://owlsowo.github.io/finly-bot/data/attempt150_public_evidence.json</a:t>
            </a:r>
          </a:p>
          <a:p xmlns:a="http://schemas.openxmlformats.org/drawingml/2006/main">
            <a:r>
              <a:t>- Kenneth French 10 Industry Portfolios: https://mba.tuck.dartmouth.edu/pages/faculty/ken.french/ftp/10_Industry_Portfolios_daily_CSV.zip</a:t>
            </a:r>
          </a:p>
          <a:p xmlns:a="http://schemas.openxmlformats.org/drawingml/2006/main">
            <a:r>
              <a:t>- Evidence record: 21218 observations, 21/21 positive anchors.</a:t>
            </a:r>
          </a:p>
          <a:p xmlns:a="http://schemas.openxmlformats.org/drawingml/2006/main">
            <a:r>
              <a:t>- Industry-proxy historical stress test; separate from live broker performance.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Positive options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Receipt: SPY260911P00560000 / SPY260911P00550000, $3.66 debit.</a:t>
            </a:r>
          </a:p>
          <a:p xmlns:a="http://schemas.openxmlformats.org/drawingml/2006/main">
            <a:r>
              <a:t>- The checked options fixture is synthetic paper-trading evidence, not realized options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live dashboard: https://owlsowo.github.io/finly-bot/#live</a:t>
            </a:r>
          </a:p>
          <a:p xmlns:a="http://schemas.openxmlformats.org/drawingml/2006/main">
            <a:r>
              <a:t>- Human-frozen competition protocol: https://github.com/owlsowo/finly-bot/blob/main/config/g4-official-production.json</a:t>
            </a:r>
          </a:p>
          <a:p xmlns:a="http://schemas.openxmlformats.org/drawingml/2006/main">
            <a:r>
              <a:t>- Forward-score contract: https://github.com/owlsowo/finly-bot/blob/main/config/competition-forward-profit.json</a:t>
            </a:r>
          </a:p>
          <a:p xmlns:a="http://schemas.openxmlformats.org/drawingml/2006/main">
            <a:r>
              <a:t>- Verified starting equity: $100,000; per-trade risk ceiling: $500.</a:t>
            </a:r>
          </a:p>
          <a:p xmlns:a="http://schemas.openxmlformats.org/drawingml/2006/main">
            <a:r>
              <a:t>- Screenshot is project-owned and records paper-account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runner: https://github.com/owlsowo/finly-bot/blob/main/docs/CLOUD_RUNNER.md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Verified automated run: https://github.com/owlsowo/finly-bot/actions/runs/33369848292</a:t>
            </a:r>
          </a:p>
          <a:p xmlns:a="http://schemas.openxmlformats.org/drawingml/2006/main">
            <a:r>
              <a:t>- Public repository: https://github.com/owlsowo/finly-bot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QR encodes the live product URL and was generated by quickchart.io.</a:t>
            </a:r>
          </a:p>
          <a:p xmlns:a="http://schemas.openxmlformats.org/drawingml/2006/main">
            <a:r>
              <a:t>- Historical simulations and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d961a2131f45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8fa1c097cc41b4" /><Relationship Type="http://schemas.openxmlformats.org/officeDocument/2006/relationships/slideLayout" Target="/ppt/slideLayouts/slideLayout1.xml" Id="R1d6fbef649444e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6fbef649444e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311f21160b4aed" /><Relationship Type="http://schemas.openxmlformats.org/officeDocument/2006/relationships/image" Target="/ppt/media/image.png" Id="R03041ff2cb554ddf" /><Relationship Type="http://schemas.openxmlformats.org/officeDocument/2006/relationships/image" Target="/ppt/media/image.svg" Id="R6151009f58734969" /><Relationship Type="http://schemas.openxmlformats.org/officeDocument/2006/relationships/image" Target="/ppt/media/image2.png" Id="R23844e3f7d1d40ac" /><Relationship Type="http://schemas.openxmlformats.org/officeDocument/2006/relationships/image" Target="/ppt/media/image2.svg" Id="R55e1787ec784416f" /><Relationship Type="http://schemas.openxmlformats.org/officeDocument/2006/relationships/notesSlide" Target="/ppt/notesSlides/notesSlide1.xml" Id="R980186cb096b47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117187f9f4109" /><Relationship Type="http://schemas.openxmlformats.org/officeDocument/2006/relationships/notesSlide" Target="/ppt/notesSlides/notesSlide2.xml" Id="Re71963941e8b44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bae3f2da8e486c" /><Relationship Type="http://schemas.openxmlformats.org/officeDocument/2006/relationships/image" Target="/ppt/media/image.jpeg" Id="Rfea882470e714236" /><Relationship Type="http://schemas.openxmlformats.org/officeDocument/2006/relationships/notesSlide" Target="/ppt/notesSlides/notesSlide3.xml" Id="R82598e1c6dd14b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6287be8e24009" /><Relationship Type="http://schemas.openxmlformats.org/officeDocument/2006/relationships/chart" Target="/ppt/slides/charts/chart1.xml" Id="R6936f2b5a5794d43" /><Relationship Type="http://schemas.openxmlformats.org/officeDocument/2006/relationships/chart" Target="/ppt/slides/charts/chart2.xml" Id="Rce41866fca3a4df0" /><Relationship Type="http://schemas.openxmlformats.org/officeDocument/2006/relationships/notesSlide" Target="/ppt/notesSlides/notesSlide4.xml" Id="R6a890dfbed5847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034ca39de419c" /><Relationship Type="http://schemas.openxmlformats.org/officeDocument/2006/relationships/notesSlide" Target="/ppt/notesSlides/notesSlide5.xml" Id="Ra4a56fa3349545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58fded7d8947b6" /><Relationship Type="http://schemas.openxmlformats.org/officeDocument/2006/relationships/chart" Target="/ppt/slides/charts/chart3.xml" Id="R73c2e09a7d074e13" /><Relationship Type="http://schemas.openxmlformats.org/officeDocument/2006/relationships/notesSlide" Target="/ppt/notesSlides/notesSlide6.xml" Id="R816ee2a147b04b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ae35d3b8c48c4" /><Relationship Type="http://schemas.openxmlformats.org/officeDocument/2006/relationships/image" Target="/ppt/media/image3.png" Id="R08708c6f2b1c42ef" /><Relationship Type="http://schemas.openxmlformats.org/officeDocument/2006/relationships/notesSlide" Target="/ppt/notesSlides/notesSlide7.xml" Id="R5f92ad7c369a4f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7328dacd64ae0" /><Relationship Type="http://schemas.openxmlformats.org/officeDocument/2006/relationships/image" Target="/ppt/media/image2.jpeg" Id="Rce22e13f4cf64c9a" /><Relationship Type="http://schemas.openxmlformats.org/officeDocument/2006/relationships/notesSlide" Target="/ppt/notesSlides/notesSlide8.xml" Id="R871efd65e78f43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2bac6e8124dc2" /><Relationship Type="http://schemas.openxmlformats.org/officeDocument/2006/relationships/image" Target="/ppt/media/image4.png" Id="R836ce34b81a44d94" /><Relationship Type="http://schemas.openxmlformats.org/officeDocument/2006/relationships/notesSlide" Target="/ppt/notesSlides/notesSlide9.xml" Id="R9f6e805e7ddd4cbe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 G4</c:v>
          </c:tx>
          <c:spPr>
            <a:ln xmlns:a="http://schemas.openxmlformats.org/drawingml/2006/main" w="3810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10288</c:v>
              </c:pt>
              <c:pt idx="1">
                <c:v>10739</c:v>
              </c:pt>
              <c:pt idx="2">
                <c:v>11526</c:v>
              </c:pt>
              <c:pt idx="3">
                <c:v>11889</c:v>
              </c:pt>
              <c:pt idx="4">
                <c:v>12514</c:v>
              </c:pt>
              <c:pt idx="5">
                <c:v>13355</c:v>
              </c:pt>
              <c:pt idx="6">
                <c:v>13659</c:v>
              </c:pt>
              <c:pt idx="7">
                <c:v>13830</c:v>
              </c:pt>
              <c:pt idx="8">
                <c:v>14211</c:v>
              </c:pt>
              <c:pt idx="9">
                <c:v>13885</c:v>
              </c:pt>
              <c:pt idx="10">
                <c:v>15896</c:v>
              </c:pt>
              <c:pt idx="11">
                <c:v>15917</c:v>
              </c:pt>
              <c:pt idx="12">
                <c:v>16845</c:v>
              </c:pt>
              <c:pt idx="13">
                <c:v>17137</c:v>
              </c:pt>
              <c:pt idx="14">
                <c:v>16353</c:v>
              </c:pt>
              <c:pt idx="15">
                <c:v>17109</c:v>
              </c:pt>
              <c:pt idx="16">
                <c:v>16170</c:v>
              </c:pt>
              <c:pt idx="17">
                <c:v>16498</c:v>
              </c:pt>
              <c:pt idx="18">
                <c:v>17744</c:v>
              </c:pt>
              <c:pt idx="19">
                <c:v>17769</c:v>
              </c:pt>
              <c:pt idx="20">
                <c:v>18234</c:v>
              </c:pt>
              <c:pt idx="21">
                <c:v>19148</c:v>
              </c:pt>
              <c:pt idx="22">
                <c:v>19699</c:v>
              </c:pt>
              <c:pt idx="23">
                <c:v>20198</c:v>
              </c:pt>
              <c:pt idx="24">
                <c:v>20790</c:v>
              </c:pt>
              <c:pt idx="25">
                <c:v>22268</c:v>
              </c:pt>
              <c:pt idx="26">
                <c:v>22817</c:v>
              </c:pt>
              <c:pt idx="27">
                <c:v>23411</c:v>
              </c:pt>
              <c:pt idx="28">
                <c:v>24609</c:v>
              </c:pt>
              <c:pt idx="29">
                <c:v>24698</c:v>
              </c:pt>
              <c:pt idx="30">
                <c:v>21265</c:v>
              </c:pt>
              <c:pt idx="31">
                <c:v>23784</c:v>
              </c:pt>
              <c:pt idx="32">
                <c:v>24688</c:v>
              </c:pt>
              <c:pt idx="33">
                <c:v>26502</c:v>
              </c:pt>
              <c:pt idx="34">
                <c:v>26158</c:v>
              </c:pt>
              <c:pt idx="35">
                <c:v>28309</c:v>
              </c:pt>
              <c:pt idx="36">
                <c:v>27807</c:v>
              </c:pt>
              <c:pt idx="37">
                <c:v>28920</c:v>
              </c:pt>
              <c:pt idx="38">
                <c:v>32733</c:v>
              </c:pt>
              <c:pt idx="39">
                <c:v>33901</c:v>
              </c:pt>
              <c:pt idx="40">
                <c:v>36522</c:v>
              </c:pt>
              <c:pt idx="41">
                <c:v>38925</c:v>
              </c:pt>
              <c:pt idx="42">
                <c:v>40816</c:v>
              </c:pt>
              <c:pt idx="43">
                <c:v>41474</c:v>
              </c:pt>
              <c:pt idx="44">
                <c:v>43575</c:v>
              </c:pt>
              <c:pt idx="45">
                <c:v>47241</c:v>
              </c:pt>
              <c:pt idx="46">
                <c:v>45003</c:v>
              </c:pt>
              <c:pt idx="47">
                <c:v>44079</c:v>
              </c:pt>
              <c:pt idx="48">
                <c:v>41770</c:v>
              </c:pt>
              <c:pt idx="49">
                <c:v>41642</c:v>
              </c:pt>
              <c:pt idx="50">
                <c:v>44593</c:v>
              </c:pt>
              <c:pt idx="51">
                <c:v>45887</c:v>
              </c:pt>
              <c:pt idx="52">
                <c:v>47153</c:v>
              </c:pt>
              <c:pt idx="53">
                <c:v>52437</c:v>
              </c:pt>
              <c:pt idx="54">
                <c:v>51363</c:v>
              </c:pt>
              <c:pt idx="55">
                <c:v>54161</c:v>
              </c:pt>
              <c:pt idx="56">
                <c:v>59507</c:v>
              </c:pt>
              <c:pt idx="57">
                <c:v>59856</c:v>
              </c:pt>
              <c:pt idx="58">
                <c:v>67431</c:v>
              </c:pt>
              <c:pt idx="59">
                <c:v>69737</c:v>
              </c:pt>
              <c:pt idx="60">
                <c:v>74965</c:v>
              </c:pt>
              <c:pt idx="61">
                <c:v>76998</c:v>
              </c:pt>
              <c:pt idx="62">
                <c:v>70629</c:v>
              </c:pt>
              <c:pt idx="63">
                <c:v>79543</c:v>
              </c:pt>
              <c:pt idx="64">
                <c:v>84910</c:v>
              </c:pt>
              <c:pt idx="65">
                <c:v>86155</c:v>
              </c:pt>
              <c:pt idx="66">
                <c:v>89189</c:v>
              </c:pt>
              <c:pt idx="67">
                <c:v>96162</c:v>
              </c:pt>
              <c:pt idx="68">
                <c:v>103465</c:v>
              </c:pt>
              <c:pt idx="69">
                <c:v>106711</c:v>
              </c:pt>
            </c:numLit>
          </c:val>
        </c:ser>
        <c:ser>
          <c:idx val="1"/>
          <c:order val="1"/>
          <c:tx>
            <c:v>SPY</c:v>
          </c:tx>
          <c:spPr>
            <a:ln xmlns:a="http://schemas.openxmlformats.org/drawingml/2006/main" w="28575">
              <a:solidFill>
                <a:srgbClr val="0B2942"/>
              </a:solidFill>
              <a:prstDash val="dash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10246</c:v>
              </c:pt>
              <c:pt idx="1">
                <c:v>10980</c:v>
              </c:pt>
              <c:pt idx="2">
                <c:v>11718</c:v>
              </c:pt>
              <c:pt idx="3">
                <c:v>11984</c:v>
              </c:pt>
              <c:pt idx="4">
                <c:v>12330</c:v>
              </c:pt>
              <c:pt idx="5">
                <c:v>13156</c:v>
              </c:pt>
              <c:pt idx="6">
                <c:v>13253</c:v>
              </c:pt>
              <c:pt idx="7">
                <c:v>13683</c:v>
              </c:pt>
              <c:pt idx="8">
                <c:v>13869</c:v>
              </c:pt>
              <c:pt idx="9">
                <c:v>13528</c:v>
              </c:pt>
              <c:pt idx="10">
                <c:v>15209</c:v>
              </c:pt>
              <c:pt idx="11">
                <c:v>14922</c:v>
              </c:pt>
              <c:pt idx="12">
                <c:v>15648</c:v>
              </c:pt>
              <c:pt idx="13">
                <c:v>15451</c:v>
              </c:pt>
              <c:pt idx="14">
                <c:v>14825</c:v>
              </c:pt>
              <c:pt idx="15">
                <c:v>15343</c:v>
              </c:pt>
              <c:pt idx="16">
                <c:v>14775</c:v>
              </c:pt>
              <c:pt idx="17">
                <c:v>15339</c:v>
              </c:pt>
              <c:pt idx="18">
                <c:v>16337</c:v>
              </c:pt>
              <c:pt idx="19">
                <c:v>16347</c:v>
              </c:pt>
              <c:pt idx="20">
                <c:v>17223</c:v>
              </c:pt>
              <c:pt idx="21">
                <c:v>18083</c:v>
              </c:pt>
              <c:pt idx="22">
                <c:v>18343</c:v>
              </c:pt>
              <c:pt idx="23">
                <c:v>18979</c:v>
              </c:pt>
              <c:pt idx="24">
                <c:v>19626</c:v>
              </c:pt>
              <c:pt idx="25">
                <c:v>20799</c:v>
              </c:pt>
              <c:pt idx="26">
                <c:v>20867</c:v>
              </c:pt>
              <c:pt idx="27">
                <c:v>21254</c:v>
              </c:pt>
              <c:pt idx="28">
                <c:v>22213</c:v>
              </c:pt>
              <c:pt idx="29">
                <c:v>22740</c:v>
              </c:pt>
              <c:pt idx="30">
                <c:v>20062</c:v>
              </c:pt>
              <c:pt idx="31">
                <c:v>22160</c:v>
              </c:pt>
              <c:pt idx="32">
                <c:v>22292</c:v>
              </c:pt>
              <c:pt idx="33">
                <c:v>24042</c:v>
              </c:pt>
              <c:pt idx="34">
                <c:v>23270</c:v>
              </c:pt>
              <c:pt idx="35">
                <c:v>25425</c:v>
              </c:pt>
              <c:pt idx="36">
                <c:v>23955</c:v>
              </c:pt>
              <c:pt idx="37">
                <c:v>23686</c:v>
              </c:pt>
              <c:pt idx="38">
                <c:v>26439</c:v>
              </c:pt>
              <c:pt idx="39">
                <c:v>27352</c:v>
              </c:pt>
              <c:pt idx="40">
                <c:v>29953</c:v>
              </c:pt>
              <c:pt idx="41">
                <c:v>32134</c:v>
              </c:pt>
              <c:pt idx="42">
                <c:v>34486</c:v>
              </c:pt>
              <c:pt idx="43">
                <c:v>35086</c:v>
              </c:pt>
              <c:pt idx="44">
                <c:v>35923</c:v>
              </c:pt>
              <c:pt idx="45">
                <c:v>38888</c:v>
              </c:pt>
              <c:pt idx="46">
                <c:v>36092</c:v>
              </c:pt>
              <c:pt idx="47">
                <c:v>34716</c:v>
              </c:pt>
              <c:pt idx="48">
                <c:v>32249</c:v>
              </c:pt>
              <c:pt idx="49">
                <c:v>30631</c:v>
              </c:pt>
              <c:pt idx="50">
                <c:v>33113</c:v>
              </c:pt>
              <c:pt idx="51">
                <c:v>34399</c:v>
              </c:pt>
              <c:pt idx="52">
                <c:v>34834</c:v>
              </c:pt>
              <c:pt idx="53">
                <c:v>38235</c:v>
              </c:pt>
              <c:pt idx="54">
                <c:v>36914</c:v>
              </c:pt>
              <c:pt idx="55">
                <c:v>38995</c:v>
              </c:pt>
              <c:pt idx="56">
                <c:v>42832</c:v>
              </c:pt>
              <c:pt idx="57">
                <c:v>43178</c:v>
              </c:pt>
              <c:pt idx="58">
                <c:v>48323</c:v>
              </c:pt>
              <c:pt idx="59">
                <c:v>49309</c:v>
              </c:pt>
              <c:pt idx="60">
                <c:v>52273</c:v>
              </c:pt>
              <c:pt idx="61">
                <c:v>53107</c:v>
              </c:pt>
              <c:pt idx="62">
                <c:v>48306</c:v>
              </c:pt>
              <c:pt idx="63">
                <c:v>54588</c:v>
              </c:pt>
              <c:pt idx="64">
                <c:v>58104</c:v>
              </c:pt>
              <c:pt idx="65">
                <c:v>59915</c:v>
              </c:pt>
              <c:pt idx="66">
                <c:v>60001</c:v>
              </c:pt>
              <c:pt idx="67">
                <c:v>62696</c:v>
              </c:pt>
              <c:pt idx="68">
                <c:v>66178</c:v>
              </c:pt>
              <c:pt idx="69">
                <c:v>68082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1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30000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22A3E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 drawdown</c:v>
          </c:tx>
          <c:spPr>
            <a:ln xmlns:a="http://schemas.openxmlformats.org/drawingml/2006/main" w="1905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0%</c:formatCode>
              <c:ptCount val="70"/>
              <c:pt idx="0">
                <c:v>0</c:v>
              </c:pt>
              <c:pt idx="1">
                <c:v>-0.00138782</c:v>
              </c:pt>
              <c:pt idx="2">
                <c:v>-0.00936304</c:v>
              </c:pt>
              <c:pt idx="3">
                <c:v>-0.01093798</c:v>
              </c:pt>
              <c:pt idx="4">
                <c:v>0</c:v>
              </c:pt>
              <c:pt idx="5">
                <c:v>-0.00229364</c:v>
              </c:pt>
              <c:pt idx="6">
                <c:v>-0.01856983</c:v>
              </c:pt>
              <c:pt idx="7">
                <c:v>-0.00625856</c:v>
              </c:pt>
              <c:pt idx="8">
                <c:v>-0.03116174</c:v>
              </c:pt>
              <c:pt idx="9">
                <c:v>-0.07714909</c:v>
              </c:pt>
              <c:pt idx="10">
                <c:v>0</c:v>
              </c:pt>
              <c:pt idx="11">
                <c:v>-0.04055249</c:v>
              </c:pt>
              <c:pt idx="12">
                <c:v>0</c:v>
              </c:pt>
              <c:pt idx="13">
                <c:v>-0.00718341</c:v>
              </c:pt>
              <c:pt idx="14">
                <c:v>-0.05256368</c:v>
              </c:pt>
              <c:pt idx="15">
                <c:v>-0.01947082</c:v>
              </c:pt>
              <c:pt idx="16">
                <c:v>-0.07327132</c:v>
              </c:pt>
              <c:pt idx="17">
                <c:v>-0.05446604</c:v>
              </c:pt>
              <c:pt idx="18">
                <c:v>0</c:v>
              </c:pt>
              <c:pt idx="19">
                <c:v>-0.01767946</c:v>
              </c:pt>
              <c:pt idx="20">
                <c:v>0</c:v>
              </c:pt>
              <c:pt idx="21">
                <c:v>-0.00780512</c:v>
              </c:pt>
              <c:pt idx="22">
                <c:v>0</c:v>
              </c:pt>
              <c:pt idx="23">
                <c:v>-0.00565511</c:v>
              </c:pt>
              <c:pt idx="24">
                <c:v>0</c:v>
              </c:pt>
              <c:pt idx="25">
                <c:v>0</c:v>
              </c:pt>
              <c:pt idx="26">
                <c:v>-0.03928326</c:v>
              </c:pt>
              <c:pt idx="27">
                <c:v>-0.01426383</c:v>
              </c:pt>
              <c:pt idx="28">
                <c:v>0</c:v>
              </c:pt>
              <c:pt idx="29">
                <c:v>-0.01994868</c:v>
              </c:pt>
              <c:pt idx="30">
                <c:v>-0.15616815</c:v>
              </c:pt>
              <c:pt idx="31">
                <c:v>-0.05622893</c:v>
              </c:pt>
              <c:pt idx="32">
                <c:v>-0.04075474</c:v>
              </c:pt>
              <c:pt idx="33">
                <c:v>-0.00173267</c:v>
              </c:pt>
              <c:pt idx="34">
                <c:v>-0.02126249</c:v>
              </c:pt>
              <c:pt idx="35">
                <c:v>0</c:v>
              </c:pt>
              <c:pt idx="36">
                <c:v>-0.11855299</c:v>
              </c:pt>
              <c:pt idx="37">
                <c:v>-0.08327718</c:v>
              </c:pt>
              <c:pt idx="38">
                <c:v>-0.00375227</c:v>
              </c:pt>
              <c:pt idx="39">
                <c:v>-0.0611605</c:v>
              </c:pt>
              <c:pt idx="40">
                <c:v>-0.01351528</c:v>
              </c:pt>
              <c:pt idx="41">
                <c:v>-0.03018982</c:v>
              </c:pt>
              <c:pt idx="42">
                <c:v>-0.0172632</c:v>
              </c:pt>
              <c:pt idx="43">
                <c:v>-0.03358004</c:v>
              </c:pt>
              <c:pt idx="44">
                <c:v>-0.01915337</c:v>
              </c:pt>
              <c:pt idx="45">
                <c:v>-0.00914672</c:v>
              </c:pt>
              <c:pt idx="46">
                <c:v>-0.06702713</c:v>
              </c:pt>
              <c:pt idx="47">
                <c:v>-0.10097063</c:v>
              </c:pt>
              <c:pt idx="48">
                <c:v>-0.14806634</c:v>
              </c:pt>
              <c:pt idx="49">
                <c:v>-0.15069097</c:v>
              </c:pt>
              <c:pt idx="50">
                <c:v>-0.09049578</c:v>
              </c:pt>
              <c:pt idx="51">
                <c:v>-0.06410674</c:v>
              </c:pt>
              <c:pt idx="52">
                <c:v>-0.03828585</c:v>
              </c:pt>
              <c:pt idx="53">
                <c:v>-0.00611465</c:v>
              </c:pt>
              <c:pt idx="54">
                <c:v>-0.04553927</c:v>
              </c:pt>
              <c:pt idx="55">
                <c:v>-0.00973974</c:v>
              </c:pt>
              <c:pt idx="56">
                <c:v>-0.01097868</c:v>
              </c:pt>
              <c:pt idx="57">
                <c:v>-0.04056359</c:v>
              </c:pt>
              <c:pt idx="58">
                <c:v>-0.00186402</c:v>
              </c:pt>
              <c:pt idx="59">
                <c:v>-0.00084626</c:v>
              </c:pt>
              <c:pt idx="60">
                <c:v>-0.00021714</c:v>
              </c:pt>
              <c:pt idx="61">
                <c:v>0</c:v>
              </c:pt>
              <c:pt idx="62">
                <c:v>-0.08271184</c:v>
              </c:pt>
              <c:pt idx="63">
                <c:v>0</c:v>
              </c:pt>
              <c:pt idx="64">
                <c:v>-0.00560896</c:v>
              </c:pt>
              <c:pt idx="65">
                <c:v>-0.01113221</c:v>
              </c:pt>
              <c:pt idx="66">
                <c:v>-0.0067297</c:v>
              </c:pt>
              <c:pt idx="67">
                <c:v>-0.0078209</c:v>
              </c:pt>
              <c:pt idx="68">
                <c:v>-0.03047249</c:v>
              </c:pt>
              <c:pt idx="69">
                <c:v>-0.00285384</c:v>
              </c:pt>
            </c:numLit>
          </c:val>
        </c:ser>
        <c:ser>
          <c:idx val="1"/>
          <c:order val="1"/>
          <c:tx>
            <c:v>SPY drawdown</c:v>
          </c:tx>
          <c:spPr>
            <a:ln xmlns:a="http://schemas.openxmlformats.org/drawingml/2006/main" w="19050">
              <a:solidFill>
                <a:srgbClr val="0B2942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0%</c:formatCode>
              <c:ptCount val="70"/>
              <c:pt idx="0">
                <c:v>0</c:v>
              </c:pt>
              <c:pt idx="1">
                <c:v>-0.00131972</c:v>
              </c:pt>
              <c:pt idx="2">
                <c:v>-0.00520432</c:v>
              </c:pt>
              <c:pt idx="3">
                <c:v>-0.01035388</c:v>
              </c:pt>
              <c:pt idx="4">
                <c:v>0</c:v>
              </c:pt>
              <c:pt idx="5">
                <c:v>-0.00021706</c:v>
              </c:pt>
              <c:pt idx="6">
                <c:v>-0.01636085</c:v>
              </c:pt>
              <c:pt idx="7">
                <c:v>0</c:v>
              </c:pt>
              <c:pt idx="8">
                <c:v>-0.03342536</c:v>
              </c:pt>
              <c:pt idx="9">
                <c:v>-0.07193798</c:v>
              </c:pt>
              <c:pt idx="10">
                <c:v>0</c:v>
              </c:pt>
              <c:pt idx="11">
                <c:v>-0.03533155</c:v>
              </c:pt>
              <c:pt idx="12">
                <c:v>0</c:v>
              </c:pt>
              <c:pt idx="13">
                <c:v>-0.01317096</c:v>
              </c:pt>
              <c:pt idx="14">
                <c:v>-0.05314881</c:v>
              </c:pt>
              <c:pt idx="15">
                <c:v>-0.02006912</c:v>
              </c:pt>
              <c:pt idx="16">
                <c:v>-0.05631327</c:v>
              </c:pt>
              <c:pt idx="17">
                <c:v>-0.02470228</c:v>
              </c:pt>
              <c:pt idx="18">
                <c:v>-0.00055288</c:v>
              </c:pt>
              <c:pt idx="19">
                <c:v>-0.00838939</c:v>
              </c:pt>
              <c:pt idx="20">
                <c:v>-0.00011214</c:v>
              </c:pt>
              <c:pt idx="21">
                <c:v>-0.00863285</c:v>
              </c:pt>
              <c:pt idx="22">
                <c:v>-0.00091536</c:v>
              </c:pt>
              <c:pt idx="23">
                <c:v>-0.00092951</c:v>
              </c:pt>
              <c:pt idx="24">
                <c:v>-0.0011389</c:v>
              </c:pt>
              <c:pt idx="25">
                <c:v>0</c:v>
              </c:pt>
              <c:pt idx="26">
                <c:v>-0.0610654</c:v>
              </c:pt>
              <c:pt idx="27">
                <c:v>-0.04364147</c:v>
              </c:pt>
              <c:pt idx="28">
                <c:v>-0.00053135</c:v>
              </c:pt>
              <c:pt idx="29">
                <c:v>-0.0096389</c:v>
              </c:pt>
              <c:pt idx="30">
                <c:v>-0.12624863</c:v>
              </c:pt>
              <c:pt idx="31">
                <c:v>-0.03489924</c:v>
              </c:pt>
              <c:pt idx="32">
                <c:v>-0.04479169</c:v>
              </c:pt>
              <c:pt idx="33">
                <c:v>0</c:v>
              </c:pt>
              <c:pt idx="34">
                <c:v>-0.03393507</c:v>
              </c:pt>
              <c:pt idx="35">
                <c:v>0</c:v>
              </c:pt>
              <c:pt idx="36">
                <c:v>-0.12067738</c:v>
              </c:pt>
              <c:pt idx="37">
                <c:v>-0.13057975</c:v>
              </c:pt>
              <c:pt idx="38">
                <c:v>-0.02949723</c:v>
              </c:pt>
              <c:pt idx="39">
                <c:v>-0.0600208</c:v>
              </c:pt>
              <c:pt idx="40">
                <c:v>-0.00929314</c:v>
              </c:pt>
              <c:pt idx="41">
                <c:v>-0.00221585</c:v>
              </c:pt>
              <c:pt idx="42">
                <c:v>-0.00235674</c:v>
              </c:pt>
              <c:pt idx="43">
                <c:v>-0.02770634</c:v>
              </c:pt>
              <c:pt idx="44">
                <c:v>-0.03989614</c:v>
              </c:pt>
              <c:pt idx="45">
                <c:v>-0.0004472</c:v>
              </c:pt>
              <c:pt idx="46">
                <c:v>-0.09101783</c:v>
              </c:pt>
              <c:pt idx="47">
                <c:v>-0.1256757</c:v>
              </c:pt>
              <c:pt idx="48">
                <c:v>-0.18780171</c:v>
              </c:pt>
              <c:pt idx="49">
                <c:v>-0.22855283</c:v>
              </c:pt>
              <c:pt idx="50">
                <c:v>-0.16604267</c:v>
              </c:pt>
              <c:pt idx="51">
                <c:v>-0.13364364</c:v>
              </c:pt>
              <c:pt idx="52">
                <c:v>-0.12269263</c:v>
              </c:pt>
              <c:pt idx="53">
                <c:v>-0.03704402</c:v>
              </c:pt>
              <c:pt idx="54">
                <c:v>-0.07032004</c:v>
              </c:pt>
              <c:pt idx="55">
                <c:v>-0.01790285</c:v>
              </c:pt>
              <c:pt idx="56">
                <c:v>-0.00498016</c:v>
              </c:pt>
              <c:pt idx="57">
                <c:v>-0.04050291</c:v>
              </c:pt>
              <c:pt idx="58">
                <c:v>-0.00236933</c:v>
              </c:pt>
              <c:pt idx="59">
                <c:v>0</c:v>
              </c:pt>
              <c:pt idx="60">
                <c:v>0</c:v>
              </c:pt>
              <c:pt idx="61">
                <c:v>0</c:v>
              </c:pt>
              <c:pt idx="62">
                <c:v>-0.09254198</c:v>
              </c:pt>
              <c:pt idx="63">
                <c:v>-0.00161383</c:v>
              </c:pt>
              <c:pt idx="64">
                <c:v>-0.00544347</c:v>
              </c:pt>
              <c:pt idx="65">
                <c:v>-0.00509174</c:v>
              </c:pt>
              <c:pt idx="66">
                <c:v>-0.01817424</c:v>
              </c:pt>
              <c:pt idx="67">
                <c:v>-0.00501975</c:v>
              </c:pt>
              <c:pt idx="68">
                <c:v>-0.01115105</c:v>
              </c:pt>
              <c:pt idx="69">
                <c:v>-0.00920845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"/>
          <c:min val="-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7E3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Expiry payoff</c:v>
          </c:tx>
          <c:spPr>
            <a:ln xmlns:a="http://schemas.openxmlformats.org/drawingml/2006/main" w="47625">
              <a:solidFill>
                <a:srgbClr val="2F7D68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2F7D68"/>
              </a:solidFill>
            </c:spPr>
          </c:marker>
          <c:cat>
            <c:strLit>
              <c:ptCount val="9"/>
              <c:pt idx="0">
                <c:v>$540</c:v>
              </c:pt>
              <c:pt idx="1">
                <c:v>$545</c:v>
              </c:pt>
              <c:pt idx="2">
                <c:v>$550</c:v>
              </c:pt>
              <c:pt idx="3">
                <c:v>$555</c:v>
              </c:pt>
              <c:pt idx="4">
                <c:v>$560</c:v>
              </c:pt>
              <c:pt idx="5">
                <c:v>$565</c:v>
              </c:pt>
              <c:pt idx="6">
                <c:v>$570</c:v>
              </c:pt>
              <c:pt idx="7">
                <c:v>$575</c:v>
              </c:pt>
              <c:pt idx="8">
                <c:v>$580</c:v>
              </c:pt>
            </c:strLit>
          </c:cat>
          <c:val>
            <c:numLit>
              <c:formatCode>$#,##0</c:formatCode>
              <c:ptCount val="9"/>
              <c:pt idx="0">
                <c:v>634</c:v>
              </c:pt>
              <c:pt idx="1">
                <c:v>634</c:v>
              </c:pt>
              <c:pt idx="2">
                <c:v>634</c:v>
              </c:pt>
              <c:pt idx="3">
                <c:v>134</c:v>
              </c:pt>
              <c:pt idx="4">
                <c:v>-366</c:v>
              </c:pt>
              <c:pt idx="5">
                <c:v>-366</c:v>
              </c:pt>
              <c:pt idx="6">
                <c:v>-366</c:v>
              </c:pt>
              <c:pt idx="7">
                <c:v>-366</c:v>
              </c:pt>
              <c:pt idx="8">
                <c:v>-366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700"/>
          <c:min val="-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DB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6F1E8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41ff2cb554ddf">
            <a:extLst>
              <a:ext uri="{96DAC541-7B7A-43D3-8B79-37D633B846F1}">
                <asvg:svgBlip xmlns:asvg="http://schemas.microsoft.com/office/drawing/2016/SVG/main" r:embed="R6151009f5873496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381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C92A00-A82D-4936-814C-47644301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94C821-A297-426A-8C61-53AE228D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AI RESEARCH WITH CHECKED EXECUTION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59BB64-708A-4F9D-B52F-E06F3E06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Finly turns AI research into a checked Alpaca paper order.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1F904-7649-459B-A4C4-21E31B8A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7E3E5"/>
                </a:solidFill>
              </a:defRPr>
            </a:pPr>
            <a:r>
              <a:rPr sz="1800" b="0" i="0">
                <a:solidFill>
                  <a:srgbClr val="D7E3E5"/>
                </a:solidFill>
              </a:rPr>
              <a:t>The model explains the market. Code fixes the risk, builds the order, and can still stop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5D4B2C-E5D5-4AA9-A940-7341E260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257300"/>
            <a:ext cx="9525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844e3f7d1d40ac">
            <a:extLst>
              <a:ext uri="{96DAC541-7B7A-43D3-8B79-37D633B846F1}">
                <asvg:svgBlip xmlns:asvg="http://schemas.microsoft.com/office/drawing/2016/SVG/main" r:embed="R55e1787ec784416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848600" y="12573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F3A502-DB22-4687-9E24-33554847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76650"/>
            <a:ext cx="3943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AI  →  CODE  →  ALPACA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DAA205-F432-49F1-A406-7CB88496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B9DFD2"/>
                </a:solidFill>
              </a:defRPr>
            </a:pPr>
            <a:r>
              <a:rPr sz="1350" b="0" i="0">
                <a:solidFill>
                  <a:srgbClr val="B9DFD2"/>
                </a:solidFill>
              </a:rPr>
              <a:t>Interpret  ·  control  ·  execute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DAA32D-B1F6-4A6D-A8C3-B5DDCD511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5F75FF-86A7-4349-9587-B396073F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2C66D"/>
                </a:solidFill>
              </a:defRPr>
            </a:pPr>
            <a:r>
              <a:rPr sz="2850" b="1" i="0">
                <a:solidFill>
                  <a:srgbClr val="F2C66D"/>
                </a:solidFill>
              </a:rPr>
              <a:t>$106,711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1CE3E4-D462-495E-9A43-96EC37E5F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HISTORICAL ENDING WEALTH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7DDC25-4EE9-4EA6-9FEB-4AD71C51B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+$38,629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11862F-9E22-4018-A0C4-6C8AD0E3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816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VERSUS SPY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DB99CE-7C4E-4E96-ADED-F93FA717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B9DFD2"/>
                </a:solidFill>
              </a:defRPr>
            </a:pPr>
            <a:r>
              <a:rPr sz="2850" b="1" i="0">
                <a:solidFill>
                  <a:srgbClr val="B9DFD2"/>
                </a:solidFill>
              </a:rPr>
              <a:t>$100,000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A41153-7190-4F8C-B9A5-976111FF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VERIFIED PAPER ACCOUNT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1B1421-FE61-412D-B2B7-B85966AA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52F10D-6281-448E-9795-DCFB3C0D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816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PER-TRADE CEILING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E7E7C1-9444-406E-82BE-BCB1E281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FC2C8"/>
                </a:solidFill>
              </a:defRPr>
            </a:pPr>
            <a:r>
              <a:rPr sz="1200" b="0" i="0">
                <a:solidFill>
                  <a:srgbClr val="AFC2C8"/>
                </a:solidFill>
              </a:rPr>
              <a:t>Bruce Wen  ·  Brandeis University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6D3AD2-157A-4169-9215-ED84D0AF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9DB5C3-3492-4E33-B8A3-FF2BC490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894163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DD4F5C-475F-4906-BB55-CB184AA4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6B6714-B6AA-404A-90FF-0186DBF6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2A3E"/>
                </a:solidFill>
              </a:defRPr>
            </a:pPr>
            <a:r>
              <a:rPr sz="3450" b="1" i="0">
                <a:solidFill>
                  <a:srgbClr val="122A3E"/>
                </a:solidFill>
              </a:rPr>
              <a:t>Trading agents break when one model researches, sizes, and sends.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015D3E-C1BD-4C0E-A198-8C2AE6DA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56B5D"/>
                </a:solidFill>
              </a:defRPr>
            </a:pPr>
            <a:r>
              <a:rPr sz="1275" b="1" i="0">
                <a:solidFill>
                  <a:srgbClr val="E56B5D"/>
                </a:solidFill>
              </a:rPr>
              <a:t>COMMON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61856B-E6E0-460D-BC14-5EC8448E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DED8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11E6C-E170-4EFB-9F24-C557DAF1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66C0A-AB59-48F8-87D4-190FFEDC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reads · sizes · 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55D019-EFEF-4050-BF1A-3352075F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E56B5D"/>
                </a:solidFill>
              </a:defRPr>
            </a:pPr>
            <a:r>
              <a:rPr sz="3450" b="1" i="0">
                <a:solidFill>
                  <a:srgbClr val="E56B5D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49B0F2-38EC-4B24-8175-B1AE5102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714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4E2159-E8D1-4100-BD16-CC3022F1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051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3D0F06-EA0D-4C3D-8D51-768CE634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E56B5D"/>
                </a:solidFill>
              </a:defRPr>
            </a:pPr>
            <a:r>
              <a:rPr sz="1200" b="0" i="0">
                <a:solidFill>
                  <a:srgbClr val="E56B5D"/>
                </a:solidFill>
              </a:rPr>
              <a:t>one confident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57646-6D8A-4B6C-AA6D-936EAD8B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AA7D48-CD0E-422E-B863-0DB07E4F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802042-A42A-41E9-BA85-C587CCAF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4F6E68-DE8B-462D-B39F-DAD74437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interprets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FB320C-F023-4070-A052-A8453FD2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5BB8C1-91C0-4650-B33C-6D1A2604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FF97D0-2088-437A-852B-F59C4DFD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48BD36-6AEE-4734-B817-9A2B2087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fixes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5A6ED1-9D3C-4BCB-B8E3-2E088157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90B219-0E64-4B65-9828-1EDC285A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EB8CA3-91FF-4788-A5E2-82DDD12B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5A94FA-7D3C-4C2E-A200-863FA7B9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permits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2FC5EF-6290-460D-A830-DAC15DCFD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72FC7A-9C1A-4294-8E68-73B54640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90800"/>
            <a:ext cx="704850" cy="1085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AF4589-2274-4A9C-ACE0-3DF166BD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9908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10031B-94D8-4CDD-9374-35F20485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AD5A5B-4385-4A02-942D-A1A01BD7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F7D68"/>
                </a:solidFill>
              </a:defRPr>
            </a:pPr>
            <a:r>
              <a:rPr sz="2400" b="1" i="0">
                <a:solidFill>
                  <a:srgbClr val="2F7D68"/>
                </a:solidFill>
              </a:rPr>
              <a:t>Useful AI insight without giving the model unchecked control of the account.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1A981E-7057-42A1-92BA-1DEAF467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27078"/>
                </a:solidFill>
              </a:defRPr>
            </a:pPr>
            <a:r>
              <a:rPr sz="1800" b="0" i="0">
                <a:solidFill>
                  <a:srgbClr val="627078"/>
                </a:solidFill>
              </a:rPr>
              <a:t>Finly keeps exposure, option legs, broker fields, and execution permission in deterministic code.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DF0614-DC17-4EC6-AB77-9CA0CA90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1F024D-3930-4245-9175-C3FB14BB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847429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4C72E1-C0A7-4E32-AC0F-ABBB736E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HOW THE PRODUCT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D135D1-2FF3-4B6E-B69B-5BABF4D5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Finly gives AI the judgment; deterministic code keeps the keys.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8A631-A1A4-4BBA-B3E9-348CC649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914525"/>
            <a:ext cx="6057900" cy="3448050"/>
          </a:xfrm>
          <a:prstGeom xmlns:a="http://schemas.openxmlformats.org/drawingml/2006/main" prst="roundRect">
            <a:avLst>
              <a:gd name="adj" fmla="val 3315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882470e714236"/>
          <a:stretch xmlns:a="http://schemas.openxmlformats.org/drawingml/2006/main"/>
        </p:blipFill>
        <p:spPr>
          <a:xfrm xmlns:a="http://schemas.openxmlformats.org/drawingml/2006/main">
            <a:off x="5620808" y="1962150"/>
            <a:ext cx="5960533" cy="33528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5F2DC-6F24-49B3-87AF-B2362A22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B9DFD2"/>
                </a:solidFill>
              </a:defRPr>
            </a:pPr>
            <a:r>
              <a:rPr sz="1350" b="1" i="0">
                <a:solidFill>
                  <a:srgbClr val="B9DFD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4F438-F5A7-4FEF-85F7-13986C51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00CE2-47CC-4CB1-BC3E-9AB5379E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241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Assess the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FF748D-A784-4126-BCA7-70630391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146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80199-62F8-4C07-B7AB-79C84976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2C66D"/>
                </a:solidFill>
              </a:defRPr>
            </a:pPr>
            <a:r>
              <a:rPr sz="1350" b="1" i="0">
                <a:solidFill>
                  <a:srgbClr val="F2C66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0D7112-D1CD-4B8D-8776-63933615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CD712B-9FC8-4A90-B3C9-9D0A7D70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290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Aggregate, size, and build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C4CF9A-114E-4A71-B9D5-72E04618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63821A-50C0-4CF6-9FD8-64E8227E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402E5D-2561-49A7-B9A4-C4DAAFAB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BE1D5-9074-4543-8916-27B02E87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Send to Alpaca—or stop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6E9216-1067-4FA1-BAFF-4F23CFBF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9AD6C3-9001-41EE-9F42-FE9344DF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9DFD2"/>
                </a:solidFill>
              </a:defRPr>
            </a:pPr>
            <a:r>
              <a:rPr sz="1800" b="1" i="0">
                <a:solidFill>
                  <a:srgbClr val="B9DFD2"/>
                </a:solidFill>
              </a:rPr>
              <a:t>The model may explain or veto. It never writes broker fields.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2C5A99-E6F7-4E4C-9962-13C60AFC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2DF87B-0440-4CF2-9705-4A232A11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645061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343A67-2814-480D-944F-EA821F67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HISTORICAL REPLAY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697A02-B1FD-41D9-BCE9-9E02A0DE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$10,000 became $106,711—$38,629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3DEE5-3C7F-4C9F-87E1-064DF57A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38275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078"/>
                </a:solidFill>
              </a:defRPr>
            </a:pPr>
            <a:r>
              <a:rPr sz="1425" b="0" i="0">
                <a:solidFill>
                  <a:srgbClr val="627078"/>
                </a:solidFill>
              </a:rPr>
              <a:t>2013–2026 · identical starting capital · modeled 5 bp one-way costs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866775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36f2b5a5794d43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DD130B-04B2-4B53-B39F-09EAD849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F7D68"/>
                </a:solidFill>
              </a:defRPr>
            </a:pPr>
            <a:r>
              <a:rPr sz="3000" b="1" i="0">
                <a:solidFill>
                  <a:srgbClr val="2F7D68"/>
                </a:solidFill>
              </a:rPr>
              <a:t>$106,711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F1CFC-0D7A-43F1-92F8-D6E3D6B6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574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ENDING WEALTH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4B8DD-48EA-4E75-B576-7AF64B92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2942"/>
                </a:solidFill>
              </a:defRPr>
            </a:pPr>
            <a:r>
              <a:rPr sz="2700" b="1" i="0">
                <a:solidFill>
                  <a:srgbClr val="0B2942"/>
                </a:solidFill>
              </a:rPr>
              <a:t>$68,082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C54F9-F9A2-420E-82DB-6F9B0475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05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SPY ENDING WEALTH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EB2D2-0AFE-4FC1-BF1E-E9DA6531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29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2F7D68"/>
                </a:solidFill>
              </a:defRPr>
            </a:pPr>
            <a:r>
              <a:rPr sz="2550" b="1" i="0">
                <a:solidFill>
                  <a:srgbClr val="2F7D68"/>
                </a:solidFill>
              </a:rPr>
              <a:t>+967.11%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75BE74-044E-4451-9A62-B2093C33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52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TOTAL RETURN</a:t>
            </a:r>
          </a:p>
        </p:txBody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09600" y="5143500"/>
          <a:ext xmlns:a="http://schemas.openxmlformats.org/drawingml/2006/main" cx="8667750" cy="971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41866fca3a4df0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739B22-27DF-4078-A501-695C66A8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720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DRAWDOWN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2B9163-4B55-4FD0-8AEE-D8FF793C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76875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Retrospective simulation; the live paper score is measured separately.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1ED17A-A94D-4661-AB99-AC0E0F76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A4E397-46B4-475C-B008-01CEC4FB3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855779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A6D775-67BF-4E56-BF83-868FD22D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OUT-OF-ERA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7384E0-B837-4286-A29B-7556F650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FFFFFF"/>
                </a:solidFill>
              </a:defRPr>
            </a:pPr>
            <a:r>
              <a:rPr sz="3375" b="1" i="0">
                <a:solidFill>
                  <a:srgbClr val="FFFFFF"/>
                </a:solidFill>
              </a:rPr>
              <a:t>The edge survived 80 earlier years, 21 timing choices, and 5× higher costs.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BED3F4-FD4F-457D-8F52-91A77633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1F25E-FFC5-4C6E-BD45-3EDA9C97A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78A2B1-7766-4620-A423-F4D5F9DC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3DE00-C48D-4336-B31C-E1159E2D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1927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10202E-C149-454D-A9B1-8D013FC2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580501-AB5E-4F18-8F54-E1AE82CF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21,218 public market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D8E510-AB9F-4D01-8C29-A20A7E1D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B9DFD2"/>
                </a:solidFill>
              </a:defRPr>
            </a:pPr>
            <a:r>
              <a:rPr sz="3600" b="1" i="0">
                <a:solidFill>
                  <a:srgbClr val="B9DFD2"/>
                </a:solidFill>
              </a:rPr>
              <a:t>13.37%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524EE-51DA-47EF-AEBC-BDC9238F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FINLY ANNUALIZED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B577F8-D4DB-467F-869A-5B3A57EB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</a:defRPr>
            </a:pPr>
            <a:r>
              <a:rPr sz="1650" b="0" i="0">
                <a:solidFill>
                  <a:srgbClr val="FFFFFF"/>
                </a:solidFill>
              </a:rPr>
              <a:t>vs 9.48% market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57485E-CB13-4803-B1E9-FD796421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21 / 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DFF8F4-2274-49E7-B2C8-9390C9C7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76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REBALANCE ANCHORS POSITIVE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AF9FFA-9849-4D0B-A42D-4DCF4EB0B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C4C322-E5C9-4F5A-9617-AC3A30748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84ACDC-6B2A-4165-BC6F-4B2DF405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55287C-C04F-4F27-8858-BF058589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E7B2D0-5A64-408F-B0E7-563C0BDE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0659AD-2F65-4B49-89B3-846BED4F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56BF6E-3919-4C11-B8E1-1AFC7714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79D9B2-A7E9-410D-A39B-2E4A8498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64992A-0A1C-43A2-ADE5-C720981E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763015-4C97-4EBE-874A-A994671D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24AB94-375D-4E6F-8094-7227646F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EB6C25-666C-4F5F-AED2-3370758C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3A2B3A-A085-4587-BEF1-D579EEC0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0D576D-7E59-4DD2-981E-4FFD79C6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1C97BC-15AD-43C8-A620-192436E6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5C1632-F126-4AF7-9DBE-7019D39E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310D84-A90B-4B81-9454-D8472750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7BDEEB-F101-4FED-AF23-A53449AD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42F80F-9442-41FD-A173-D77C8730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A2C0E0-AC63-4209-A3C6-4093ABEA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CF533F-BCD9-41F4-9EAF-60716EF6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6DC013-44B1-457D-B0BE-03C053AA1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+2.45 pp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3EA338-8713-420A-A89D-EF050664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76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EDGE AT 25 BP COSTS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633CC3-F2B9-4AF1-8C39-AA61A9C7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862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5 bp  →  10 bp  →  25 bp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CEBD61-895E-4238-8133-E56D5F7D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2209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C375C8-A330-4292-9731-8F2B6E6C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742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8121AF-19AC-41D9-B7E8-03211943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53F6B0-027E-4808-8AE5-E3297E19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B9DFD2"/>
                </a:solidFill>
              </a:defRPr>
            </a:pPr>
            <a:r>
              <a:rPr sz="1950" b="1" i="0">
                <a:solidFill>
                  <a:srgbClr val="B9DFD2"/>
                </a:solidFill>
              </a:rPr>
              <a:t>Maximum drawdown was 16.31 percentage points shallower than the market proxy.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D30EC7-A9AB-414A-9904-5B7E8A86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6646DD-63BB-4301-BF97-C2071AD8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69739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57AC0C-2115-4728-B653-B2D0181A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DEFINED-RISK OPTIONS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C50EC9-10A7-4CEA-B720-291968E9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2A3E"/>
                </a:solidFill>
              </a:defRPr>
            </a:pPr>
            <a:r>
              <a:rPr sz="3450" b="1" i="0">
                <a:solidFill>
                  <a:srgbClr val="122A3E"/>
                </a:solidFill>
              </a:rPr>
              <a:t>Every options proposal arrives with its worst case already fixed.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6191250" cy="3371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c2e09a7d074e13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AA1409-B664-451C-8D47-8280FD5F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27078"/>
                </a:solidFill>
              </a:defRPr>
            </a:pPr>
            <a:r>
              <a:rPr sz="1050" b="1" i="0">
                <a:solidFill>
                  <a:srgbClr val="627078"/>
                </a:solidFill>
              </a:rPr>
              <a:t>PAYOFF AT EXPIRY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BB01E6-6CBA-4104-9086-1AB271B4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383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F7D68"/>
                </a:solidFill>
              </a:defRPr>
            </a:pPr>
            <a:r>
              <a:rPr sz="2100" b="1" i="0">
                <a:solidFill>
                  <a:srgbClr val="2F7D68"/>
                </a:solidFill>
              </a:rPr>
              <a:t>+$634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FE3945-701C-406F-99F0-AE22BF86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2100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E56B5D"/>
                </a:solidFill>
              </a:defRPr>
            </a:pPr>
            <a:r>
              <a:rPr sz="2100" b="1" i="0">
                <a:solidFill>
                  <a:srgbClr val="E56B5D"/>
                </a:solidFill>
              </a:rPr>
              <a:t>−$366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4600A-4694-4A43-BEAA-A20901E3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4343400" cy="3562350"/>
          </a:xfrm>
          <a:prstGeom xmlns:a="http://schemas.openxmlformats.org/drawingml/2006/main" prst="roundRect">
            <a:avLst>
              <a:gd name="adj" fmla="val 4278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428D0-FA8E-41BA-9538-9E99B8A5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14550"/>
            <a:ext cx="3638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ALPACA-COMPATIBLE PAPER ORDER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86E142-A8A1-44A9-A1A4-15FD476A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71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SPY bear-put vertical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C23EFA-DC19-4AFA-BD8A-2D5A83B3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432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BUY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7D6935-9AAD-4B93-A9C9-082DEE9E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560 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712B05-6C80-46F4-AA12-D5555E03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SELL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326EBC-5713-40F7-A8B7-036A23B9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550 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1CF418-9921-479E-B209-69E4AE35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10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LIMIT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A523CC-6191-4BE6-B5C6-7B1347B9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$3.66 debit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EA71C7-D096-4572-9FD9-3E7C7651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762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535BCD-7DF4-4675-99FE-75C187EF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33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C4D4D8"/>
                </a:solidFill>
              </a:defRPr>
            </a:pPr>
            <a:r>
              <a:rPr sz="1275" b="0" i="0">
                <a:solidFill>
                  <a:srgbClr val="C4D4D8"/>
                </a:solidFill>
              </a:rPr>
              <a:t>Exact fields · one contract · synthetic fixture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172F3D-A1D5-4336-B5E0-2AF1D420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$366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1001A5-E667-4595-85FD-BEE8DB29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5EED74-8E9D-4ED3-8782-56ACAE32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$634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D5079B-69C2-4FCD-8ACC-1360C351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GAIN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776426-2DA5-41A0-994B-079248DE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4355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4 /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17E49B-6BEC-44F1-A6B9-A547CBBD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674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SOURCE REMOVALS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B6376B-80A7-4A78-BB98-9A556976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32 / 32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E4C233-7CCC-4D0F-8E98-3DBD0767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INPUT SHOCKS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C7EABC-B939-491E-8F1E-4A49EAA6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AC39A7-D7D7-472C-8033-ECC2ECC6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131780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BF0C20-1760-406F-B653-9E516E7A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SEPARATE FORWARD SCORE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3066A6-38AA-4F24-9254-1BB13171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A human froze the allocation; the $100,000 account supplies the forward score.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0A3392-FA7A-4F0E-924C-5E827E88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990725"/>
            <a:ext cx="7200900" cy="4076700"/>
          </a:xfrm>
          <a:prstGeom xmlns:a="http://schemas.openxmlformats.org/drawingml/2006/main" prst="roundRect">
            <a:avLst>
              <a:gd name="adj" fmla="val 2804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708c6f2b1c42e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038350"/>
            <a:ext cx="7105650" cy="3981450"/>
          </a:xfrm>
          <a:prstGeom xmlns:a="http://schemas.openxmlformats.org/drawingml/2006/main" prst="roundRect">
            <a:avLst>
              <a:gd name="adj" fmla="val 191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F7C3DE-91A9-4719-9D32-0CE03FC8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E180E2-55B3-4060-BB91-7FDD75AD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238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2942"/>
                </a:solidFill>
              </a:defRPr>
            </a:pPr>
            <a:r>
              <a:rPr sz="1650" b="1" i="0">
                <a:solidFill>
                  <a:srgbClr val="0B2942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EF9E55-9584-4C1E-9E71-92225BC1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336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REPLAY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4939C7-B219-4D3B-B71D-7804F3B2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4193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$10k → $106,711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C9CB9D-2EC8-4B3A-A87B-63856585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743200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1360A0-E2AE-40DF-8D73-B8EC9795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94A713-99C7-452B-AABC-70744F8E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3623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2942"/>
                </a:solidFill>
              </a:defRPr>
            </a:pPr>
            <a:r>
              <a:rPr sz="1650" b="1" i="0">
                <a:solidFill>
                  <a:srgbClr val="0B2942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41980-B0FD-4345-818A-E686257C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57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FREEZE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D1C83A-F150-491A-9213-8793A832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Human-selected rule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A68D7A-EADF-4933-BCB7-F05E62F3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867150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5A7B00-37EC-425C-A8DF-F11C7E89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00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B4996B-3DD6-400D-83AE-5857049E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44862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2942"/>
                </a:solidFill>
              </a:defRPr>
            </a:pPr>
            <a:r>
              <a:rPr sz="1650" b="1" i="0">
                <a:solidFill>
                  <a:srgbClr val="0B2942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B662CC-3DAB-478E-853F-9415662D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815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1B5FC-9AEB-4F4B-BA55-859DD34E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6672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$100,000 baseline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DABE61-AC62-491A-B9CA-B58DC21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57850"/>
            <a:ext cx="327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719A5D-A35A-436D-B7F3-7514E1A6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810250"/>
            <a:ext cx="327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B9DFD2"/>
                </a:solidFill>
              </a:defRPr>
            </a:pPr>
            <a:r>
              <a:rPr sz="1500" b="1" i="0">
                <a:solidFill>
                  <a:srgbClr val="B9DFD2"/>
                </a:solidFill>
              </a:rPr>
              <a:t>Historical upside nominates the test. The account—not the backtest—settles 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2015ED-B692-45F5-95EE-838865CA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77D4EF-47F2-4686-A734-F5C039E7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902786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3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65F002-124E-4604-BBA8-6DB177F6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OPERATIONAL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6A853B-998B-43A8-A0A2-19589AC9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22A3E"/>
                </a:solidFill>
              </a:defRPr>
            </a:pPr>
            <a:r>
              <a:rPr sz="3525" b="1" i="0">
                <a:solidFill>
                  <a:srgbClr val="122A3E"/>
                </a:solidFill>
              </a:rPr>
              <a:t>Finly can fail closed, restart, and prove what happened.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9CC42A-9623-4C0A-B01D-5B17399C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933575"/>
            <a:ext cx="5791200" cy="3295650"/>
          </a:xfrm>
          <a:prstGeom xmlns:a="http://schemas.openxmlformats.org/drawingml/2006/main" prst="roundRect">
            <a:avLst>
              <a:gd name="adj" fmla="val 34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6B5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22e13f4cf64c9a"/>
          <a:stretch xmlns:a="http://schemas.openxmlformats.org/drawingml/2006/main"/>
        </p:blipFill>
        <p:spPr>
          <a:xfrm xmlns:a="http://schemas.openxmlformats.org/drawingml/2006/main">
            <a:off x="5889625" y="1981200"/>
            <a:ext cx="5689600" cy="3200400"/>
          </a:xfrm>
          <a:prstGeom xmlns:a="http://schemas.openxmlformats.org/drawingml/2006/main" prst="roundRect">
            <a:avLst>
              <a:gd name="adj" fmla="val 238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DC0E0-797F-43D5-9B7E-A054A159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2039D7-276B-4D2A-9361-7C6671A97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002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F7D68"/>
                </a:solidFill>
              </a:defRPr>
            </a:pPr>
            <a:r>
              <a:rPr sz="1050" b="1" i="0">
                <a:solidFill>
                  <a:srgbClr val="2F7D68"/>
                </a:solidFill>
              </a:rPr>
              <a:t>PREPARE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9EF117-CEE0-49FB-80E9-9351AE24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479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Build exact intent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386FCC-687C-470D-9514-33BD7E5D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7A0A26-30FB-4C8F-963E-457D460D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9A097-D5F1-49BA-AE51-0EEA4BDD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Challenge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A5ED91-05FC-419C-B40C-52E78C47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00E631-06B5-4590-BB8D-964F1F80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B2942"/>
                </a:solidFill>
              </a:defRPr>
            </a:pPr>
            <a:r>
              <a:rPr sz="1050" b="1" i="0">
                <a:solidFill>
                  <a:srgbClr val="0B2942"/>
                </a:solidFill>
              </a:rPr>
              <a:t>READ 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177FA8-368E-4D1D-B9EF-D6E0725C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100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Reconcile with broker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C0C7D-59EB-4D5D-AC9E-6D7E720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91F4EC-38B4-46F3-AFD8-CF9BAB71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56B5D"/>
                </a:solidFill>
              </a:defRPr>
            </a:pPr>
            <a:r>
              <a:rPr sz="1050" b="1" i="0">
                <a:solidFill>
                  <a:srgbClr val="E56B5D"/>
                </a:solidFill>
              </a:rPr>
              <a:t>RECEIPT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CE5DEF-9FFE-4E38-AC4C-CB023657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Publish what happened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D67368-3D08-4F9D-B333-6D79B725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466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A0EF76-3EF8-494D-BBF5-CE32C762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4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806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6FAE63-25F9-47A2-A188-A898D852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38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27078"/>
                </a:solidFill>
              </a:defRPr>
            </a:pPr>
            <a:r>
              <a:rPr sz="1650" b="1" i="0">
                <a:solidFill>
                  <a:srgbClr val="627078"/>
                </a:solidFill>
              </a:rPr>
              <a:t>tests discovered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783D7E-7724-422D-8CCD-BE455D6A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A3E"/>
                </a:solidFill>
              </a:defRPr>
            </a:pPr>
            <a:r>
              <a:rPr sz="1575" b="1" i="0">
                <a:solidFill>
                  <a:srgbClr val="122A3E"/>
                </a:solidFill>
              </a:rPr>
              <a:t>804 passed  ·  0 failed  ·  2 skipped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685207-E5DB-49CE-80D6-A18D292B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657850"/>
            <a:ext cx="56959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B40586-C186-41F6-8A85-9975D639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9775"/>
            <a:ext cx="527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Conflict → NO TRADE → $0 authorized loss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6AED90-5624-481D-9023-887C8872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67DB4D-475B-4582-B40D-AEB0188F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064734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7476D5-CE79-44A8-9675-1B06C4D8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JUDGE 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083BAF-2239-4916-8EBF-07D52FC2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122A3E"/>
                </a:solidFill>
              </a:defRPr>
            </a:pPr>
            <a:r>
              <a:rPr sz="4050" b="1" i="0">
                <a:solidFill>
                  <a:srgbClr val="122A3E"/>
                </a:solidFill>
              </a:rPr>
              <a:t>Judge the live system—not the slide deck.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50A078-A936-486A-9766-B232EFDE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627078"/>
                </a:solidFill>
              </a:defRPr>
            </a:pPr>
            <a:r>
              <a:rPr sz="2100" b="0" i="0">
                <a:solidFill>
                  <a:srgbClr val="627078"/>
                </a:solidFill>
              </a:rPr>
              <a:t>Watch the account. Challenge a decision. Inspect the code.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8BF828-B19B-4DAA-A57F-BBFAC8A2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31051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6ce34b81a44d94"/>
          <a:stretch xmlns:a="http://schemas.openxmlformats.org/drawingml/2006/main"/>
        </p:blipFill>
        <p:spPr>
          <a:xfrm xmlns:a="http://schemas.openxmlformats.org/drawingml/2006/main">
            <a:off x="8743950" y="93345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D5BD28-4FDF-4E6B-A123-9DD482C4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052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SCAN TO OPEN FINLY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009063-6349-4378-8E80-65105A1A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85CA29-5CC7-4ACC-B657-A99C8F03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WATCH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00558B-8B3E-4BAE-BCC7-5A52D7DE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Live $100k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090B0-FDE5-4DD5-8D0F-0C01D214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F5790B-6513-4A96-9A49-9A0D5B8F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C0877D-9117-4FEF-8A01-88EC6CD2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CHALLENGE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D79D7-25BB-460C-86F1-FE31AF10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90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Aligned vs conflicting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F7DB0E-8355-4500-B12B-6147706D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0DD45F-8125-479B-BDB2-17A570E8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A4134B-8A53-4DF0-8EC4-31291B00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INSPECT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61F67A-B1E4-471F-9E02-CE1AEF3E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Code, tests, and receipts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D50710-2363-4E87-8056-F8DE4BDB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0BC9C8-6B72-4200-ADE2-44373BC9D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885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F7D68"/>
                </a:solidFill>
              </a:defRPr>
            </a:pPr>
            <a:r>
              <a:rPr sz="2250" b="1" i="0">
                <a:solidFill>
                  <a:srgbClr val="2F7D68"/>
                </a:solidFill>
              </a:rPr>
              <a:t>Historical upside. Forward score. Every decision inspectable.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CEA6C0-5862-46F6-A0FC-BA5E6A93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B2942"/>
                </a:solidFill>
              </a:defRPr>
            </a:pPr>
            <a:r>
              <a:rPr sz="1500" b="1" i="0">
                <a:solidFill>
                  <a:srgbClr val="0B2942"/>
                </a:solidFill>
              </a:rPr>
              <a:t>owlsowo.github.io/finly-bot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4F28FB-19AD-45C3-8DBB-1AB5D982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267450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627078"/>
                </a:solidFill>
              </a:defRPr>
            </a:pPr>
            <a:r>
              <a:rPr sz="1350" b="0" i="0">
                <a:solidFill>
                  <a:srgbClr val="627078"/>
                </a:solidFill>
              </a:rPr>
              <a:t>Bruce Wen  ·  bwen412@brandeis.edu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32DF6C-992A-4B63-BF9D-C44EFE4E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CF069D-79A8-496D-AA42-0533195D0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90264826"/>
      </p:ext>
    </p:extLst>
  </p:cSld>
</p:sld>
</file>

<file path=ppt/theme/theme1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Finly Presentation Builder</ap:Application>
  <ap:PresentationFormat>On-screen Show (16:9)</ap:PresentationFormat>
  <ap:Slides>9</ap:Slides>
  <ap:Notes>9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Bruce Wen</dc:creator>
  <lastModifiedBy>Bruce Wen</lastModifiedBy>
  <dc:title>Finly: Proof Before Authority</dc:title>
  <dcterms:created xsi:type="dcterms:W3CDTF">2026-08-29T12:00:00Z</dcterms:created>
  <dcterms:modified xsi:type="dcterms:W3CDTF">2026-08-29T12:00:00Z</dcterms:modified>
  <dc:subject>Alpaca AI Trading Agents Hackathon presentation</dc:subject>
  <keywords>Finly, Alpaca, AI trading, built-in risk checks</keywords>
  <dc:description>Finly judge presentation prepared by Bruce Wen.</dc:description>
</coreProperties>
</file>