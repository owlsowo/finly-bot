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a9ba1e33e417d" /><Relationship Type="http://schemas.openxmlformats.org/officeDocument/2006/relationships/extended-properties" Target="/docProps/app.xml" Id="R8c6c4b196f114e5c" /><Relationship Type="http://schemas.openxmlformats.org/officeDocument/2006/relationships/officeDocument" Target="/ppt/presentation.xml" Id="R3be9079fd2ef43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22f5498f1a49e0"/>
  </p:sldMasterIdLst>
  <p:notesMasterIdLst>
    <p:notesMasterId xmlns:r="http://schemas.openxmlformats.org/officeDocument/2006/relationships" r:id="R80d7584b0730449c"/>
  </p:notesMasterIdLst>
  <p:sldIdLst>
    <p:sldId xmlns:r="http://schemas.openxmlformats.org/officeDocument/2006/relationships" id="256" r:id="R7a983326158a4340"/>
    <p:sldId xmlns:r="http://schemas.openxmlformats.org/officeDocument/2006/relationships" id="257" r:id="Rf6a3338a53c64bdf"/>
    <p:sldId xmlns:r="http://schemas.openxmlformats.org/officeDocument/2006/relationships" id="258" r:id="R8178ba2c251f4d9b"/>
    <p:sldId xmlns:r="http://schemas.openxmlformats.org/officeDocument/2006/relationships" id="259" r:id="R66bf61bb9f534575"/>
    <p:sldId xmlns:r="http://schemas.openxmlformats.org/officeDocument/2006/relationships" id="260" r:id="Rf1c8f45d82114764"/>
    <p:sldId xmlns:r="http://schemas.openxmlformats.org/officeDocument/2006/relationships" id="261" r:id="R0634b4f885124f56"/>
    <p:sldId xmlns:r="http://schemas.openxmlformats.org/officeDocument/2006/relationships" id="262" r:id="Rb61f9f751a9c466c"/>
    <p:sldId xmlns:r="http://schemas.openxmlformats.org/officeDocument/2006/relationships" id="263" r:id="Ra63198fe5fe84375"/>
    <p:sldId xmlns:r="http://schemas.openxmlformats.org/officeDocument/2006/relationships" id="264" r:id="Rf335c04b34d44d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5d71c5f3104967" /><Relationship Type="http://schemas.openxmlformats.org/officeDocument/2006/relationships/slideMaster" Target="/ppt/slideMasters/slideMaster1.xml" Id="Rdf22f5498f1a49e0" /><Relationship Type="http://schemas.openxmlformats.org/officeDocument/2006/relationships/notesMaster" Target="/ppt/notesMasters/notesMaster1.xml" Id="R80d7584b0730449c" /><Relationship Type="http://schemas.openxmlformats.org/officeDocument/2006/relationships/presProps" Target="/ppt/presProps.xml" Id="Rbc43bb0722124632" /><Relationship Type="http://schemas.openxmlformats.org/officeDocument/2006/relationships/tableStyles" Target="/ppt/tableStyles.xml" Id="R7b8db3cae0a24638" /><Relationship Type="http://schemas.openxmlformats.org/officeDocument/2006/relationships/slide" Target="/ppt/slides/slide1.xml" Id="R7a983326158a4340" /><Relationship Type="http://schemas.openxmlformats.org/officeDocument/2006/relationships/slide" Target="/ppt/slides/slide2.xml" Id="Rf6a3338a53c64bdf" /><Relationship Type="http://schemas.openxmlformats.org/officeDocument/2006/relationships/slide" Target="/ppt/slides/slide3.xml" Id="R8178ba2c251f4d9b" /><Relationship Type="http://schemas.openxmlformats.org/officeDocument/2006/relationships/slide" Target="/ppt/slides/slide4.xml" Id="R66bf61bb9f534575" /><Relationship Type="http://schemas.openxmlformats.org/officeDocument/2006/relationships/slide" Target="/ppt/slides/slide5.xml" Id="Rf1c8f45d82114764" /><Relationship Type="http://schemas.openxmlformats.org/officeDocument/2006/relationships/slide" Target="/ppt/slides/slide6.xml" Id="R0634b4f885124f56" /><Relationship Type="http://schemas.openxmlformats.org/officeDocument/2006/relationships/slide" Target="/ppt/slides/slide7.xml" Id="Rb61f9f751a9c466c" /><Relationship Type="http://schemas.openxmlformats.org/officeDocument/2006/relationships/slide" Target="/ppt/slides/slide8.xml" Id="Ra63198fe5fe84375" /><Relationship Type="http://schemas.openxmlformats.org/officeDocument/2006/relationships/slide" Target="/ppt/slides/slide9.xml" Id="Rf335c04b34d44d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3aec5f3d7549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cf08c942de47b4" /><Relationship Type="http://schemas.openxmlformats.org/officeDocument/2006/relationships/notesMaster" Target="/ppt/notesMasters/notesMaster1.xml" Id="R34fa36f2dec948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f76c8680854c48" /><Relationship Type="http://schemas.openxmlformats.org/officeDocument/2006/relationships/notesMaster" Target="/ppt/notesMasters/notesMaster1.xml" Id="R86290069c6ea45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e2ef5f3a8a433b" /><Relationship Type="http://schemas.openxmlformats.org/officeDocument/2006/relationships/notesMaster" Target="/ppt/notesMasters/notesMaster1.xml" Id="R41df62d531464e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9d5bee88534253" /><Relationship Type="http://schemas.openxmlformats.org/officeDocument/2006/relationships/notesMaster" Target="/ppt/notesMasters/notesMaster1.xml" Id="Ra97246cd777b45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3d47e61f9b4e23" /><Relationship Type="http://schemas.openxmlformats.org/officeDocument/2006/relationships/notesMaster" Target="/ppt/notesMasters/notesMaster1.xml" Id="R6eb6453f65dc4b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5df6b06e6e40bc" /><Relationship Type="http://schemas.openxmlformats.org/officeDocument/2006/relationships/notesMaster" Target="/ppt/notesMasters/notesMaster1.xml" Id="Rbe655f16627f40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55089b80c64568" /><Relationship Type="http://schemas.openxmlformats.org/officeDocument/2006/relationships/notesMaster" Target="/ppt/notesMasters/notesMaster1.xml" Id="Rf3d3dc37a6644c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edea920adf44bf" /><Relationship Type="http://schemas.openxmlformats.org/officeDocument/2006/relationships/notesMaster" Target="/ppt/notesMasters/notesMaster1.xml" Id="Re4260a5684ee4e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177afd31fc490a" /><Relationship Type="http://schemas.openxmlformats.org/officeDocument/2006/relationships/notesMaster" Target="/ppt/notesMasters/notesMaster1.xml" Id="Rf97d7c524b7b41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https://owlsowo.github.io/finly-bot/#demo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anchors.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f599e4f3fa45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a13ae02128425e" /><Relationship Type="http://schemas.openxmlformats.org/officeDocument/2006/relationships/slideLayout" Target="/ppt/slideLayouts/slideLayout1.xml" Id="Re84b81b04a3747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4b81b04a3747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57d2d8cfd443d" /><Relationship Type="http://schemas.openxmlformats.org/officeDocument/2006/relationships/image" Target="/ppt/media/image.png" Id="R34b39a7e199b481f" /><Relationship Type="http://schemas.openxmlformats.org/officeDocument/2006/relationships/image" Target="/ppt/media/image.svg" Id="R6cde38365a194891" /><Relationship Type="http://schemas.openxmlformats.org/officeDocument/2006/relationships/image" Target="/ppt/media/image2.png" Id="R6cc13d61a0a14fe6" /><Relationship Type="http://schemas.openxmlformats.org/officeDocument/2006/relationships/image" Target="/ppt/media/image2.svg" Id="R77eb5dac18af476a" /><Relationship Type="http://schemas.openxmlformats.org/officeDocument/2006/relationships/notesSlide" Target="/ppt/notesSlides/notesSlide1.xml" Id="R39db4b167aa940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fe9e49861462d" /><Relationship Type="http://schemas.openxmlformats.org/officeDocument/2006/relationships/notesSlide" Target="/ppt/notesSlides/notesSlide2.xml" Id="Rb40e1b557b8b46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0c7040d9e4154" /><Relationship Type="http://schemas.openxmlformats.org/officeDocument/2006/relationships/image" Target="/ppt/media/image.jpeg" Id="Rb21cde13324c4cb4" /><Relationship Type="http://schemas.openxmlformats.org/officeDocument/2006/relationships/notesSlide" Target="/ppt/notesSlides/notesSlide3.xml" Id="Recbad1c96ff14d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3f0b731054896" /><Relationship Type="http://schemas.openxmlformats.org/officeDocument/2006/relationships/chart" Target="/ppt/slides/charts/chart1.xml" Id="R05a2002ef1f04f63" /><Relationship Type="http://schemas.openxmlformats.org/officeDocument/2006/relationships/chart" Target="/ppt/slides/charts/chart2.xml" Id="R944b709c18784625" /><Relationship Type="http://schemas.openxmlformats.org/officeDocument/2006/relationships/notesSlide" Target="/ppt/notesSlides/notesSlide4.xml" Id="Rb611cc9b31614b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fdd6279074e54" /><Relationship Type="http://schemas.openxmlformats.org/officeDocument/2006/relationships/notesSlide" Target="/ppt/notesSlides/notesSlide5.xml" Id="R3cfa5f9c95ab46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c77684f294516" /><Relationship Type="http://schemas.openxmlformats.org/officeDocument/2006/relationships/chart" Target="/ppt/slides/charts/chart3.xml" Id="R22bcb711368c46f6" /><Relationship Type="http://schemas.openxmlformats.org/officeDocument/2006/relationships/notesSlide" Target="/ppt/notesSlides/notesSlide6.xml" Id="R2a0c7342cc5e4d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9a9b8337d4a77" /><Relationship Type="http://schemas.openxmlformats.org/officeDocument/2006/relationships/image" Target="/ppt/media/image2.jpeg" Id="R0af1aeaac63e4d84" /><Relationship Type="http://schemas.openxmlformats.org/officeDocument/2006/relationships/notesSlide" Target="/ppt/notesSlides/notesSlide7.xml" Id="Rcb045f893d1f49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e8402ca724a10" /><Relationship Type="http://schemas.openxmlformats.org/officeDocument/2006/relationships/image" Target="/ppt/media/image3.jpeg" Id="R754f684686434895" /><Relationship Type="http://schemas.openxmlformats.org/officeDocument/2006/relationships/notesSlide" Target="/ppt/notesSlides/notesSlide8.xml" Id="Rbcc51919e8d84a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6c26a740947dd" /><Relationship Type="http://schemas.openxmlformats.org/officeDocument/2006/relationships/image" Target="/ppt/media/image3.png" Id="R86a27993fe5d4626" /><Relationship Type="http://schemas.openxmlformats.org/officeDocument/2006/relationships/notesSlide" Target="/ppt/notesSlides/notesSlide9.xml" Id="Rdf4e0ae53c624dff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G4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-0.00138782</c:v>
              </c:pt>
              <c:pt idx="2">
                <c:v>-0.00936304</c:v>
              </c:pt>
              <c:pt idx="3">
                <c:v>-0.01093798</c:v>
              </c:pt>
              <c:pt idx="4">
                <c:v>0</c:v>
              </c:pt>
              <c:pt idx="5">
                <c:v>-0.00229364</c:v>
              </c:pt>
              <c:pt idx="6">
                <c:v>-0.01856983</c:v>
              </c:pt>
              <c:pt idx="7">
                <c:v>-0.00625856</c:v>
              </c:pt>
              <c:pt idx="8">
                <c:v>-0.03116174</c:v>
              </c:pt>
              <c:pt idx="9">
                <c:v>-0.07714909</c:v>
              </c:pt>
              <c:pt idx="10">
                <c:v>0</c:v>
              </c:pt>
              <c:pt idx="11">
                <c:v>-0.04055249</c:v>
              </c:pt>
              <c:pt idx="12">
                <c:v>0</c:v>
              </c:pt>
              <c:pt idx="13">
                <c:v>-0.00718341</c:v>
              </c:pt>
              <c:pt idx="14">
                <c:v>-0.05256368</c:v>
              </c:pt>
              <c:pt idx="15">
                <c:v>-0.01947082</c:v>
              </c:pt>
              <c:pt idx="16">
                <c:v>-0.07327132</c:v>
              </c:pt>
              <c:pt idx="17">
                <c:v>-0.05446604</c:v>
              </c:pt>
              <c:pt idx="18">
                <c:v>0</c:v>
              </c:pt>
              <c:pt idx="19">
                <c:v>-0.01767946</c:v>
              </c:pt>
              <c:pt idx="20">
                <c:v>0</c:v>
              </c:pt>
              <c:pt idx="21">
                <c:v>-0.00780512</c:v>
              </c:pt>
              <c:pt idx="22">
                <c:v>0</c:v>
              </c:pt>
              <c:pt idx="23">
                <c:v>-0.00565511</c:v>
              </c:pt>
              <c:pt idx="24">
                <c:v>0</c:v>
              </c:pt>
              <c:pt idx="25">
                <c:v>0</c:v>
              </c:pt>
              <c:pt idx="26">
                <c:v>-0.03928326</c:v>
              </c:pt>
              <c:pt idx="27">
                <c:v>-0.01426383</c:v>
              </c:pt>
              <c:pt idx="28">
                <c:v>0</c:v>
              </c:pt>
              <c:pt idx="29">
                <c:v>-0.01994868</c:v>
              </c:pt>
              <c:pt idx="30">
                <c:v>-0.15616815</c:v>
              </c:pt>
              <c:pt idx="31">
                <c:v>-0.05622893</c:v>
              </c:pt>
              <c:pt idx="32">
                <c:v>-0.04075474</c:v>
              </c:pt>
              <c:pt idx="33">
                <c:v>-0.00173267</c:v>
              </c:pt>
              <c:pt idx="34">
                <c:v>-0.02126249</c:v>
              </c:pt>
              <c:pt idx="35">
                <c:v>0</c:v>
              </c:pt>
              <c:pt idx="36">
                <c:v>-0.11855299</c:v>
              </c:pt>
              <c:pt idx="37">
                <c:v>-0.08327718</c:v>
              </c:pt>
              <c:pt idx="38">
                <c:v>-0.00375227</c:v>
              </c:pt>
              <c:pt idx="39">
                <c:v>-0.0611605</c:v>
              </c:pt>
              <c:pt idx="40">
                <c:v>-0.01351528</c:v>
              </c:pt>
              <c:pt idx="41">
                <c:v>-0.03018982</c:v>
              </c:pt>
              <c:pt idx="42">
                <c:v>-0.0172632</c:v>
              </c:pt>
              <c:pt idx="43">
                <c:v>-0.03358004</c:v>
              </c:pt>
              <c:pt idx="44">
                <c:v>-0.01915337</c:v>
              </c:pt>
              <c:pt idx="45">
                <c:v>-0.00914672</c:v>
              </c:pt>
              <c:pt idx="46">
                <c:v>-0.06702713</c:v>
              </c:pt>
              <c:pt idx="47">
                <c:v>-0.10097063</c:v>
              </c:pt>
              <c:pt idx="48">
                <c:v>-0.14806634</c:v>
              </c:pt>
              <c:pt idx="49">
                <c:v>-0.15069097</c:v>
              </c:pt>
              <c:pt idx="50">
                <c:v>-0.09049578</c:v>
              </c:pt>
              <c:pt idx="51">
                <c:v>-0.06410674</c:v>
              </c:pt>
              <c:pt idx="52">
                <c:v>-0.03828585</c:v>
              </c:pt>
              <c:pt idx="53">
                <c:v>-0.00611465</c:v>
              </c:pt>
              <c:pt idx="54">
                <c:v>-0.04553927</c:v>
              </c:pt>
              <c:pt idx="55">
                <c:v>-0.00973974</c:v>
              </c:pt>
              <c:pt idx="56">
                <c:v>-0.01097868</c:v>
              </c:pt>
              <c:pt idx="57">
                <c:v>-0.04056359</c:v>
              </c:pt>
              <c:pt idx="58">
                <c:v>-0.00186402</c:v>
              </c:pt>
              <c:pt idx="59">
                <c:v>-0.00084626</c:v>
              </c:pt>
              <c:pt idx="60">
                <c:v>-0.00021714</c:v>
              </c:pt>
              <c:pt idx="61">
                <c:v>0</c:v>
              </c:pt>
              <c:pt idx="62">
                <c:v>-0.08271184</c:v>
              </c:pt>
              <c:pt idx="63">
                <c:v>0</c:v>
              </c:pt>
              <c:pt idx="64">
                <c:v>-0.00560896</c:v>
              </c:pt>
              <c:pt idx="65">
                <c:v>-0.01113221</c:v>
              </c:pt>
              <c:pt idx="66">
                <c:v>-0.0067297</c:v>
              </c:pt>
              <c:pt idx="67">
                <c:v>-0.0078209</c:v>
              </c:pt>
              <c:pt idx="68">
                <c:v>-0.03047249</c:v>
              </c:pt>
              <c:pt idx="69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-0.00131972</c:v>
              </c:pt>
              <c:pt idx="2">
                <c:v>-0.00520432</c:v>
              </c:pt>
              <c:pt idx="3">
                <c:v>-0.01035388</c:v>
              </c:pt>
              <c:pt idx="4">
                <c:v>0</c:v>
              </c:pt>
              <c:pt idx="5">
                <c:v>-0.00021706</c:v>
              </c:pt>
              <c:pt idx="6">
                <c:v>-0.01636085</c:v>
              </c:pt>
              <c:pt idx="7">
                <c:v>0</c:v>
              </c:pt>
              <c:pt idx="8">
                <c:v>-0.03342536</c:v>
              </c:pt>
              <c:pt idx="9">
                <c:v>-0.07193798</c:v>
              </c:pt>
              <c:pt idx="10">
                <c:v>0</c:v>
              </c:pt>
              <c:pt idx="11">
                <c:v>-0.03533155</c:v>
              </c:pt>
              <c:pt idx="12">
                <c:v>0</c:v>
              </c:pt>
              <c:pt idx="13">
                <c:v>-0.01317096</c:v>
              </c:pt>
              <c:pt idx="14">
                <c:v>-0.05314881</c:v>
              </c:pt>
              <c:pt idx="15">
                <c:v>-0.02006912</c:v>
              </c:pt>
              <c:pt idx="16">
                <c:v>-0.05631327</c:v>
              </c:pt>
              <c:pt idx="17">
                <c:v>-0.02470228</c:v>
              </c:pt>
              <c:pt idx="18">
                <c:v>-0.00055288</c:v>
              </c:pt>
              <c:pt idx="19">
                <c:v>-0.00838939</c:v>
              </c:pt>
              <c:pt idx="20">
                <c:v>-0.00011214</c:v>
              </c:pt>
              <c:pt idx="21">
                <c:v>-0.00863285</c:v>
              </c:pt>
              <c:pt idx="22">
                <c:v>-0.00091536</c:v>
              </c:pt>
              <c:pt idx="23">
                <c:v>-0.00092951</c:v>
              </c:pt>
              <c:pt idx="24">
                <c:v>-0.0011389</c:v>
              </c:pt>
              <c:pt idx="25">
                <c:v>0</c:v>
              </c:pt>
              <c:pt idx="26">
                <c:v>-0.0610654</c:v>
              </c:pt>
              <c:pt idx="27">
                <c:v>-0.04364147</c:v>
              </c:pt>
              <c:pt idx="28">
                <c:v>-0.00053135</c:v>
              </c:pt>
              <c:pt idx="29">
                <c:v>-0.0096389</c:v>
              </c:pt>
              <c:pt idx="30">
                <c:v>-0.12624863</c:v>
              </c:pt>
              <c:pt idx="31">
                <c:v>-0.03489924</c:v>
              </c:pt>
              <c:pt idx="32">
                <c:v>-0.04479169</c:v>
              </c:pt>
              <c:pt idx="33">
                <c:v>0</c:v>
              </c:pt>
              <c:pt idx="34">
                <c:v>-0.03393507</c:v>
              </c:pt>
              <c:pt idx="35">
                <c:v>0</c:v>
              </c:pt>
              <c:pt idx="36">
                <c:v>-0.12067738</c:v>
              </c:pt>
              <c:pt idx="37">
                <c:v>-0.13057975</c:v>
              </c:pt>
              <c:pt idx="38">
                <c:v>-0.02949723</c:v>
              </c:pt>
              <c:pt idx="39">
                <c:v>-0.0600208</c:v>
              </c:pt>
              <c:pt idx="40">
                <c:v>-0.00929314</c:v>
              </c:pt>
              <c:pt idx="41">
                <c:v>-0.00221585</c:v>
              </c:pt>
              <c:pt idx="42">
                <c:v>-0.00235674</c:v>
              </c:pt>
              <c:pt idx="43">
                <c:v>-0.02770634</c:v>
              </c:pt>
              <c:pt idx="44">
                <c:v>-0.03989614</c:v>
              </c:pt>
              <c:pt idx="45">
                <c:v>-0.0004472</c:v>
              </c:pt>
              <c:pt idx="46">
                <c:v>-0.09101783</c:v>
              </c:pt>
              <c:pt idx="47">
                <c:v>-0.1256757</c:v>
              </c:pt>
              <c:pt idx="48">
                <c:v>-0.18780171</c:v>
              </c:pt>
              <c:pt idx="49">
                <c:v>-0.22855283</c:v>
              </c:pt>
              <c:pt idx="50">
                <c:v>-0.16604267</c:v>
              </c:pt>
              <c:pt idx="51">
                <c:v>-0.13364364</c:v>
              </c:pt>
              <c:pt idx="52">
                <c:v>-0.12269263</c:v>
              </c:pt>
              <c:pt idx="53">
                <c:v>-0.03704402</c:v>
              </c:pt>
              <c:pt idx="54">
                <c:v>-0.07032004</c:v>
              </c:pt>
              <c:pt idx="55">
                <c:v>-0.01790285</c:v>
              </c:pt>
              <c:pt idx="56">
                <c:v>-0.00498016</c:v>
              </c:pt>
              <c:pt idx="57">
                <c:v>-0.04050291</c:v>
              </c:pt>
              <c:pt idx="58">
                <c:v>-0.00236933</c:v>
              </c:pt>
              <c:pt idx="59">
                <c:v>0</c:v>
              </c:pt>
              <c:pt idx="60">
                <c:v>0</c:v>
              </c:pt>
              <c:pt idx="61">
                <c:v>0</c:v>
              </c:pt>
              <c:pt idx="62">
                <c:v>-0.09254198</c:v>
              </c:pt>
              <c:pt idx="63">
                <c:v>-0.00161383</c:v>
              </c:pt>
              <c:pt idx="64">
                <c:v>-0.00544347</c:v>
              </c:pt>
              <c:pt idx="65">
                <c:v>-0.00509174</c:v>
              </c:pt>
              <c:pt idx="66">
                <c:v>-0.01817424</c:v>
              </c:pt>
              <c:pt idx="67">
                <c:v>-0.00501975</c:v>
              </c:pt>
              <c:pt idx="68">
                <c:v>-0.01115105</c:v>
              </c:pt>
              <c:pt idx="69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39a7e199b481f">
            <a:extLst>
              <a:ext uri="{96DAC541-7B7A-43D3-8B79-37D633B846F1}">
                <asvg:svgBlip xmlns:asvg="http://schemas.microsoft.com/office/drawing/2016/SVG/main" r:embed="R6cde38365a1948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E9A2B-1A78-4580-93DB-41A0CD6E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80313-4339-4AC6-9A9B-080D30F5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RESEARCH WITH CHECKED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27D70-4F2C-4B81-8AC9-813B7E28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Finly turns AI research into a checked Alpaca paper order.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B4EB1-BE92-41E8-9662-0CF57EA7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model explains the market. Code fixes the risk, builds the order, and can still stop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6BC63-B4EC-47A8-8C4E-1C384BD7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13d61a0a14fe6">
            <a:extLst>
              <a:ext uri="{96DAC541-7B7A-43D3-8B79-37D633B846F1}">
                <asvg:svgBlip xmlns:asvg="http://schemas.microsoft.com/office/drawing/2016/SVG/main" r:embed="R77eb5dac18af47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FE396-5AE3-487F-B382-7CD7C66A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76650"/>
            <a:ext cx="3943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AI  →  CODE  →  ALPACA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E38F9-7422-4247-8329-DB609070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Interpret  ·  control  ·  execute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DF06F-2E1B-4878-B1B9-161CA291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A1BA5-C0E7-41F2-99C4-6E0E8048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3D355-EF88-4FA6-A4A2-03F1B844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5D654-5081-430D-8288-B8D6134F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CBB3A-3B98-42D0-840F-70B520EB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VERSUS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7D7A9-A025-46BC-9FD9-EAF0507C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$100,000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D9DA84-AA5F-4D0C-9F2A-5E08846A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VERIFIED PAPER ACCOUNT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A8D15C-B8A6-4012-827F-61485E88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E1B21-CC05-4EB1-A24D-FF5F9E96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PER-TRADE CEILING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D356E-7B5A-45AE-B5D9-90869233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E3369C-0051-4890-B1E3-3A5A3611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997A9-78E1-4FCC-A31B-0F1B6EFF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75597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38DD94-4632-46F2-9ED3-3CE2AD0F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0256B-ADDC-4309-9905-F4FCE314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Trading agents break when one model researches, sizes, and sends.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765EC-0DF0-4E16-BEB8-761CBF38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F0876-0234-4D81-85F7-A47209FB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28156-E5D5-4DA6-B91E-6CF7BE7C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F8C36-BFFC-4B12-88E3-CC5B0C71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86257-564A-4E4B-9F45-40349012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54E89-10C4-4C70-A7DD-E1A9BEA4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958E-9A7B-454D-8EBA-974CB3CA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93A02-2826-4AE6-8E17-B30DB5DC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96355-02D0-41C1-BDC6-B68E96A0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B08FE-6CB9-4EA8-B78D-93CDCE46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BD046-8DDF-4718-AFEF-CB415B6A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8DEC1-6F67-4B34-B0B6-102DB4AC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E0686D-C023-4E7D-B748-47E7C55E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AB96A4-0AED-4C1F-B660-E14A8E95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3D9FB-F92B-401B-8970-C0257CAF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F6798C-86ED-4551-9A30-6B5FB128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5A854E-1204-4CC5-9B37-10196995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E567B-9898-40F8-A058-8977EEC6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CCA99A-285F-42B6-8E20-75EFF118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ED1868-7471-4AFB-9CE7-1DD3E27D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3E16FD-2F3D-47DB-ABD4-D796C787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3C8C9-6D30-4B28-BD7C-B7A94715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99853F-3415-4CA4-AC3A-29AD7206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0FBDEF-3F75-4A8D-ADEF-26F44DDF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AA9F7B-0D9C-4E29-89D4-9F005842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insight without giving the model unchecked control of the account.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6C1409-4D53-423B-B4BA-37792C8F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27078"/>
                </a:solidFill>
              </a:defRPr>
            </a:pPr>
            <a:r>
              <a:rPr sz="1800" b="0" i="0">
                <a:solidFill>
                  <a:srgbClr val="627078"/>
                </a:solidFill>
              </a:rPr>
              <a:t>Finly keeps exposure, option legs, broker fields, and execution permission in deterministic code.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8A8BD2-273C-44F0-BDE5-9E9E218A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86DC00-A548-4E3F-A694-F5DC7EA3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202484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A6E40B-26DB-4E8C-BF37-FD74BD1B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DFDB3-8D28-434B-9995-C51249EF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Finly gives AI the judgment; deterministic code keeps the keys.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A74B7-4C13-4E9B-81F4-4E7847B1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cde13324c4cb4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5631E-9EF7-4EBB-9C0F-C95435BB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638EA-A95B-4944-A92E-FFD8F21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C5B47-5B53-455F-AAB9-EDDE62AF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Assess the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CFC992-347A-4280-92DF-AC9BF488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FFC28-8F72-4027-A523-FF354387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56F6B-1F07-4C71-A9B7-FEF4A8E4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000E3-45A9-4C59-ADD0-ECE5A9C5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Aggregate, size,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2029A-7DBD-4DC2-9E1D-91BD426A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E2483-1395-466F-80F7-B98B4734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E1003E-1E32-4BAB-A984-A54C0BDC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0FF8E-EE87-44D6-9F78-BE9BCB33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C3EA3-BBB0-4F31-B1AE-41AD19E7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E4968-EB95-41F9-8EC1-4E22D3D8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9DFD2"/>
                </a:solidFill>
              </a:defRPr>
            </a:pPr>
            <a:r>
              <a:rPr sz="1800" b="1" i="0">
                <a:solidFill>
                  <a:srgbClr val="B9DFD2"/>
                </a:solidFill>
              </a:rPr>
              <a:t>The model may explain or veto. It never writes broker fields.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015D6-154B-4BA6-82B8-7849ACE9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9261E5-808C-47F1-B39F-26CE6CF1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51416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2544A-2D12-4AE5-9E7C-A7693984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36F0F-A917-47B2-AFE0-92E878BD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78ABD-927B-42B6-8A97-71F736AB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078"/>
                </a:solidFill>
              </a:defRPr>
            </a:pPr>
            <a:r>
              <a:rPr sz="1425" b="0" i="0">
                <a:solidFill>
                  <a:srgbClr val="627078"/>
                </a:solidFill>
              </a:rPr>
              <a:t>2013–2026 · identical starting capital · modeled 5 bp one-way costs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866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a2002ef1f04f6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DBBB9-251B-4177-86E5-DB12A33A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E256E-3092-40D4-914C-F8D17F7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FDE56-B0BB-4863-98A5-DC1F909D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5856B-F0D4-46AE-905D-59964157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BA8BC-BBB6-4ECC-94CF-5D4EA3AC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38C3A-93E4-4302-BC9F-B9BB56DF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4b709c18784625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D2972-01E0-46E0-8D67-944945A4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7257D-43D4-4DC9-A6AD-E07191F6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7687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Retrospective simulation; the live paper score is measured separately.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16A5DD-CE64-44B9-84CE-DB6FD597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B2DB4-6C57-4936-BF11-AE111698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38461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EEF68A-2446-497C-B042-23E060E6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OUT-OF-ERA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66212-CE2F-4D5F-8D6E-EE449051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The edge survived 80 earlier years, 21 timing choices, and 5× higher costs.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440EB-B205-4128-9D4E-33D8BBDD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48FBA-CC46-41E7-8EA4-03C51A68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997EC-455B-4AC2-ACBC-7187064B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20B0B-6D5F-4001-AF68-78C4BCB8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160E3-667C-48E9-981A-A1B75EAF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EE97CE-D5B8-431D-B206-EB1BB918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6445A-F355-4A0B-AEFA-59FB1DBE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20A4F-0577-4DAD-BD5A-E2FDF704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ANNUALIZED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ABC05-E0F7-4283-8E79-97B2DB6C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D1F12-4B8E-49E3-B101-6CA078AC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B37DC-3AF2-4F0C-BF8A-B75A72D0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REBALANCE ANCHORS POSITIVE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8F81F-547B-4035-B379-8ED7C417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D9E24-78B8-4F03-AABC-9154C77A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3AFE8-CCD6-4286-ACEA-2AA51582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1394D-15D4-4057-9897-73CE30D7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EA2CB-EB82-45A2-B13A-D7B896D3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4BDE0F-A59A-4F6D-8697-0584B268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D2BFA7-5AD2-4A76-AD25-3E22D37D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2DC5F4-AB41-490E-B4A8-AD85886F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41686-B29F-43B4-A26E-9020D467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F43CC2-A3DA-468B-B0BD-58B05631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81E2B9-AABB-4A83-BF1F-AC65EEA7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5F18A3-5626-4E6D-BD86-91CBAB2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1080DC-DED4-4737-B619-30A5F706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796450-FBD9-4E6F-BE79-F2112E01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58B822-BDC2-438A-AEAB-4132DB16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CC5D9D-CECD-46A6-A7A8-E73D20F8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A2839C-726B-441B-BAA3-B5A75DF7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6116E7-AC0D-43E4-8562-79864385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29FACF-C6AF-444F-ACA6-8103ED99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868680-4E5A-4DB6-81E8-DE3986CC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901CDA-BCA2-4D01-B317-63BC7DA1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9B9C90-C29C-49E7-AAF7-585B2514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+2.45 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9644F4-1BEC-4DD6-B421-05AFCEC0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EDGE AT 25 BP COSTS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6D1F79-E5A7-4C78-98AE-5B6EE2E3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86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5 bp  →  10 bp  →  25 bp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AD3150-30B5-410A-8D57-9E05B346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BDD3A7-DB52-4728-90AD-11192B61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D4E5A7-7D44-48E6-AA51-C5E075C6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7B6282-3185-4295-9C86-95B76E12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Maximum drawdown was 16.31 percentage points shallower than the market proxy.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5F750C-741F-4772-B536-1AA55179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2705C1-FEA3-4F5C-9881-5B8A1A36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130750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2A16E9-02B4-4D1D-92C8-C914A531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DEFINED-RISK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A9E2A-CE8A-4246-BFD5-EC52A9AC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Every options proposal arrives with its worst case already fixed.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bcb711368c46f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80A4B-0B1D-4935-821E-58BEB9B6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2A090-CC97-4AF6-9C86-E15C590F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A36FB-6820-4501-B1EB-1EB59E49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8C898-3279-4944-B3D9-F0E584B5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03162-4ACD-4B63-9B8B-B792AFA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ALPACA-COMPATIBLE PAPER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32C615-959C-4F77-8722-2A5A73C7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bear-put vertical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42DE3-F981-4595-9180-0EEA893F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D62DF-86BF-4D26-A839-725289F2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0BF31-E11F-4ED0-AD75-63023562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8CB647-5AB5-4AC7-A319-1CC5B704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62455-EE82-48E9-8FDD-96733EE3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3D2D3-10F0-4912-888F-2896ACB5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B892BF-0B58-429F-A601-1798225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959E59-DFCF-4C46-A7EA-2562685B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Exact fields · one contract · synthetic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F0B19-3E71-47D7-9822-534D6FF5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3498F2-8CAD-4E7C-9776-434F8D3A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B912BD-0D0C-4B1D-9CCC-739D4C1D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E38BFE-31C6-4F73-AAF7-5B77F5E4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7BBB7-B802-4F0A-875B-9653C5AF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75908-48BA-4932-B739-99875C36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SOURCE REMOVALS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9C3EA7-3743-463B-BFD3-2BA50B82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E4D386-DE57-40B5-9633-67F89B0D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INPUT SHOCKS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5C632A-6B2D-4DEC-AB60-1C950FC7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B64EE2-AB44-4C12-B18F-CEAF707D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39932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7F48D1-10B4-491D-8F2D-56C117D7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FIRST SESSION / CLOSING-BELL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F4FE9-F301-453F-A730-67B4437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EF9D2-33B7-4C4F-9B02-A90C544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143125"/>
            <a:ext cx="72009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1aeaac63e4d84"/>
          <a:stretch xmlns:a="http://schemas.openxmlformats.org/drawingml/2006/main"/>
        </p:blipFill>
        <p:spPr>
          <a:xfrm xmlns:a="http://schemas.openxmlformats.org/drawingml/2006/main">
            <a:off x="609600" y="2191941"/>
            <a:ext cx="7105650" cy="2664619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4897A-DCF4-42EA-9F66-AD790254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B65FF-B4CA-4977-BDC0-80DE0B41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receipt, one baseline, one timestamp.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22B39-49C9-4E5F-A074-2375D399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</a:rPr>
              <a:t>The public evidence file reconciles 15 broker fills and zero external cashflows.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D53E9-2166-493F-B559-E3FED64C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98D8A-75DB-47FC-811D-1F8FC936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E4D0D-11FA-415B-8697-3709E416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1C36-F24A-4C8B-A05D-DB169C3A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193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73BB0-D2D7-40AB-B3EA-42BCD3B9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4320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EDF6E-D5EB-47FF-AEB7-A2B5E66D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94DBCD-0A4B-49CA-B73F-72F6FC9E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623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A6043-9FC0-47F8-9F9D-EA9B4A30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F826F4-8A15-4E40-B6E6-FD333FFD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-$57.99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A9CCE-0A48-4733-8D97-ADC5391F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86715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B3FB01-04F9-49FF-A1AB-4429EB3E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00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CFC65-A746-421E-821B-CD92A8BA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862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B77374-67B3-4879-A544-547B97F7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81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ADVANTAGE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4E465-38AB-463A-AE31-44EAD9DC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67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+$153.31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DEE6C-FF38-4ECE-96D6-D755D2F3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E5A6C2-597C-4B2A-AC40-00071E01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Same $100k baseline · exact 4:00 p.m. ET · 15 broker fills · zero cashflows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A3D57B-1736-4E78-B3A6-649AE23F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C259E-0EC4-4EC6-B11D-23BA3761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7277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DFEFA3-A9D9-47F8-9A1E-A4DBC12A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OPERATIONAL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C4D9B-08C6-4BD1-B946-037E44FC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can fail closed, restart, and prove what happened.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97D02-A776-4BA6-A946-008B4EAC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f684686434895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EEE0D-FC93-4F1A-A891-20E5590A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348A6-D20E-4A33-9E12-EEABCFB7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6A9C9-CA5E-472A-B64A-922D7B3B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6609B-E42F-41C8-8BAB-3919C659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B0145-A11C-41E9-8C2A-47D6F387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0921B-4C60-4A79-B71E-FDB06166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D9DCC-80ED-48CE-A0DB-61437B60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5F1D7-DFFC-428E-91D8-DF7BEDCD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25EA0E-26F0-4072-B0B3-E32A09DF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19BCA-B27B-4635-834F-F4A94C99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C33A48-2BA9-4EFA-8B9A-27786EB7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29EB00-A0B8-4472-9305-9FACACEA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64404-E21C-4CE7-A63C-A285A7B1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DCB21-9052-4903-B0D8-DD917BE4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DB4E2A-366C-4B63-B0D6-8D93449A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tests discovered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FDCFA-F2C4-4AC4-B841-20E040AF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807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8A416C-D7F1-4D85-93B6-903E4AA8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723AC-5B63-4A1A-BCB7-4BC4D785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Conflict → NO TRADE → $0 authorized loss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3EB44D-8AA8-4B8B-9BD0-B2510EA1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63DB3E-7131-41A2-887B-68DCD57C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02635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129921-3F48-4916-818E-D5687EE4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CCC15-690D-4173-A4FF-4416835E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Judge the live system—not the slide deck.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E0CBF-1432-4EB2-A50C-7AE2D325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$153.31 ahead at the first close. Now challenge the decision and inspect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9554E-4B59-4F36-8858-7EE6C683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a27993fe5d4626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F0BA5-82D2-4452-B1E1-D8CCB0B7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49911-3362-41CF-9413-6B3EE926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AD73A3-DA3E-4BB2-A716-7808A2A3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170AA-8DDA-45FC-9E63-70FC80B4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B5C86-77DC-400F-9786-542C67E0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77B08D-1521-4A2E-8CA1-9FFA63A6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A21EE9-05A3-4BF5-BC84-90756B23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CHALLENGE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B5B5DE-B26A-4519-A9DE-BFAEA299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Aligned vs conflicting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6FF4C8-915E-420C-98FF-6BF83726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6A519-91E6-4FFC-9D27-5484365C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C5DAA-EDA9-47B6-AA34-40CEE760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F482C-9CD4-4C4F-A809-A4CDDF01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receipts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4962E6-AC24-4472-8642-36FE378A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BAF07-F51E-48A6-A0A7-54DB3396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upside. First-close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8145C5-AE40-4C59-9AE9-F1A0837E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B2942"/>
                </a:solidFill>
              </a:defRPr>
            </a:pPr>
            <a:r>
              <a:rPr sz="1500" b="1" i="0">
                <a:solidFill>
                  <a:srgbClr val="0B2942"/>
                </a:solidFill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DECAA8-F09F-42D2-B40A-2C4CA27B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40B215-3691-4731-8830-0BFB200C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3B55E3-A100-4805-94D6-FC6F125C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89190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2026-09-01T00:47:50.7560000Z</dcterms:created>
  <dcterms:modified xsi:type="dcterms:W3CDTF">2026-09-01T00:47:50.7570000Z</dcterms:modified>
</coreProperties>
</file>