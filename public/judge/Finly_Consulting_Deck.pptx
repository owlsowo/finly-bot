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2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87f5751d6d14743" /><Relationship Type="http://schemas.openxmlformats.org/officeDocument/2006/relationships/extended-properties" Target="/docProps/app.xml" Id="Rdd315d9e462d4289" /><Relationship Type="http://schemas.openxmlformats.org/officeDocument/2006/relationships/officeDocument" Target="/ppt/presentation.xml" Id="Rb0edc79452324c4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2d63591dea94714"/>
  </p:sldMasterIdLst>
  <p:notesMasterIdLst>
    <p:notesMasterId xmlns:r="http://schemas.openxmlformats.org/officeDocument/2006/relationships" r:id="Rc396dc0225d34e1e"/>
  </p:notesMasterIdLst>
  <p:sldIdLst>
    <p:sldId xmlns:r="http://schemas.openxmlformats.org/officeDocument/2006/relationships" id="256" r:id="Ra55aac082ff34ad6"/>
    <p:sldId xmlns:r="http://schemas.openxmlformats.org/officeDocument/2006/relationships" id="257" r:id="R20364cc8cef7408d"/>
    <p:sldId xmlns:r="http://schemas.openxmlformats.org/officeDocument/2006/relationships" id="258" r:id="Rb9476c1cdd8a42de"/>
    <p:sldId xmlns:r="http://schemas.openxmlformats.org/officeDocument/2006/relationships" id="259" r:id="Ra912013588cf4256"/>
    <p:sldId xmlns:r="http://schemas.openxmlformats.org/officeDocument/2006/relationships" id="260" r:id="R2e4b09a6f57244d9"/>
    <p:sldId xmlns:r="http://schemas.openxmlformats.org/officeDocument/2006/relationships" id="261" r:id="R39f938cb49f24f7e"/>
    <p:sldId xmlns:r="http://schemas.openxmlformats.org/officeDocument/2006/relationships" id="262" r:id="R36d01063f3a1411a"/>
    <p:sldId xmlns:r="http://schemas.openxmlformats.org/officeDocument/2006/relationships" id="263" r:id="R0a677ac069e2459a"/>
    <p:sldId xmlns:r="http://schemas.openxmlformats.org/officeDocument/2006/relationships" id="264" r:id="R9a84bc616eab435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0ef1384cda64655" /><Relationship Type="http://schemas.openxmlformats.org/officeDocument/2006/relationships/slideMaster" Target="/ppt/slideMasters/slideMaster1.xml" Id="R72d63591dea94714" /><Relationship Type="http://schemas.openxmlformats.org/officeDocument/2006/relationships/notesMaster" Target="/ppt/notesMasters/notesMaster1.xml" Id="Rc396dc0225d34e1e" /><Relationship Type="http://schemas.openxmlformats.org/officeDocument/2006/relationships/presProps" Target="/ppt/presProps.xml" Id="R94abe232fb404319" /><Relationship Type="http://schemas.openxmlformats.org/officeDocument/2006/relationships/tableStyles" Target="/ppt/tableStyles.xml" Id="R66a3a6e744514aad" /><Relationship Type="http://schemas.openxmlformats.org/officeDocument/2006/relationships/slide" Target="/ppt/slides/slide1.xml" Id="Ra55aac082ff34ad6" /><Relationship Type="http://schemas.openxmlformats.org/officeDocument/2006/relationships/slide" Target="/ppt/slides/slide2.xml" Id="R20364cc8cef7408d" /><Relationship Type="http://schemas.openxmlformats.org/officeDocument/2006/relationships/slide" Target="/ppt/slides/slide3.xml" Id="Rb9476c1cdd8a42de" /><Relationship Type="http://schemas.openxmlformats.org/officeDocument/2006/relationships/slide" Target="/ppt/slides/slide4.xml" Id="Ra912013588cf4256" /><Relationship Type="http://schemas.openxmlformats.org/officeDocument/2006/relationships/slide" Target="/ppt/slides/slide5.xml" Id="R2e4b09a6f57244d9" /><Relationship Type="http://schemas.openxmlformats.org/officeDocument/2006/relationships/slide" Target="/ppt/slides/slide6.xml" Id="R39f938cb49f24f7e" /><Relationship Type="http://schemas.openxmlformats.org/officeDocument/2006/relationships/slide" Target="/ppt/slides/slide7.xml" Id="R36d01063f3a1411a" /><Relationship Type="http://schemas.openxmlformats.org/officeDocument/2006/relationships/slide" Target="/ppt/slides/slide8.xml" Id="R0a677ac069e2459a" /><Relationship Type="http://schemas.openxmlformats.org/officeDocument/2006/relationships/slide" Target="/ppt/slides/slide9.xml" Id="R9a84bc616eab435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72df11fb7824c2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Finly">
  <a:themeElements>
    <a:clrScheme name="Finly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Finly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8127875c6604b6c" /><Relationship Type="http://schemas.openxmlformats.org/officeDocument/2006/relationships/notesMaster" Target="/ppt/notesMasters/notesMaster1.xml" Id="Rdfc2cd229d11433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03b5aa049a24ac7" /><Relationship Type="http://schemas.openxmlformats.org/officeDocument/2006/relationships/notesMaster" Target="/ppt/notesMasters/notesMaster1.xml" Id="R9c6d66527b634a2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367bf00d54d46e2" /><Relationship Type="http://schemas.openxmlformats.org/officeDocument/2006/relationships/notesMaster" Target="/ppt/notesMasters/notesMaster1.xml" Id="Rce7de4a8f9924d5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ab5982090f14d6c" /><Relationship Type="http://schemas.openxmlformats.org/officeDocument/2006/relationships/notesMaster" Target="/ppt/notesMasters/notesMaster1.xml" Id="Ra549e3ee95524db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637a2efd9374d9c" /><Relationship Type="http://schemas.openxmlformats.org/officeDocument/2006/relationships/notesMaster" Target="/ppt/notesMasters/notesMaster1.xml" Id="R153f2a94b4d845b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9f82c077a1c4ccd" /><Relationship Type="http://schemas.openxmlformats.org/officeDocument/2006/relationships/notesMaster" Target="/ppt/notesMasters/notesMaster1.xml" Id="Rbf9c26dfdc24442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12986eaf4074623" /><Relationship Type="http://schemas.openxmlformats.org/officeDocument/2006/relationships/notesMaster" Target="/ppt/notesMasters/notesMaster1.xml" Id="Rfe4047b2644e485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12d992cffb54be4" /><Relationship Type="http://schemas.openxmlformats.org/officeDocument/2006/relationships/notesMaster" Target="/ppt/notesMasters/notesMaster1.xml" Id="R5ece88fab4334fb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61cf97d255a4576" /><Relationship Type="http://schemas.openxmlformats.org/officeDocument/2006/relationships/notesMaster" Target="/ppt/notesMasters/notesMaster1.xml" Id="Rdd779fee728a484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Historical evidence: https://owlsowo.github.io/finly-bot/data/g4_wealth_drawdown.json</a:t>
            </a:r>
          </a:p>
          <a:p xmlns:a="http://schemas.openxmlformats.org/drawingml/2006/main">
            <a:r>
              <a:t>- Sanitized live account: https://owlsowo.github.io/finly-bot/data/competition_live.json</a:t>
            </a:r>
          </a:p>
          <a:p xmlns:a="http://schemas.openxmlformats.org/drawingml/2006/main">
            <a:r>
              <a:t>- Historical simulation with modeled 5 bp one-way costs; not live performance.</a:t>
            </a:r>
          </a:p>
          <a:p xmlns:a="http://schemas.openxmlformats.org/drawingml/2006/main">
            <a:r>
              <a:t>- Finly bull-horn mark is project-owned.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Historical series: https://owlsowo.github.io/finly-bot/data/g4_wealth_drawdown.json</a:t>
            </a:r>
          </a:p>
          <a:p xmlns:a="http://schemas.openxmlformats.org/drawingml/2006/main">
            <a:r>
              <a:t>- Method and evidence labels: https://owlsowo.github.io/finly-bot/data/quantitative_release_gate.json</a:t>
            </a:r>
          </a:p>
          <a:p xmlns:a="http://schemas.openxmlformats.org/drawingml/2006/main">
            <a:r>
              <a:t>- Historical simulation; modeled 5 bp one-way costs; not broker P&amp;L or a forecast.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Decision trace: https://owlsowo.github.io/finly-bot/data/llama_decision_trace.json</a:t>
            </a:r>
          </a:p>
          <a:p xmlns:a="http://schemas.openxmlformats.org/drawingml/2006/main">
            <a:r>
              <a:t>- Compiled options receipt: https://owlsowo.github.io/finly-bot/data/latest_receipt.json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Source-backed replay: https://owlsowo.github.io/finly-bot/data/attempt150_public_evidence.json</a:t>
            </a:r>
          </a:p>
          <a:p xmlns:a="http://schemas.openxmlformats.org/drawingml/2006/main">
            <a:r>
              <a:t>- Official data source: https://mba.tuck.dartmouth.edu/pages/faculty/ken.french/ftp/10_Industry_Portfolios_daily_CSV.zip</a:t>
            </a:r>
          </a:p>
          <a:p xmlns:a="http://schemas.openxmlformats.org/drawingml/2006/main">
            <a:r>
              <a:t>- Industry-proxy historical stress test; separate from live broker performance.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Model trace: https://owlsowo.github.io/finly-bot/data/llama_decision_trace.json</a:t>
            </a:r>
          </a:p>
          <a:p xmlns:a="http://schemas.openxmlformats.org/drawingml/2006/main">
            <a:r>
              <a:t>- Positive checked receipt: https://owlsowo.github.io/finly-bot/data/latest_receipt.json</a:t>
            </a:r>
          </a:p>
          <a:p xmlns:a="http://schemas.openxmlformats.org/drawingml/2006/main">
            <a:r>
              <a:t>- Conflict receipt: https://owlsowo.github.io/finly-bot/data/no_trade_receipt.json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Sanitized live account: https://owlsowo.github.io/finly-bot/data/competition_live.json</a:t>
            </a:r>
          </a:p>
          <a:p xmlns:a="http://schemas.openxmlformats.org/drawingml/2006/main">
            <a:r>
              <a:t>- Public dashboard: https://owlsowo.github.io/finly-bot/#live</a:t>
            </a:r>
          </a:p>
          <a:p xmlns:a="http://schemas.openxmlformats.org/drawingml/2006/main">
            <a:r>
              <a:t>- Screenshot is project-owned and records paper-account state, not a live-return claim.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Positive options receipt: https://owlsowo.github.io/finly-bot/data/latest_receipt.json</a:t>
            </a:r>
          </a:p>
          <a:p xmlns:a="http://schemas.openxmlformats.org/drawingml/2006/main">
            <a:r>
              <a:t>- Conflict receipt: https://owlsowo.github.io/finly-bot/data/no_trade_receipt.json</a:t>
            </a:r>
          </a:p>
          <a:p xmlns:a="http://schemas.openxmlformats.org/drawingml/2006/main">
            <a:r>
              <a:t>- The checked options fixture is synthetic paper-trading evidence, not realized options P&amp;L.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Cloud runner documentation: https://github.com/owlsowo/finly-bot/blob/main/docs/CLOUD_RUNNER.md</a:t>
            </a:r>
          </a:p>
          <a:p xmlns:a="http://schemas.openxmlformats.org/drawingml/2006/main">
            <a:r>
              <a:t>- Public repository and automated tests: https://github.com/owlsowo/finly-bot</a:t>
            </a:r>
          </a:p>
          <a:p xmlns:a="http://schemas.openxmlformats.org/drawingml/2006/main">
            <a:r>
              <a:t>- Verified test run: https://github.com/owlsowo/finly-bot/actions/runs/33369848292</a:t>
            </a:r>
          </a:p>
          <a:p xmlns:a="http://schemas.openxmlformats.org/drawingml/2006/main">
            <a:r>
              <a:t>- Sanitized account record: https://owlsowo.github.io/finly-bot/data/competition_live.json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Live product: https://owlsowo.github.io/finly-bot/</a:t>
            </a:r>
          </a:p>
          <a:p xmlns:a="http://schemas.openxmlformats.org/drawingml/2006/main">
            <a:r>
              <a:t>- Repository: https://github.com/owlsowo/finly-bot</a:t>
            </a:r>
          </a:p>
          <a:p xmlns:a="http://schemas.openxmlformats.org/drawingml/2006/main">
            <a:r>
              <a:t>- Contact: mailto:bwen412@brandeis.edu</a:t>
            </a:r>
          </a:p>
          <a:p xmlns:a="http://schemas.openxmlformats.org/drawingml/2006/main">
            <a:r>
              <a:t>- Historical metrics are simulations with modeled costs; live paper-account results are labeled separately.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afdd0af4624dc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81f086d5fcd4160" /><Relationship Type="http://schemas.openxmlformats.org/officeDocument/2006/relationships/slideLayout" Target="/ppt/slideLayouts/slideLayout1.xml" Id="R2a0177878dc9421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a0177878dc9421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Finly">
  <a:themeElements>
    <a:clrScheme name="Finly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Finly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e29c02eae5403c" /><Relationship Type="http://schemas.openxmlformats.org/officeDocument/2006/relationships/image" Target="/ppt/media/image.png" Id="Re898d29fc9e64c9f" /><Relationship Type="http://schemas.openxmlformats.org/officeDocument/2006/relationships/notesSlide" Target="/ppt/notesSlides/notesSlide1.xml" Id="R7a4a7b525eea40e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8425166bed48e0" /><Relationship Type="http://schemas.openxmlformats.org/officeDocument/2006/relationships/chart" Target="/ppt/slides/charts/chart1.xml" Id="Rd515d3419c364e46" /><Relationship Type="http://schemas.openxmlformats.org/officeDocument/2006/relationships/notesSlide" Target="/ppt/notesSlides/notesSlide2.xml" Id="R805bd69b67a1437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b92ae945e04bf9" /><Relationship Type="http://schemas.openxmlformats.org/officeDocument/2006/relationships/notesSlide" Target="/ppt/notesSlides/notesSlide3.xml" Id="Rd4db0a46ed44436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6d90a84cab43e0" /><Relationship Type="http://schemas.openxmlformats.org/officeDocument/2006/relationships/chart" Target="/ppt/slides/charts/chart2.xml" Id="R9c33fd115ace44a7" /><Relationship Type="http://schemas.openxmlformats.org/officeDocument/2006/relationships/notesSlide" Target="/ppt/notesSlides/notesSlide4.xml" Id="R35e03566033f464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e87857e08c4104" /><Relationship Type="http://schemas.openxmlformats.org/officeDocument/2006/relationships/notesSlide" Target="/ppt/notesSlides/notesSlide5.xml" Id="R7e649627fa3943a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ed22f5b820426f" /><Relationship Type="http://schemas.openxmlformats.org/officeDocument/2006/relationships/image" Target="/ppt/media/image2.png" Id="Refb987931d664497" /><Relationship Type="http://schemas.openxmlformats.org/officeDocument/2006/relationships/notesSlide" Target="/ppt/notesSlides/notesSlide6.xml" Id="R021ee9d630f7413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5c9e1e53c34aa4" /><Relationship Type="http://schemas.openxmlformats.org/officeDocument/2006/relationships/notesSlide" Target="/ppt/notesSlides/notesSlide7.xml" Id="Rb309859a43ce453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9e250ca9d24582" /><Relationship Type="http://schemas.openxmlformats.org/officeDocument/2006/relationships/notesSlide" Target="/ppt/notesSlides/notesSlide8.xml" Id="Rd9ca457d15f246b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768aad43784cf6" /><Relationship Type="http://schemas.openxmlformats.org/officeDocument/2006/relationships/notesSlide" Target="/ppt/notesSlides/notesSlide9.xml" Id="Rfd9da9a6cfa04e6f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1"/>
        <c:ser>
          <c:idx val="0"/>
          <c:order val="0"/>
          <c:tx>
            <c:v>Modeled total return</c:v>
          </c:tx>
          <c:spPr>
            <a:solidFill xmlns:a="http://schemas.openxmlformats.org/drawingml/2006/main">
              <a:srgbClr val="2F7562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2F7562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17334D"/>
              </a:solidFill>
            </c:spPr>
          </c:dPt>
          <c:cat>
            <c:strLit>
              <c:ptCount val="2"/>
              <c:pt idx="0">
                <c:v>Finly</c:v>
              </c:pt>
              <c:pt idx="1">
                <c:v>SPY</c:v>
              </c:pt>
            </c:strLit>
          </c:cat>
          <c:val>
            <c:numLit>
              <c:formatCode>0.00"%"</c:formatCode>
              <c:ptCount val="2"/>
              <c:pt idx="0">
                <c:v>967.11</c:v>
              </c:pt>
              <c:pt idx="1">
                <c:v>580.82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 b="1">
                  <a:solidFill>
                    <a:srgbClr val="17334D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DD8CF"/>
              </a:solidFill>
              <a:prstDash val="solid"/>
            </a:ln>
          </c:spPr>
        </c:majorGridlines>
        <c:numFmt formatCode="0&quot;%&quot;"/>
        <c:majorTickMark val="none"/>
        <c:minorTickMark val="none"/>
        <c:spPr>
          <a:ln xmlns:a="http://schemas.openxmlformats.org/drawingml/2006/main" w="9525">
            <a:solidFill>
              <a:srgbClr val="C8C4B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69737A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8C4B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7334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solidFill>
            <a:srgbClr val="F6F1E8"/>
          </a:solidFill>
          <a:prstDash val="solid"/>
        </a:ln>
      </c:spPr>
    </c:plotArea>
    <c:plotVisOnly val="1"/>
  </c:chart>
  <c:spPr>
    <a:solidFill xmlns:a="http://schemas.openxmlformats.org/drawingml/2006/main">
      <a:srgbClr val="F6F1E8"/>
    </a:solidFill>
    <a:ln xmlns:a="http://schemas.openxmlformats.org/drawingml/2006/main" w="0">
      <a:solidFill>
        <a:srgbClr val="F6F1E8"/>
      </a:solidFill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Finly</c:v>
          </c:tx>
          <c:spPr>
            <a:solidFill xmlns:a="http://schemas.openxmlformats.org/drawingml/2006/main">
              <a:srgbClr val="2E6F5C"/>
            </a:solidFill>
          </c:spPr>
          <c:cat>
            <c:strLit>
              <c:ptCount val="1"/>
              <c:pt idx="0">
                <c:v>Annualized return</c:v>
              </c:pt>
            </c:strLit>
          </c:cat>
          <c:val>
            <c:numLit>
              <c:formatCode>General</c:formatCode>
              <c:ptCount val="1"/>
              <c:pt idx="0">
                <c:v>13.37</c:v>
              </c:pt>
            </c:numLit>
          </c:val>
        </c:ser>
        <c:ser>
          <c:idx val="1"/>
          <c:order val="1"/>
          <c:tx>
            <c:v>Market</c:v>
          </c:tx>
          <c:spPr>
            <a:solidFill xmlns:a="http://schemas.openxmlformats.org/drawingml/2006/main">
              <a:srgbClr val="0D2B43"/>
            </a:solidFill>
          </c:spPr>
          <c:cat>
            <c:strLit>
              <c:ptCount val="1"/>
              <c:pt idx="0">
                <c:v>Annualized return</c:v>
              </c:pt>
            </c:strLit>
          </c:cat>
          <c:val>
            <c:numLit>
              <c:formatCode>General</c:formatCode>
              <c:ptCount val="1"/>
              <c:pt idx="0">
                <c:v>9.48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9525">
              <a:solidFill>
                <a:srgbClr val="E4E1DA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legend>
      <c:legendPos val="b"/>
      <c:overlay val="0"/>
    </c:legend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D2B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footer-1">
            <a:extLst xmlns:a="http://schemas.openxmlformats.org/drawingml/2006/main">
              <a:ext uri="{FF2B5EF4-FFF2-40B4-BE49-F238E27FC236}">
                <a16:creationId xmlns:a16="http://schemas.microsoft.com/office/drawing/2014/main" id="{C22C9880-3A0B-4F26-AA95-C95F5139E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C5D0D4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5D0D4"/>
                </a:solidFill>
                <a:latin typeface="Arial"/>
                <a:ea typeface="Arial"/>
                <a:cs typeface="Arial"/>
              </a:rPr>
              <a:t>FINLY  /  AI TRADING WITH BUILT-IN CHECKS</a:t>
            </a:r>
          </a:p>
        </p:txBody>
      </p:sp>
      <p:sp>
        <p:nvSpPr>
          <p:cNvPr id="2" name="page-1">
            <a:extLst xmlns:a="http://schemas.openxmlformats.org/drawingml/2006/main">
              <a:ext uri="{FF2B5EF4-FFF2-40B4-BE49-F238E27FC236}">
                <a16:creationId xmlns:a16="http://schemas.microsoft.com/office/drawing/2014/main" id="{248C3DC2-F98F-4CEE-A552-C475C5FDD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C5D0D4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5D0D4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98d29fc9e64c9f"/>
          <a:stretch xmlns:a="http://schemas.openxmlformats.org/drawingml/2006/main"/>
        </p:blipFill>
        <p:spPr>
          <a:xfrm xmlns:a="http://schemas.openxmlformats.org/drawingml/2006/main">
            <a:off x="590550" y="523875"/>
            <a:ext cx="723900" cy="723900"/>
          </a:xfrm>
          <a:prstGeom xmlns:a="http://schemas.openxmlformats.org/drawingml/2006/main" prst="rect">
            <a:avLst/>
          </a:prstGeom>
        </p:spPr>
      </p:pic>
      <p:sp>
        <p:nvSpPr>
          <p:cNvPr id="4" name="title-wordmark">
            <a:extLst xmlns:a="http://schemas.openxmlformats.org/drawingml/2006/main">
              <a:ext uri="{FF2B5EF4-FFF2-40B4-BE49-F238E27FC236}">
                <a16:creationId xmlns:a16="http://schemas.microsoft.com/office/drawing/2014/main" id="{E15E145B-4F5F-4E95-B953-E08E1B6BF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477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FINLY</a:t>
            </a:r>
          </a:p>
        </p:txBody>
      </p:sp>
      <p:sp>
        <p:nvSpPr>
          <p:cNvPr id="5" name="label-Execution-realistic controlled delegation-62-169">
            <a:extLst xmlns:a="http://schemas.openxmlformats.org/drawingml/2006/main">
              <a:ext uri="{FF2B5EF4-FFF2-40B4-BE49-F238E27FC236}">
                <a16:creationId xmlns:a16="http://schemas.microsoft.com/office/drawing/2014/main" id="{FCF25974-2D4F-41BB-85F1-CE3EED066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09725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AI TRADING WITH BUILT-IN RISK CHECKS</a:t>
            </a:r>
          </a:p>
        </p:txBody>
      </p:sp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49641E07-BDA1-4DB8-8BAA-B4AFDC620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38350"/>
            <a:ext cx="1000125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435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435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Finly shows its work before it trades.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DD20EF-645D-4631-B907-549998F08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29100"/>
            <a:ext cx="857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EB8A7"/>
            </a:solidFill>
            <a:prstDash val="solid"/>
          </a:ln>
        </p:spPr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C241564D-F365-40AD-A1A8-CAB32AC15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24375"/>
            <a:ext cx="90297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725" b="0" i="0">
                <a:solidFill>
                  <a:srgbClr val="D5DDDF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D5DDDF"/>
                </a:solidFill>
                <a:latin typeface="Arial"/>
                <a:ea typeface="Arial"/>
                <a:cs typeface="Arial"/>
              </a:rPr>
              <a:t>It reads market evidence, builds a defined-risk paper trade, and lets code—not the model—decide whether the order reaches Alpaca. In our historical test, $10,000 became $106,711—$38,629 more than SPY.</a:t>
            </a:r>
          </a:p>
        </p:txBody>
      </p:sp>
      <p:sp>
        <p:nvSpPr>
          <p:cNvPr id="9" name="author">
            <a:extLst xmlns:a="http://schemas.openxmlformats.org/drawingml/2006/main">
              <a:ext uri="{FF2B5EF4-FFF2-40B4-BE49-F238E27FC236}">
                <a16:creationId xmlns:a16="http://schemas.microsoft.com/office/drawing/2014/main" id="{6AB0F580-F8D9-41B0-923C-302F8E7E1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53125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 i="0">
                <a:solidFill>
                  <a:srgbClr val="9FB1B8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9FB1B8"/>
                </a:solidFill>
                <a:latin typeface="Arial"/>
                <a:ea typeface="Arial"/>
                <a:cs typeface="Arial"/>
              </a:rPr>
              <a:t>Bruce Wen  |  Brandeis University  |  owlsowo.github.io/finly-bot</a:t>
            </a:r>
          </a:p>
        </p:txBody>
      </p:sp>
    </p:spTree>
    <p:extLst>
      <p:ext uri="{BB962C8B-B14F-4D97-AF65-F5344CB8AC3E}">
        <p14:creationId xmlns:p14="http://schemas.microsoft.com/office/powerpoint/2010/main" val="16673023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label-Research discipline-58-32">
            <a:extLst xmlns:a="http://schemas.openxmlformats.org/drawingml/2006/main">
              <a:ext uri="{FF2B5EF4-FFF2-40B4-BE49-F238E27FC236}">
                <a16:creationId xmlns:a16="http://schemas.microsoft.com/office/drawing/2014/main" id="{91CD53B7-7006-45C2-8E09-6A96B7F9B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WHAT THE BACKTEST SHOWED</a:t>
            </a:r>
          </a:p>
        </p:txBody>
      </p:sp>
      <p:sp>
        <p:nvSpPr>
          <p:cNvPr id="2" name="slide-title-7">
            <a:extLst xmlns:a="http://schemas.openxmlformats.org/drawingml/2006/main">
              <a:ext uri="{FF2B5EF4-FFF2-40B4-BE49-F238E27FC236}">
                <a16:creationId xmlns:a16="http://schemas.microsoft.com/office/drawing/2014/main" id="{7B831A81-2532-4F92-9476-109FAABA3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$10,000 became $106,711—$38,629 more than SPY.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31FB71-E9CA-474A-ACE6-0DF62C884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0D2B43"/>
            </a:solidFill>
            <a:prstDash val="solid"/>
          </a:ln>
        </p:spPr>
      </p:sp>
      <p:sp>
        <p:nvSpPr>
          <p:cNvPr id="4" name="footer-7">
            <a:extLst xmlns:a="http://schemas.openxmlformats.org/drawingml/2006/main">
              <a:ext uri="{FF2B5EF4-FFF2-40B4-BE49-F238E27FC236}">
                <a16:creationId xmlns:a16="http://schemas.microsoft.com/office/drawing/2014/main" id="{53A9C5AA-D371-4102-A4F7-F8C824621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FINLY  /  AI TRADING WITH BUILT-IN CHECKS</a:t>
            </a:r>
          </a:p>
        </p:txBody>
      </p:sp>
      <p:sp>
        <p:nvSpPr>
          <p:cNvPr id="5" name="page-7">
            <a:extLst xmlns:a="http://schemas.openxmlformats.org/drawingml/2006/main">
              <a:ext uri="{FF2B5EF4-FFF2-40B4-BE49-F238E27FC236}">
                <a16:creationId xmlns:a16="http://schemas.microsoft.com/office/drawing/2014/main" id="{4104CD74-A88C-4B4A-9948-43BD49D9D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label-Rejected shadow · G4-782-214">
            <a:extLst xmlns:a="http://schemas.openxmlformats.org/drawingml/2006/main">
              <a:ext uri="{FF2B5EF4-FFF2-40B4-BE49-F238E27FC236}">
                <a16:creationId xmlns:a16="http://schemas.microsoft.com/office/drawing/2014/main" id="{6C2E9469-9F04-4E4B-B7B1-15165EE19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0383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2013–2026 HISTORICAL TEST</a:t>
            </a:r>
          </a:p>
        </p:txBody>
      </p:sp>
      <p:sp>
        <p:nvSpPr>
          <p:cNvPr id="8" name="g4-return">
            <a:extLst xmlns:a="http://schemas.openxmlformats.org/drawingml/2006/main">
              <a:ext uri="{FF2B5EF4-FFF2-40B4-BE49-F238E27FC236}">
                <a16:creationId xmlns:a16="http://schemas.microsoft.com/office/drawing/2014/main" id="{6140C90B-F6E2-4F5A-9D7A-C0E770CA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400300"/>
            <a:ext cx="2381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750" b="1" i="0">
                <a:solidFill>
                  <a:srgbClr val="2F7D68"/>
                </a:solidFill>
                <a:latin typeface="Georgia"/>
                <a:ea typeface="Georgia"/>
                <a:cs typeface="Georgia"/>
              </a:defRPr>
            </a:pPr>
            <a:r>
              <a:rPr sz="3750" b="1" i="0">
                <a:solidFill>
                  <a:srgbClr val="2F7D68"/>
                </a:solidFill>
                <a:latin typeface="Georgia"/>
                <a:ea typeface="Georgia"/>
                <a:cs typeface="Georgia"/>
              </a:rPr>
              <a:t>+967.11%</a:t>
            </a:r>
          </a:p>
        </p:txBody>
      </p:sp>
      <p:sp>
        <p:nvSpPr>
          <p:cNvPr id="9" name="g4-return-caption">
            <a:extLst xmlns:a="http://schemas.openxmlformats.org/drawingml/2006/main">
              <a:ext uri="{FF2B5EF4-FFF2-40B4-BE49-F238E27FC236}">
                <a16:creationId xmlns:a16="http://schemas.microsoft.com/office/drawing/2014/main" id="{8711865F-1E09-49BA-AAC9-BEF064098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480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FINLY MODELED TOTAL RETURN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25E8C9-9388-498C-9CDA-810D048F4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52825"/>
            <a:ext cx="3886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4E1DA"/>
            </a:solidFill>
            <a:prstDash val="solid"/>
          </a:ln>
        </p:spPr>
      </p:sp>
      <p:sp>
        <p:nvSpPr>
          <p:cNvPr id="11" name="g4-gate-0">
            <a:extLst xmlns:a="http://schemas.openxmlformats.org/drawingml/2006/main">
              <a:ext uri="{FF2B5EF4-FFF2-40B4-BE49-F238E27FC236}">
                <a16:creationId xmlns:a16="http://schemas.microsoft.com/office/drawing/2014/main" id="{4AB50270-B500-4566-90E1-06DBFC064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6385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D2B43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D2B43"/>
                </a:solidFill>
                <a:latin typeface="Arial"/>
                <a:ea typeface="Arial"/>
                <a:cs typeface="Arial"/>
              </a:rPr>
              <a:t>SPY total return</a:t>
            </a:r>
          </a:p>
        </p:txBody>
      </p:sp>
      <p:sp>
        <p:nvSpPr>
          <p:cNvPr id="12" name="g4-value-0">
            <a:extLst xmlns:a="http://schemas.openxmlformats.org/drawingml/2006/main">
              <a:ext uri="{FF2B5EF4-FFF2-40B4-BE49-F238E27FC236}">
                <a16:creationId xmlns:a16="http://schemas.microsoft.com/office/drawing/2014/main" id="{786A3FFC-2BDC-49E8-99B3-BACECE63A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638550"/>
            <a:ext cx="1028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+580.82%</a:t>
            </a:r>
          </a:p>
        </p:txBody>
      </p:sp>
      <p:sp>
        <p:nvSpPr>
          <p:cNvPr id="13" name="g4-status-0">
            <a:extLst xmlns:a="http://schemas.openxmlformats.org/drawingml/2006/main">
              <a:ext uri="{FF2B5EF4-FFF2-40B4-BE49-F238E27FC236}">
                <a16:creationId xmlns:a16="http://schemas.microsoft.com/office/drawing/2014/main" id="{512EC0D1-2D84-47FD-82BC-1C8599891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638550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SPY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110F41-597F-4F6F-98AB-81149D1BA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048125"/>
            <a:ext cx="3886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4E1DA"/>
            </a:solidFill>
            <a:prstDash val="solid"/>
          </a:ln>
        </p:spPr>
      </p:sp>
      <p:sp>
        <p:nvSpPr>
          <p:cNvPr id="15" name="g4-gate-1">
            <a:extLst xmlns:a="http://schemas.openxmlformats.org/drawingml/2006/main">
              <a:ext uri="{FF2B5EF4-FFF2-40B4-BE49-F238E27FC236}">
                <a16:creationId xmlns:a16="http://schemas.microsoft.com/office/drawing/2014/main" id="{F20744CC-9B2E-42ED-A717-26ED54A4D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1338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D2B43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D2B43"/>
                </a:solidFill>
                <a:latin typeface="Arial"/>
                <a:ea typeface="Arial"/>
                <a:cs typeface="Arial"/>
              </a:rPr>
              <a:t>Ending-wealth advantage</a:t>
            </a:r>
          </a:p>
        </p:txBody>
      </p:sp>
      <p:sp>
        <p:nvSpPr>
          <p:cNvPr id="16" name="g4-value-1">
            <a:extLst xmlns:a="http://schemas.openxmlformats.org/drawingml/2006/main">
              <a:ext uri="{FF2B5EF4-FFF2-40B4-BE49-F238E27FC236}">
                <a16:creationId xmlns:a16="http://schemas.microsoft.com/office/drawing/2014/main" id="{6B096C11-9DC3-4617-9A71-A5B148128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133850"/>
            <a:ext cx="1028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$38,629</a:t>
            </a:r>
          </a:p>
        </p:txBody>
      </p:sp>
      <p:sp>
        <p:nvSpPr>
          <p:cNvPr id="17" name="g4-status-1">
            <a:extLst xmlns:a="http://schemas.openxmlformats.org/drawingml/2006/main">
              <a:ext uri="{FF2B5EF4-FFF2-40B4-BE49-F238E27FC236}">
                <a16:creationId xmlns:a16="http://schemas.microsoft.com/office/drawing/2014/main" id="{AF9503B9-644C-4621-A838-9DC44C8E5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133850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MORE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CAAF9E-4418-4A63-A405-90080075A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543425"/>
            <a:ext cx="3886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4E1DA"/>
            </a:solidFill>
            <a:prstDash val="solid"/>
          </a:ln>
        </p:spPr>
      </p:sp>
      <p:sp>
        <p:nvSpPr>
          <p:cNvPr id="19" name="g4-gate-2">
            <a:extLst xmlns:a="http://schemas.openxmlformats.org/drawingml/2006/main">
              <a:ext uri="{FF2B5EF4-FFF2-40B4-BE49-F238E27FC236}">
                <a16:creationId xmlns:a16="http://schemas.microsoft.com/office/drawing/2014/main" id="{94A441AC-F9D7-4A71-A85E-E10B2CBF7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291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D2B43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D2B43"/>
                </a:solidFill>
                <a:latin typeface="Arial"/>
                <a:ea typeface="Arial"/>
                <a:cs typeface="Arial"/>
              </a:rPr>
              <a:t>Modeled one-way costs</a:t>
            </a:r>
          </a:p>
        </p:txBody>
      </p:sp>
      <p:sp>
        <p:nvSpPr>
          <p:cNvPr id="20" name="g4-value-2">
            <a:extLst xmlns:a="http://schemas.openxmlformats.org/drawingml/2006/main">
              <a:ext uri="{FF2B5EF4-FFF2-40B4-BE49-F238E27FC236}">
                <a16:creationId xmlns:a16="http://schemas.microsoft.com/office/drawing/2014/main" id="{540C9D07-4164-433E-944E-295B78984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629150"/>
            <a:ext cx="1028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5 bp</a:t>
            </a:r>
          </a:p>
        </p:txBody>
      </p:sp>
      <p:sp>
        <p:nvSpPr>
          <p:cNvPr id="21" name="g4-status-2">
            <a:extLst xmlns:a="http://schemas.openxmlformats.org/drawingml/2006/main">
              <a:ext uri="{FF2B5EF4-FFF2-40B4-BE49-F238E27FC236}">
                <a16:creationId xmlns:a16="http://schemas.microsoft.com/office/drawing/2014/main" id="{186C7C87-C3EB-400F-BFEE-305C02D18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629150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COST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0FCFCC-CD31-4787-94D8-3929FCB19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5038725"/>
            <a:ext cx="3886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4E1DA"/>
            </a:solidFill>
            <a:prstDash val="solid"/>
          </a:ln>
        </p:spPr>
      </p:sp>
      <p:sp>
        <p:nvSpPr>
          <p:cNvPr id="23" name="g4-gate-3">
            <a:extLst xmlns:a="http://schemas.openxmlformats.org/drawingml/2006/main">
              <a:ext uri="{FF2B5EF4-FFF2-40B4-BE49-F238E27FC236}">
                <a16:creationId xmlns:a16="http://schemas.microsoft.com/office/drawing/2014/main" id="{17DA852F-A18C-4A1B-8D1D-D45490081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51244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D2B43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D2B43"/>
                </a:solidFill>
                <a:latin typeface="Arial"/>
                <a:ea typeface="Arial"/>
                <a:cs typeface="Arial"/>
              </a:rPr>
              <a:t>Identical test window</a:t>
            </a:r>
          </a:p>
        </p:txBody>
      </p:sp>
      <p:sp>
        <p:nvSpPr>
          <p:cNvPr id="24" name="g4-value-3">
            <a:extLst xmlns:a="http://schemas.openxmlformats.org/drawingml/2006/main">
              <a:ext uri="{FF2B5EF4-FFF2-40B4-BE49-F238E27FC236}">
                <a16:creationId xmlns:a16="http://schemas.microsoft.com/office/drawing/2014/main" id="{B8F37ED9-2EB3-469D-B66C-45BC90044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5124450"/>
            <a:ext cx="1028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2013–26</a:t>
            </a:r>
          </a:p>
        </p:txBody>
      </p:sp>
      <p:sp>
        <p:nvSpPr>
          <p:cNvPr id="25" name="g4-status-3">
            <a:extLst xmlns:a="http://schemas.openxmlformats.org/drawingml/2006/main">
              <a:ext uri="{FF2B5EF4-FFF2-40B4-BE49-F238E27FC236}">
                <a16:creationId xmlns:a16="http://schemas.microsoft.com/office/drawing/2014/main" id="{0343F385-B74C-43C8-A4FA-A6185B0EC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5124450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13Y</a:t>
            </a:r>
          </a:p>
        </p:txBody>
      </p:sp>
      <p:sp>
        <p:nvSpPr>
          <p:cNvPr id="26" name="g4-boundary">
            <a:extLst xmlns:a="http://schemas.openxmlformats.org/drawingml/2006/main">
              <a:ext uri="{FF2B5EF4-FFF2-40B4-BE49-F238E27FC236}">
                <a16:creationId xmlns:a16="http://schemas.microsoft.com/office/drawing/2014/main" id="{35C69F1D-BF4D-4BFD-988C-CFFC6EADB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67400"/>
            <a:ext cx="1066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5F6B6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5F6B66"/>
                </a:solidFill>
                <a:latin typeface="Arial"/>
                <a:ea typeface="Arial"/>
                <a:cs typeface="Arial"/>
              </a:rPr>
              <a:t>Same $10,000 · same dates · 2013-01-02–2026-08-27 · 5 bp modeled one-way costs · historical test, not live account results.</a:t>
            </a:r>
          </a:p>
        </p:txBody>
      </p:sp>
      <p:graphicFrame>
        <p:nvGraphicFramePr>
          <p:cNvPr id="54" name="Chart"/>
          <p:cNvGraphicFramePr/>
          <p:nvPr/>
        </p:nvGraphicFramePr>
        <p:xfrm>
          <a:off xmlns:a="http://schemas.openxmlformats.org/drawingml/2006/main" x="790575" y="1962150"/>
          <a:ext xmlns:a="http://schemas.openxmlformats.org/drawingml/2006/main" cx="59436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515d3419c364e46"/>
          </a:graphicData>
        </a:graphic>
      </p:graphicFrame>
    </p:spTree>
    <p:extLst>
      <p:ext uri="{BB962C8B-B14F-4D97-AF65-F5344CB8AC3E}">
        <p14:creationId xmlns:p14="http://schemas.microsoft.com/office/powerpoint/2010/main" val="44964472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label-The design problem-58-32">
            <a:extLst xmlns:a="http://schemas.openxmlformats.org/drawingml/2006/main">
              <a:ext uri="{FF2B5EF4-FFF2-40B4-BE49-F238E27FC236}">
                <a16:creationId xmlns:a16="http://schemas.microsoft.com/office/drawing/2014/main" id="{C85F84AF-3AE5-47FF-9159-2617424E1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WHY WE BUILT FINLY</a:t>
            </a:r>
          </a:p>
        </p:txBody>
      </p:sp>
      <p:sp>
        <p:nvSpPr>
          <p:cNvPr id="2" name="slide-title-2">
            <a:extLst xmlns:a="http://schemas.openxmlformats.org/drawingml/2006/main">
              <a:ext uri="{FF2B5EF4-FFF2-40B4-BE49-F238E27FC236}">
                <a16:creationId xmlns:a16="http://schemas.microsoft.com/office/drawing/2014/main" id="{1A2BC0BA-597C-4341-92A9-BC796E43D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Most trading agents let one model do too much.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7A8C8F-5921-4140-9E10-567349E03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0D2B43"/>
            </a:solidFill>
            <a:prstDash val="solid"/>
          </a:ln>
        </p:spPr>
      </p:sp>
      <p:sp>
        <p:nvSpPr>
          <p:cNvPr id="4" name="footer-2">
            <a:extLst xmlns:a="http://schemas.openxmlformats.org/drawingml/2006/main">
              <a:ext uri="{FF2B5EF4-FFF2-40B4-BE49-F238E27FC236}">
                <a16:creationId xmlns:a16="http://schemas.microsoft.com/office/drawing/2014/main" id="{F14F45D7-26EB-4FA8-9497-55AE51D09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FINLY  /  AI TRADING WITH BUILT-IN CHECKS</a:t>
            </a:r>
          </a:p>
        </p:txBody>
      </p:sp>
      <p:sp>
        <p:nvSpPr>
          <p:cNvPr id="5" name="page-2">
            <a:extLst xmlns:a="http://schemas.openxmlformats.org/drawingml/2006/main">
              <a:ext uri="{FF2B5EF4-FFF2-40B4-BE49-F238E27FC236}">
                <a16:creationId xmlns:a16="http://schemas.microsoft.com/office/drawing/2014/main" id="{9EC0F7A2-60FF-4DB5-9004-CFC5600DD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6" name="label-Typical agent-74-215">
            <a:extLst xmlns:a="http://schemas.openxmlformats.org/drawingml/2006/main">
              <a:ext uri="{FF2B5EF4-FFF2-40B4-BE49-F238E27FC236}">
                <a16:creationId xmlns:a16="http://schemas.microsoft.com/office/drawing/2014/main" id="{79EAB827-B5F9-413D-883F-4ABBE27A2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478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8F3D3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F3D37"/>
                </a:solidFill>
                <a:latin typeface="Arial"/>
                <a:ea typeface="Arial"/>
                <a:cs typeface="Arial"/>
              </a:rPr>
              <a:t>ONE MODEL</a:t>
            </a:r>
          </a:p>
        </p:txBody>
      </p:sp>
      <p:sp>
        <p:nvSpPr>
          <p:cNvPr id="7" name="judgment-question">
            <a:extLst xmlns:a="http://schemas.openxmlformats.org/drawingml/2006/main">
              <a:ext uri="{FF2B5EF4-FFF2-40B4-BE49-F238E27FC236}">
                <a16:creationId xmlns:a16="http://schemas.microsoft.com/office/drawing/2014/main" id="{E3D35E06-AD6E-40E9-A2D0-EF0AEC5C1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71725"/>
            <a:ext cx="4286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60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75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2475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Researches, sizes, and sends the order.</a:t>
            </a:r>
          </a:p>
        </p:txBody>
      </p:sp>
      <p:sp>
        <p:nvSpPr>
          <p:cNvPr id="8" name="judgment-copy">
            <a:extLst xmlns:a="http://schemas.openxmlformats.org/drawingml/2006/main">
              <a:ext uri="{FF2B5EF4-FFF2-40B4-BE49-F238E27FC236}">
                <a16:creationId xmlns:a16="http://schemas.microsoft.com/office/drawing/2014/main" id="{D792C21C-7BCE-4E85-9D53-107016E5C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33750"/>
            <a:ext cx="4095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65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If the same model reads the evidence, picks the exposure, and writes the order, one confident mistake can put capital at risk.</a:t>
            </a:r>
          </a:p>
        </p:txBody>
      </p:sp>
      <p:sp>
        <p:nvSpPr>
          <p:cNvPr id="9" name="divider">
            <a:extLst xmlns:a="http://schemas.openxmlformats.org/drawingml/2006/main">
              <a:ext uri="{FF2B5EF4-FFF2-40B4-BE49-F238E27FC236}">
                <a16:creationId xmlns:a16="http://schemas.microsoft.com/office/drawing/2014/main" id="{433B7D72-ED8D-48F2-ABF3-5AFB03E36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000250"/>
            <a:ext cx="1905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F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label-Finly-654-215">
            <a:extLst xmlns:a="http://schemas.openxmlformats.org/drawingml/2006/main">
              <a:ext uri="{FF2B5EF4-FFF2-40B4-BE49-F238E27FC236}">
                <a16:creationId xmlns:a16="http://schemas.microsoft.com/office/drawing/2014/main" id="{8F3BB22D-FE36-4FB1-A84B-0C4DCD5D6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0478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FINLY</a:t>
            </a:r>
          </a:p>
        </p:txBody>
      </p:sp>
      <p:sp>
        <p:nvSpPr>
          <p:cNvPr id="11" name="authority-question">
            <a:extLst xmlns:a="http://schemas.openxmlformats.org/drawingml/2006/main">
              <a:ext uri="{FF2B5EF4-FFF2-40B4-BE49-F238E27FC236}">
                <a16:creationId xmlns:a16="http://schemas.microsoft.com/office/drawing/2014/main" id="{1B7BCB26-B790-4ECB-B06C-1C801CB9C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371725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75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2475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AI researches. Code controls the order.</a:t>
            </a:r>
          </a:p>
        </p:txBody>
      </p:sp>
      <p:sp>
        <p:nvSpPr>
          <p:cNvPr id="12" name="authority-copy">
            <a:extLst xmlns:a="http://schemas.openxmlformats.org/drawingml/2006/main">
              <a:ext uri="{FF2B5EF4-FFF2-40B4-BE49-F238E27FC236}">
                <a16:creationId xmlns:a16="http://schemas.microsoft.com/office/drawing/2014/main" id="{34158FE7-2D0B-434B-BDD9-7BE3AF722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457575"/>
            <a:ext cx="46291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AI explains the market view. Code sets position size, maximum loss, option legs, and every broker field. A final check can still stop the trade.</a:t>
            </a:r>
          </a:p>
        </p:txBody>
      </p:sp>
      <p:sp>
        <p:nvSpPr>
          <p:cNvPr id="13" name="core-thesis">
            <a:extLst xmlns:a="http://schemas.openxmlformats.org/drawingml/2006/main">
              <a:ext uri="{FF2B5EF4-FFF2-40B4-BE49-F238E27FC236}">
                <a16:creationId xmlns:a16="http://schemas.microsoft.com/office/drawing/2014/main" id="{0E003D14-42F9-4F6F-9D35-D06B6E5E4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19700"/>
            <a:ext cx="10153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 i="0">
                <a:solidFill>
                  <a:srgbClr val="2E6F5C"/>
                </a:solidFill>
                <a:latin typeface="Georgia"/>
                <a:ea typeface="Georgia"/>
                <a:cs typeface="Georgia"/>
              </a:defRPr>
            </a:pPr>
            <a:r>
              <a:rPr sz="2025" b="1" i="0">
                <a:solidFill>
                  <a:srgbClr val="2E6F5C"/>
                </a:solidFill>
                <a:latin typeface="Georgia"/>
                <a:ea typeface="Georgia"/>
                <a:cs typeface="Georgia"/>
              </a:rPr>
              <a:t>The model can explain a trade. It cannot give itself permission to place one.</a:t>
            </a:r>
          </a:p>
        </p:txBody>
      </p:sp>
    </p:spTree>
    <p:extLst>
      <p:ext uri="{BB962C8B-B14F-4D97-AF65-F5344CB8AC3E}">
        <p14:creationId xmlns:p14="http://schemas.microsoft.com/office/powerpoint/2010/main" val="114633890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label-Execution realism-58-32">
            <a:extLst xmlns:a="http://schemas.openxmlformats.org/drawingml/2006/main">
              <a:ext uri="{FF2B5EF4-FFF2-40B4-BE49-F238E27FC236}">
                <a16:creationId xmlns:a16="http://schemas.microsoft.com/office/drawing/2014/main" id="{7E480406-DF41-4FD9-84C4-3C56AA14E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WE TESTED IT AGAIN</a:t>
            </a:r>
          </a:p>
        </p:txBody>
      </p:sp>
      <p:sp>
        <p:nvSpPr>
          <p:cNvPr id="2" name="slide-title-5">
            <a:extLst xmlns:a="http://schemas.openxmlformats.org/drawingml/2006/main">
              <a:ext uri="{FF2B5EF4-FFF2-40B4-BE49-F238E27FC236}">
                <a16:creationId xmlns:a16="http://schemas.microsoft.com/office/drawing/2014/main" id="{46B52253-BF74-42FF-BE53-C3F4715DE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We reran the same rule on 80 years of earlier industry data.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9E6D16-5637-4F6C-86D6-AF6176374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0D2B43"/>
            </a:solidFill>
            <a:prstDash val="solid"/>
          </a:ln>
        </p:spPr>
      </p:sp>
      <p:sp>
        <p:nvSpPr>
          <p:cNvPr id="4" name="footer-5">
            <a:extLst xmlns:a="http://schemas.openxmlformats.org/drawingml/2006/main">
              <a:ext uri="{FF2B5EF4-FFF2-40B4-BE49-F238E27FC236}">
                <a16:creationId xmlns:a16="http://schemas.microsoft.com/office/drawing/2014/main" id="{2E81FA44-5D19-4315-8FFB-5BF73C4C9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FINLY  /  AI TRADING WITH BUILT-IN CHECKS</a:t>
            </a:r>
          </a:p>
        </p:txBody>
      </p:sp>
      <p:sp>
        <p:nvSpPr>
          <p:cNvPr id="5" name="page-5">
            <a:extLst xmlns:a="http://schemas.openxmlformats.org/drawingml/2006/main">
              <a:ext uri="{FF2B5EF4-FFF2-40B4-BE49-F238E27FC236}">
                <a16:creationId xmlns:a16="http://schemas.microsoft.com/office/drawing/2014/main" id="{3C0BC03A-4B70-4CF1-9AF3-0E8C7CB50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graphicFrame>
        <p:nvGraphicFramePr>
          <p:cNvPr id="22" name="Chart"/>
          <p:cNvGraphicFramePr/>
          <p:nvPr/>
        </p:nvGraphicFramePr>
        <p:xfrm>
          <a:off xmlns:a="http://schemas.openxmlformats.org/drawingml/2006/main" x="552450" y="2038350"/>
          <a:ext xmlns:a="http://schemas.openxmlformats.org/drawingml/2006/main" cx="723900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c33fd115ace44a7"/>
          </a:graphicData>
        </a:graphic>
      </p:graphicFrame>
      <p:sp>
        <p:nvSpPr>
          <p:cNvPr id="7" name="label-What survived-872-216">
            <a:extLst xmlns:a="http://schemas.openxmlformats.org/drawingml/2006/main">
              <a:ext uri="{FF2B5EF4-FFF2-40B4-BE49-F238E27FC236}">
                <a16:creationId xmlns:a16="http://schemas.microsoft.com/office/drawing/2014/main" id="{0D87039A-C649-477F-8202-3E3A95F3D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5740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1927–2007 HISTORICAL TEST</a:t>
            </a:r>
          </a:p>
        </p:txBody>
      </p:sp>
      <p:sp>
        <p:nvSpPr>
          <p:cNvPr id="8" name="metric-next-open · 5 bp per leg">
            <a:extLst xmlns:a="http://schemas.openxmlformats.org/drawingml/2006/main">
              <a:ext uri="{FF2B5EF4-FFF2-40B4-BE49-F238E27FC236}">
                <a16:creationId xmlns:a16="http://schemas.microsoft.com/office/drawing/2014/main" id="{6C90C027-268A-43C4-81F6-697E776A4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381250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rPr>
              <a:t>13.37%</a:t>
            </a:r>
          </a:p>
        </p:txBody>
      </p:sp>
      <p:sp>
        <p:nvSpPr>
          <p:cNvPr id="9" name="metric-caption-next-open · 5 bp per leg">
            <a:extLst xmlns:a="http://schemas.openxmlformats.org/drawingml/2006/main">
              <a:ext uri="{FF2B5EF4-FFF2-40B4-BE49-F238E27FC236}">
                <a16:creationId xmlns:a16="http://schemas.microsoft.com/office/drawing/2014/main" id="{153A2317-C549-45EA-98AF-856F18272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943225"/>
            <a:ext cx="295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FINLY ANNUALIZED RETURN</a:t>
            </a:r>
          </a:p>
        </p:txBody>
      </p:sp>
      <p:sp>
        <p:nvSpPr>
          <p:cNvPr id="10" name="metric-maximum drawdown">
            <a:extLst xmlns:a="http://schemas.openxmlformats.org/drawingml/2006/main">
              <a:ext uri="{FF2B5EF4-FFF2-40B4-BE49-F238E27FC236}">
                <a16:creationId xmlns:a16="http://schemas.microsoft.com/office/drawing/2014/main" id="{B83C2E9B-B006-4876-B8FF-C1806B1D1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486150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21/21</a:t>
            </a:r>
          </a:p>
        </p:txBody>
      </p:sp>
      <p:sp>
        <p:nvSpPr>
          <p:cNvPr id="11" name="metric-caption-maximum drawdown">
            <a:extLst xmlns:a="http://schemas.openxmlformats.org/drawingml/2006/main">
              <a:ext uri="{FF2B5EF4-FFF2-40B4-BE49-F238E27FC236}">
                <a16:creationId xmlns:a16="http://schemas.microsoft.com/office/drawing/2014/main" id="{95D6EEC2-E7F2-4426-8412-F9FF4BF36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048125"/>
            <a:ext cx="295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REBALANCE ANCHORS POSITIVE</a:t>
            </a:r>
          </a:p>
        </p:txBody>
      </p:sp>
      <p:sp>
        <p:nvSpPr>
          <p:cNvPr id="12" name="metric-at 25 bp per leg">
            <a:extLst xmlns:a="http://schemas.openxmlformats.org/drawingml/2006/main">
              <a:ext uri="{FF2B5EF4-FFF2-40B4-BE49-F238E27FC236}">
                <a16:creationId xmlns:a16="http://schemas.microsoft.com/office/drawing/2014/main" id="{86B060C8-018E-4E4B-9978-8FB36D1B6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591050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rPr>
              <a:t>+2.45 pp</a:t>
            </a:r>
          </a:p>
        </p:txBody>
      </p:sp>
      <p:sp>
        <p:nvSpPr>
          <p:cNvPr id="13" name="metric-caption-at 25 bp per leg">
            <a:extLst xmlns:a="http://schemas.openxmlformats.org/drawingml/2006/main">
              <a:ext uri="{FF2B5EF4-FFF2-40B4-BE49-F238E27FC236}">
                <a16:creationId xmlns:a16="http://schemas.microsoft.com/office/drawing/2014/main" id="{A8E8F9E5-0716-499E-9F89-4E583278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153025"/>
            <a:ext cx="295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EDGE AT 25 BP COST STRESS</a:t>
            </a:r>
          </a:p>
        </p:txBody>
      </p:sp>
      <p:sp>
        <p:nvSpPr>
          <p:cNvPr id="14" name="execution-boundary">
            <a:extLst xmlns:a="http://schemas.openxmlformats.org/drawingml/2006/main">
              <a:ext uri="{FF2B5EF4-FFF2-40B4-BE49-F238E27FC236}">
                <a16:creationId xmlns:a16="http://schemas.microsoft.com/office/drawing/2014/main" id="{B2A0F37A-CCAF-47D6-8F0B-AC6DB2AC2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76900"/>
            <a:ext cx="1074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0" i="0">
                <a:solidFill>
                  <a:srgbClr val="5F6B66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5F6B66"/>
                </a:solidFill>
                <a:latin typeface="Arial"/>
                <a:ea typeface="Arial"/>
                <a:cs typeface="Arial"/>
              </a:rPr>
              <a:t>Public Kenneth French industry data · 21,218 trading days · 5 bp base cost · market return 9.48% annualized · maximum drawdown 16.31 points shallower.</a:t>
            </a:r>
          </a:p>
        </p:txBody>
      </p:sp>
    </p:spTree>
    <p:extLst>
      <p:ext uri="{BB962C8B-B14F-4D97-AF65-F5344CB8AC3E}">
        <p14:creationId xmlns:p14="http://schemas.microsoft.com/office/powerpoint/2010/main" val="150082382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label-Controlled delegation-58-32">
            <a:extLst xmlns:a="http://schemas.openxmlformats.org/drawingml/2006/main">
              <a:ext uri="{FF2B5EF4-FFF2-40B4-BE49-F238E27FC236}">
                <a16:creationId xmlns:a16="http://schemas.microsoft.com/office/drawing/2014/main" id="{4BC9A4DF-F985-41AE-A3E6-DDBC1A331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HERE'S HOW IT WORKS</a:t>
            </a:r>
          </a:p>
        </p:txBody>
      </p:sp>
      <p:sp>
        <p:nvSpPr>
          <p:cNvPr id="2" name="slide-title-4">
            <a:extLst xmlns:a="http://schemas.openxmlformats.org/drawingml/2006/main">
              <a:ext uri="{FF2B5EF4-FFF2-40B4-BE49-F238E27FC236}">
                <a16:creationId xmlns:a16="http://schemas.microsoft.com/office/drawing/2014/main" id="{B98CD0C5-7E10-48F0-8298-1C79F41D9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A Finly trade goes through six steps before it reaches Alpaca.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2C655D-1B42-47E1-AAC4-5203CA797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0D2B43"/>
            </a:solidFill>
            <a:prstDash val="solid"/>
          </a:ln>
        </p:spPr>
      </p:sp>
      <p:sp>
        <p:nvSpPr>
          <p:cNvPr id="4" name="footer-4">
            <a:extLst xmlns:a="http://schemas.openxmlformats.org/drawingml/2006/main">
              <a:ext uri="{FF2B5EF4-FFF2-40B4-BE49-F238E27FC236}">
                <a16:creationId xmlns:a16="http://schemas.microsoft.com/office/drawing/2014/main" id="{D56BCC69-8EF8-4F20-8342-3813CD351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FINLY  /  AI TRADING WITH BUILT-IN CHECKS</a:t>
            </a:r>
          </a:p>
        </p:txBody>
      </p:sp>
      <p:sp>
        <p:nvSpPr>
          <p:cNvPr id="5" name="page-4">
            <a:extLst xmlns:a="http://schemas.openxmlformats.org/drawingml/2006/main">
              <a:ext uri="{FF2B5EF4-FFF2-40B4-BE49-F238E27FC236}">
                <a16:creationId xmlns:a16="http://schemas.microsoft.com/office/drawing/2014/main" id="{41265285-EB2D-4C8E-A336-FB08A32A4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6" name="label-INPUT-58-218">
            <a:extLst xmlns:a="http://schemas.openxmlformats.org/drawingml/2006/main">
              <a:ext uri="{FF2B5EF4-FFF2-40B4-BE49-F238E27FC236}">
                <a16:creationId xmlns:a16="http://schemas.microsoft.com/office/drawing/2014/main" id="{DED89C55-F40C-4B52-A35A-DD03C9625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76450"/>
            <a:ext cx="1762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DATA</a:t>
            </a:r>
          </a:p>
        </p:txBody>
      </p:sp>
      <p:sp>
        <p:nvSpPr>
          <p:cNvPr id="7" name="stage-number-0">
            <a:extLst xmlns:a="http://schemas.openxmlformats.org/drawingml/2006/main">
              <a:ext uri="{FF2B5EF4-FFF2-40B4-BE49-F238E27FC236}">
                <a16:creationId xmlns:a16="http://schemas.microsoft.com/office/drawing/2014/main" id="{CF96F154-6B1A-42EA-888E-DDD7BD519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00300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stage-title-0">
            <a:extLst xmlns:a="http://schemas.openxmlformats.org/drawingml/2006/main">
              <a:ext uri="{FF2B5EF4-FFF2-40B4-BE49-F238E27FC236}">
                <a16:creationId xmlns:a16="http://schemas.microsoft.com/office/drawing/2014/main" id="{57A9596F-5B2D-4D8B-A7B0-64B1D4AB4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33675"/>
            <a:ext cx="1762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Read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32FC33-B45F-4FAE-BA8E-B15CD9B8D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0"/>
            <a:ext cx="1666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E6F5C"/>
            </a:solidFill>
            <a:prstDash val="solid"/>
          </a:ln>
        </p:spPr>
      </p:sp>
      <p:sp>
        <p:nvSpPr>
          <p:cNvPr id="10" name="stage-copy-0">
            <a:extLst xmlns:a="http://schemas.openxmlformats.org/drawingml/2006/main">
              <a:ext uri="{FF2B5EF4-FFF2-40B4-BE49-F238E27FC236}">
                <a16:creationId xmlns:a16="http://schemas.microsoft.com/office/drawing/2014/main" id="{54AD01EA-87B8-44F3-B1D7-138C86AEA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0"/>
            <a:ext cx="16859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Timestamped market signals</a:t>
            </a:r>
          </a:p>
        </p:txBody>
      </p:sp>
      <p:sp>
        <p:nvSpPr>
          <p:cNvPr id="11" name="chevron-1">
            <a:extLst xmlns:a="http://schemas.openxmlformats.org/drawingml/2006/main">
              <a:ext uri="{FF2B5EF4-FFF2-40B4-BE49-F238E27FC236}">
                <a16:creationId xmlns:a16="http://schemas.microsoft.com/office/drawing/2014/main" id="{F7DB0A09-FFF7-4A1A-9F20-475DEFFF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30289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0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&gt;</a:t>
            </a:r>
          </a:p>
        </p:txBody>
      </p:sp>
      <p:sp>
        <p:nvSpPr>
          <p:cNvPr id="12" name="label-MODEL-253-218">
            <a:extLst xmlns:a="http://schemas.openxmlformats.org/drawingml/2006/main">
              <a:ext uri="{FF2B5EF4-FFF2-40B4-BE49-F238E27FC236}">
                <a16:creationId xmlns:a16="http://schemas.microsoft.com/office/drawing/2014/main" id="{1ED7DA5B-93C8-435B-86ED-FBFFE78B7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076450"/>
            <a:ext cx="1762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8B3A3A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B3A3A"/>
                </a:solidFill>
                <a:latin typeface="Arial"/>
                <a:ea typeface="Arial"/>
                <a:cs typeface="Arial"/>
              </a:rPr>
              <a:t>AI</a:t>
            </a:r>
          </a:p>
        </p:txBody>
      </p:sp>
      <p:sp>
        <p:nvSpPr>
          <p:cNvPr id="13" name="stage-number-1">
            <a:extLst xmlns:a="http://schemas.openxmlformats.org/drawingml/2006/main">
              <a:ext uri="{FF2B5EF4-FFF2-40B4-BE49-F238E27FC236}">
                <a16:creationId xmlns:a16="http://schemas.microsoft.com/office/drawing/2014/main" id="{0AC187DA-8354-4417-B330-5626C7A9B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400300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4" name="stage-title-1">
            <a:extLst xmlns:a="http://schemas.openxmlformats.org/drawingml/2006/main">
              <a:ext uri="{FF2B5EF4-FFF2-40B4-BE49-F238E27FC236}">
                <a16:creationId xmlns:a16="http://schemas.microsoft.com/office/drawing/2014/main" id="{AD90F80F-A9EE-4246-944E-4500BBDB1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733675"/>
            <a:ext cx="1762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Explain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72A6EE-24BA-4174-957D-69487AB25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238500"/>
            <a:ext cx="1666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B3A3A"/>
            </a:solidFill>
            <a:prstDash val="solid"/>
          </a:ln>
        </p:spPr>
      </p:sp>
      <p:sp>
        <p:nvSpPr>
          <p:cNvPr id="16" name="stage-copy-1">
            <a:extLst xmlns:a="http://schemas.openxmlformats.org/drawingml/2006/main">
              <a:ext uri="{FF2B5EF4-FFF2-40B4-BE49-F238E27FC236}">
                <a16:creationId xmlns:a16="http://schemas.microsoft.com/office/drawing/2014/main" id="{34EA93AE-AA48-4F31-BD90-938584DEE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429000"/>
            <a:ext cx="16859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Compare signals + state a view</a:t>
            </a:r>
          </a:p>
        </p:txBody>
      </p:sp>
      <p:sp>
        <p:nvSpPr>
          <p:cNvPr id="17" name="chevron-2">
            <a:extLst xmlns:a="http://schemas.openxmlformats.org/drawingml/2006/main">
              <a:ext uri="{FF2B5EF4-FFF2-40B4-BE49-F238E27FC236}">
                <a16:creationId xmlns:a16="http://schemas.microsoft.com/office/drawing/2014/main" id="{342464B6-AD68-4B34-9AA0-EA9CB5CE7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0289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0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&gt;</a:t>
            </a:r>
          </a:p>
        </p:txBody>
      </p:sp>
      <p:sp>
        <p:nvSpPr>
          <p:cNvPr id="18" name="label-CODE-448-218">
            <a:extLst xmlns:a="http://schemas.openxmlformats.org/drawingml/2006/main">
              <a:ext uri="{FF2B5EF4-FFF2-40B4-BE49-F238E27FC236}">
                <a16:creationId xmlns:a16="http://schemas.microsoft.com/office/drawing/2014/main" id="{F4670263-D6C2-4EE8-968A-D76FDABCC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076450"/>
            <a:ext cx="1762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19" name="stage-number-2">
            <a:extLst xmlns:a="http://schemas.openxmlformats.org/drawingml/2006/main">
              <a:ext uri="{FF2B5EF4-FFF2-40B4-BE49-F238E27FC236}">
                <a16:creationId xmlns:a16="http://schemas.microsoft.com/office/drawing/2014/main" id="{0B9CE17A-54BE-477B-ACBA-0D0471F75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400300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stage-title-2">
            <a:extLst xmlns:a="http://schemas.openxmlformats.org/drawingml/2006/main">
              <a:ext uri="{FF2B5EF4-FFF2-40B4-BE49-F238E27FC236}">
                <a16:creationId xmlns:a16="http://schemas.microsoft.com/office/drawing/2014/main" id="{ED4EF59E-75A7-416D-AB08-5A5442930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733675"/>
            <a:ext cx="1762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Size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FE25B9-148F-4EF5-BAAE-FC7B3A5D5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238500"/>
            <a:ext cx="1666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E6F5C"/>
            </a:solidFill>
            <a:prstDash val="solid"/>
          </a:ln>
        </p:spPr>
      </p:sp>
      <p:sp>
        <p:nvSpPr>
          <p:cNvPr id="22" name="stage-copy-2">
            <a:extLst xmlns:a="http://schemas.openxmlformats.org/drawingml/2006/main">
              <a:ext uri="{FF2B5EF4-FFF2-40B4-BE49-F238E27FC236}">
                <a16:creationId xmlns:a16="http://schemas.microsoft.com/office/drawing/2014/main" id="{755C404D-273A-4498-BC41-1E6F7BEB1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429000"/>
            <a:ext cx="16859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Fix exposure + risk budget</a:t>
            </a:r>
          </a:p>
        </p:txBody>
      </p:sp>
      <p:sp>
        <p:nvSpPr>
          <p:cNvPr id="23" name="chevron-3">
            <a:extLst xmlns:a="http://schemas.openxmlformats.org/drawingml/2006/main">
              <a:ext uri="{FF2B5EF4-FFF2-40B4-BE49-F238E27FC236}">
                <a16:creationId xmlns:a16="http://schemas.microsoft.com/office/drawing/2014/main" id="{B1F5D8ED-6C2E-44C8-B89F-2DF43E69C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30289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0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&gt;</a:t>
            </a:r>
          </a:p>
        </p:txBody>
      </p:sp>
      <p:sp>
        <p:nvSpPr>
          <p:cNvPr id="24" name="label-CODE-643-218">
            <a:extLst xmlns:a="http://schemas.openxmlformats.org/drawingml/2006/main">
              <a:ext uri="{FF2B5EF4-FFF2-40B4-BE49-F238E27FC236}">
                <a16:creationId xmlns:a16="http://schemas.microsoft.com/office/drawing/2014/main" id="{F66A42CD-911C-4E07-A308-2AF8DB587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076450"/>
            <a:ext cx="1762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25" name="stage-number-3">
            <a:extLst xmlns:a="http://schemas.openxmlformats.org/drawingml/2006/main">
              <a:ext uri="{FF2B5EF4-FFF2-40B4-BE49-F238E27FC236}">
                <a16:creationId xmlns:a16="http://schemas.microsoft.com/office/drawing/2014/main" id="{E55D988C-85E6-4AF9-9415-881F494D0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400300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6" name="stage-title-3">
            <a:extLst xmlns:a="http://schemas.openxmlformats.org/drawingml/2006/main">
              <a:ext uri="{FF2B5EF4-FFF2-40B4-BE49-F238E27FC236}">
                <a16:creationId xmlns:a16="http://schemas.microsoft.com/office/drawing/2014/main" id="{BD103949-4A08-47D2-A402-9598BDD3E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733675"/>
            <a:ext cx="1762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Build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75E805D-7CE4-4CCD-83AD-9B2C2E0F9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238500"/>
            <a:ext cx="1666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E6F5C"/>
            </a:solidFill>
            <a:prstDash val="solid"/>
          </a:ln>
        </p:spPr>
      </p:sp>
      <p:sp>
        <p:nvSpPr>
          <p:cNvPr id="28" name="stage-copy-3">
            <a:extLst xmlns:a="http://schemas.openxmlformats.org/drawingml/2006/main">
              <a:ext uri="{FF2B5EF4-FFF2-40B4-BE49-F238E27FC236}">
                <a16:creationId xmlns:a16="http://schemas.microsoft.com/office/drawing/2014/main" id="{71F69B2A-BF19-4019-9E48-20437BECB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429000"/>
            <a:ext cx="16859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Define legs + broker fields</a:t>
            </a:r>
          </a:p>
        </p:txBody>
      </p:sp>
      <p:sp>
        <p:nvSpPr>
          <p:cNvPr id="29" name="chevron-4">
            <a:extLst xmlns:a="http://schemas.openxmlformats.org/drawingml/2006/main">
              <a:ext uri="{FF2B5EF4-FFF2-40B4-BE49-F238E27FC236}">
                <a16:creationId xmlns:a16="http://schemas.microsoft.com/office/drawing/2014/main" id="{9B56AFD5-AD83-4E0C-8B56-BE8A0F657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0289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0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&gt;</a:t>
            </a:r>
          </a:p>
        </p:txBody>
      </p:sp>
      <p:sp>
        <p:nvSpPr>
          <p:cNvPr id="30" name="label-CODE-838-218">
            <a:extLst xmlns:a="http://schemas.openxmlformats.org/drawingml/2006/main">
              <a:ext uri="{FF2B5EF4-FFF2-40B4-BE49-F238E27FC236}">
                <a16:creationId xmlns:a16="http://schemas.microsoft.com/office/drawing/2014/main" id="{DC1FC783-3035-4E1E-8F45-00A61CF42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076450"/>
            <a:ext cx="1762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TEST</a:t>
            </a:r>
          </a:p>
        </p:txBody>
      </p:sp>
      <p:sp>
        <p:nvSpPr>
          <p:cNvPr id="31" name="stage-number-4">
            <a:extLst xmlns:a="http://schemas.openxmlformats.org/drawingml/2006/main">
              <a:ext uri="{FF2B5EF4-FFF2-40B4-BE49-F238E27FC236}">
                <a16:creationId xmlns:a16="http://schemas.microsoft.com/office/drawing/2014/main" id="{C3027CCF-F734-4438-A49D-A4B00C7F1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400300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32" name="stage-title-4">
            <a:extLst xmlns:a="http://schemas.openxmlformats.org/drawingml/2006/main">
              <a:ext uri="{FF2B5EF4-FFF2-40B4-BE49-F238E27FC236}">
                <a16:creationId xmlns:a16="http://schemas.microsoft.com/office/drawing/2014/main" id="{B569BFBD-934B-42DE-A472-A13E23783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733675"/>
            <a:ext cx="1762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Stress test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5E9F60D-70AF-4719-BDCD-F5A94EA4A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38500"/>
            <a:ext cx="1666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E6F5C"/>
            </a:solidFill>
            <a:prstDash val="solid"/>
          </a:ln>
        </p:spPr>
      </p:sp>
      <p:sp>
        <p:nvSpPr>
          <p:cNvPr id="34" name="stage-copy-4">
            <a:extLst xmlns:a="http://schemas.openxmlformats.org/drawingml/2006/main">
              <a:ext uri="{FF2B5EF4-FFF2-40B4-BE49-F238E27FC236}">
                <a16:creationId xmlns:a16="http://schemas.microsoft.com/office/drawing/2014/main" id="{4206C489-D47C-4B1C-8652-2747E3A78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429000"/>
            <a:ext cx="16859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Remove sources + change inputs</a:t>
            </a:r>
          </a:p>
        </p:txBody>
      </p:sp>
      <p:sp>
        <p:nvSpPr>
          <p:cNvPr id="35" name="chevron-5">
            <a:extLst xmlns:a="http://schemas.openxmlformats.org/drawingml/2006/main">
              <a:ext uri="{FF2B5EF4-FFF2-40B4-BE49-F238E27FC236}">
                <a16:creationId xmlns:a16="http://schemas.microsoft.com/office/drawing/2014/main" id="{331B85BC-D874-4EDC-849B-936A4C305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30289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0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&gt;</a:t>
            </a:r>
          </a:p>
        </p:txBody>
      </p:sp>
      <p:sp>
        <p:nvSpPr>
          <p:cNvPr id="36" name="label-GATE-1033-218">
            <a:extLst xmlns:a="http://schemas.openxmlformats.org/drawingml/2006/main">
              <a:ext uri="{FF2B5EF4-FFF2-40B4-BE49-F238E27FC236}">
                <a16:creationId xmlns:a16="http://schemas.microsoft.com/office/drawing/2014/main" id="{4C1137DB-126D-4F04-952C-287137860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076450"/>
            <a:ext cx="1762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PERMIT</a:t>
            </a:r>
          </a:p>
        </p:txBody>
      </p:sp>
      <p:sp>
        <p:nvSpPr>
          <p:cNvPr id="37" name="stage-number-5">
            <a:extLst xmlns:a="http://schemas.openxmlformats.org/drawingml/2006/main">
              <a:ext uri="{FF2B5EF4-FFF2-40B4-BE49-F238E27FC236}">
                <a16:creationId xmlns:a16="http://schemas.microsoft.com/office/drawing/2014/main" id="{6C7D2476-922B-4454-872C-1615365C6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400300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38" name="stage-title-5">
            <a:extLst xmlns:a="http://schemas.openxmlformats.org/drawingml/2006/main">
              <a:ext uri="{FF2B5EF4-FFF2-40B4-BE49-F238E27FC236}">
                <a16:creationId xmlns:a16="http://schemas.microsoft.com/office/drawing/2014/main" id="{AC5FCCCB-A801-454B-BD09-DC3CD8F47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733675"/>
            <a:ext cx="1762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Send or stop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B600F38-CD89-43AF-A505-7A5A7B3C2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3238500"/>
            <a:ext cx="1666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E6F5C"/>
            </a:solidFill>
            <a:prstDash val="solid"/>
          </a:ln>
        </p:spPr>
      </p:sp>
      <p:sp>
        <p:nvSpPr>
          <p:cNvPr id="40" name="stage-copy-5">
            <a:extLst xmlns:a="http://schemas.openxmlformats.org/drawingml/2006/main">
              <a:ext uri="{FF2B5EF4-FFF2-40B4-BE49-F238E27FC236}">
                <a16:creationId xmlns:a16="http://schemas.microsoft.com/office/drawing/2014/main" id="{0ABD450B-FCAA-42B4-9031-3749CF53A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3429000"/>
            <a:ext cx="16859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PAPER ORDER / NO TRADE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7F2F1EA-48E2-4C68-84DC-D355AC989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1485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0D2B43"/>
            </a:solidFill>
            <a:prstDash val="solid"/>
          </a:ln>
        </p:spPr>
      </p:sp>
      <p:sp>
        <p:nvSpPr>
          <p:cNvPr id="42" name="metric-exact max loss in checked fixture">
            <a:extLst xmlns:a="http://schemas.openxmlformats.org/drawingml/2006/main">
              <a:ext uri="{FF2B5EF4-FFF2-40B4-BE49-F238E27FC236}">
                <a16:creationId xmlns:a16="http://schemas.microsoft.com/office/drawing/2014/main" id="{E08944F6-8B6D-466C-A232-EA6327997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81550"/>
            <a:ext cx="266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rPr>
              <a:t>AI</a:t>
            </a:r>
          </a:p>
        </p:txBody>
      </p:sp>
      <p:sp>
        <p:nvSpPr>
          <p:cNvPr id="43" name="metric-caption-exact max loss in checked fixture">
            <a:extLst xmlns:a="http://schemas.openxmlformats.org/drawingml/2006/main">
              <a:ext uri="{FF2B5EF4-FFF2-40B4-BE49-F238E27FC236}">
                <a16:creationId xmlns:a16="http://schemas.microsoft.com/office/drawing/2014/main" id="{E15F0B9A-545C-4878-9A2F-5CF642760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43525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READS + EXPLAINS</a:t>
            </a:r>
          </a:p>
        </p:txBody>
      </p:sp>
      <p:sp>
        <p:nvSpPr>
          <p:cNvPr id="44" name="metric-source-removal challenges">
            <a:extLst xmlns:a="http://schemas.openxmlformats.org/drawingml/2006/main">
              <a:ext uri="{FF2B5EF4-FFF2-40B4-BE49-F238E27FC236}">
                <a16:creationId xmlns:a16="http://schemas.microsoft.com/office/drawing/2014/main" id="{992BE769-08D8-41B9-8C08-B2C437F89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78155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rPr>
              <a:t>CODE</a:t>
            </a:r>
          </a:p>
        </p:txBody>
      </p:sp>
      <p:sp>
        <p:nvSpPr>
          <p:cNvPr id="45" name="metric-caption-source-removal challenges">
            <a:extLst xmlns:a="http://schemas.openxmlformats.org/drawingml/2006/main">
              <a:ext uri="{FF2B5EF4-FFF2-40B4-BE49-F238E27FC236}">
                <a16:creationId xmlns:a16="http://schemas.microsoft.com/office/drawing/2014/main" id="{2947D287-5D0F-4CC2-99F5-323C5E66F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534352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SIZES + CONSTRUCTS</a:t>
            </a:r>
          </a:p>
        </p:txBody>
      </p:sp>
      <p:sp>
        <p:nvSpPr>
          <p:cNvPr id="46" name="metric-perturbation challenges">
            <a:extLst xmlns:a="http://schemas.openxmlformats.org/drawingml/2006/main">
              <a:ext uri="{FF2B5EF4-FFF2-40B4-BE49-F238E27FC236}">
                <a16:creationId xmlns:a16="http://schemas.microsoft.com/office/drawing/2014/main" id="{1FD2E1E0-566E-43FF-A0E6-5FF4944DD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78155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rPr>
              <a:t>CODE</a:t>
            </a:r>
          </a:p>
        </p:txBody>
      </p:sp>
      <p:sp>
        <p:nvSpPr>
          <p:cNvPr id="47" name="metric-caption-perturbation challenges">
            <a:extLst xmlns:a="http://schemas.openxmlformats.org/drawingml/2006/main">
              <a:ext uri="{FF2B5EF4-FFF2-40B4-BE49-F238E27FC236}">
                <a16:creationId xmlns:a16="http://schemas.microsoft.com/office/drawing/2014/main" id="{5E124255-A864-4507-BBE7-34D307FAA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534352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ISSUES THE PERMIT</a:t>
            </a:r>
          </a:p>
        </p:txBody>
      </p:sp>
      <p:sp>
        <p:nvSpPr>
          <p:cNvPr id="48" name="authority-close">
            <a:extLst xmlns:a="http://schemas.openxmlformats.org/drawingml/2006/main">
              <a:ext uri="{FF2B5EF4-FFF2-40B4-BE49-F238E27FC236}">
                <a16:creationId xmlns:a16="http://schemas.microsoft.com/office/drawing/2014/main" id="{E344E76A-3DBE-4EF8-89BC-6B3FA8ADE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953000"/>
            <a:ext cx="1809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1" i="0">
                <a:solidFill>
                  <a:srgbClr val="8B3A3A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8B3A3A"/>
                </a:solidFill>
                <a:latin typeface="Arial"/>
                <a:ea typeface="Arial"/>
                <a:cs typeface="Arial"/>
              </a:rPr>
              <a:t>The model never writes the order.</a:t>
            </a:r>
          </a:p>
        </p:txBody>
      </p:sp>
    </p:spTree>
    <p:extLst>
      <p:ext uri="{BB962C8B-B14F-4D97-AF65-F5344CB8AC3E}">
        <p14:creationId xmlns:p14="http://schemas.microsoft.com/office/powerpoint/2010/main" val="163320964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label-The product-58-32">
            <a:extLst xmlns:a="http://schemas.openxmlformats.org/drawingml/2006/main">
              <a:ext uri="{FF2B5EF4-FFF2-40B4-BE49-F238E27FC236}">
                <a16:creationId xmlns:a16="http://schemas.microsoft.com/office/drawing/2014/main" id="{21DF212B-9426-4EAC-AF38-BB6EDABA4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WATCH IT RUN</a:t>
            </a:r>
          </a:p>
        </p:txBody>
      </p:sp>
      <p:sp>
        <p:nvSpPr>
          <p:cNvPr id="2" name="slide-title-3">
            <a:extLst xmlns:a="http://schemas.openxmlformats.org/drawingml/2006/main">
              <a:ext uri="{FF2B5EF4-FFF2-40B4-BE49-F238E27FC236}">
                <a16:creationId xmlns:a16="http://schemas.microsoft.com/office/drawing/2014/main" id="{640ACDAF-7F29-4E0F-9032-427BEF869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You can watch the $100,000 Alpaca paper account live.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4400CE-DECB-449E-94B7-44DF78036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0D2B43"/>
            </a:solidFill>
            <a:prstDash val="solid"/>
          </a:ln>
        </p:spPr>
      </p:sp>
      <p:sp>
        <p:nvSpPr>
          <p:cNvPr id="4" name="footer-3">
            <a:extLst xmlns:a="http://schemas.openxmlformats.org/drawingml/2006/main">
              <a:ext uri="{FF2B5EF4-FFF2-40B4-BE49-F238E27FC236}">
                <a16:creationId xmlns:a16="http://schemas.microsoft.com/office/drawing/2014/main" id="{36910DE1-CC24-4C14-A559-5CF032281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FINLY  /  AI TRADING WITH BUILT-IN CHECKS</a:t>
            </a:r>
          </a:p>
        </p:txBody>
      </p:sp>
      <p:sp>
        <p:nvSpPr>
          <p:cNvPr id="5" name="page-3">
            <a:extLst xmlns:a="http://schemas.openxmlformats.org/drawingml/2006/main">
              <a:ext uri="{FF2B5EF4-FFF2-40B4-BE49-F238E27FC236}">
                <a16:creationId xmlns:a16="http://schemas.microsoft.com/office/drawing/2014/main" id="{06BB7286-6D5E-477C-9C8F-459E81327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6" name="product-frame">
            <a:extLst xmlns:a="http://schemas.openxmlformats.org/drawingml/2006/main">
              <a:ext uri="{FF2B5EF4-FFF2-40B4-BE49-F238E27FC236}">
                <a16:creationId xmlns:a16="http://schemas.microsoft.com/office/drawing/2014/main" id="{AD6F12C5-BA9F-4C8E-9A78-A2D9F34F4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66900"/>
            <a:ext cx="7677150" cy="398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CC7"/>
            </a:solidFill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b987931d664497"/>
          <a:srcRect xmlns:a="http://schemas.openxmlformats.org/drawingml/2006/main" l="0" t="5441" r="0" b="54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685800" y="2000250"/>
            <a:ext cx="7410450" cy="3714750"/>
          </a:xfrm>
          <a:prstGeom xmlns:a="http://schemas.openxmlformats.org/drawingml/2006/main" prst="rect">
            <a:avLst/>
          </a:prstGeom>
        </p:spPr>
      </p:pic>
      <p:sp>
        <p:nvSpPr>
          <p:cNvPr id="8" name="label-Visible on the site-904-214">
            <a:extLst xmlns:a="http://schemas.openxmlformats.org/drawingml/2006/main">
              <a:ext uri="{FF2B5EF4-FFF2-40B4-BE49-F238E27FC236}">
                <a16:creationId xmlns:a16="http://schemas.microsoft.com/office/drawing/2014/main" id="{F6AB06B1-682C-48E8-A8AF-E5E1AB327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0383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WHAT JUDGES CAN SEE</a:t>
            </a:r>
          </a:p>
        </p:txBody>
      </p:sp>
      <p:sp>
        <p:nvSpPr>
          <p:cNvPr id="9" name="metric-next-open · 5 bp per leg">
            <a:extLst xmlns:a="http://schemas.openxmlformats.org/drawingml/2006/main">
              <a:ext uri="{FF2B5EF4-FFF2-40B4-BE49-F238E27FC236}">
                <a16:creationId xmlns:a16="http://schemas.microsoft.com/office/drawing/2014/main" id="{43C106F4-DBC2-4152-8762-7035B6BD6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381250"/>
            <a:ext cx="27241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rPr>
              <a:t>VERIFIED</a:t>
            </a:r>
          </a:p>
        </p:txBody>
      </p:sp>
      <p:sp>
        <p:nvSpPr>
          <p:cNvPr id="10" name="metric-caption-next-open · 5 bp per leg">
            <a:extLst xmlns:a="http://schemas.openxmlformats.org/drawingml/2006/main">
              <a:ext uri="{FF2B5EF4-FFF2-40B4-BE49-F238E27FC236}">
                <a16:creationId xmlns:a16="http://schemas.microsoft.com/office/drawing/2014/main" id="{948EBC0F-C929-4FFA-83B0-4BD2E82F5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943225"/>
            <a:ext cx="2724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ALPACA PAPER ACCOUNT</a:t>
            </a:r>
          </a:p>
        </p:txBody>
      </p:sp>
      <p:sp>
        <p:nvSpPr>
          <p:cNvPr id="11" name="metric-consumed sessions">
            <a:extLst xmlns:a="http://schemas.openxmlformats.org/drawingml/2006/main">
              <a:ext uri="{FF2B5EF4-FFF2-40B4-BE49-F238E27FC236}">
                <a16:creationId xmlns:a16="http://schemas.microsoft.com/office/drawing/2014/main" id="{C1C5A3EF-9B08-41FB-A4DB-87F77267F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486150"/>
            <a:ext cx="27241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rPr>
              <a:t>$100,000</a:t>
            </a:r>
          </a:p>
        </p:txBody>
      </p:sp>
      <p:sp>
        <p:nvSpPr>
          <p:cNvPr id="12" name="metric-caption-consumed sessions">
            <a:extLst xmlns:a="http://schemas.openxmlformats.org/drawingml/2006/main">
              <a:ext uri="{FF2B5EF4-FFF2-40B4-BE49-F238E27FC236}">
                <a16:creationId xmlns:a16="http://schemas.microsoft.com/office/drawing/2014/main" id="{8B17000F-D172-473D-9522-EC2CDA28E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048125"/>
            <a:ext cx="2724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STARTING EQUITY</a:t>
            </a:r>
          </a:p>
        </p:txBody>
      </p:sp>
      <p:sp>
        <p:nvSpPr>
          <p:cNvPr id="13" name="metric-at 25 bp per leg">
            <a:extLst xmlns:a="http://schemas.openxmlformats.org/drawingml/2006/main">
              <a:ext uri="{FF2B5EF4-FFF2-40B4-BE49-F238E27FC236}">
                <a16:creationId xmlns:a16="http://schemas.microsoft.com/office/drawing/2014/main" id="{91443F7C-8DBD-4B48-B4C6-18A6494D9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591050"/>
            <a:ext cx="27241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rPr>
              <a:t>$500</a:t>
            </a:r>
          </a:p>
        </p:txBody>
      </p:sp>
      <p:sp>
        <p:nvSpPr>
          <p:cNvPr id="14" name="metric-caption-at 25 bp per leg">
            <a:extLst xmlns:a="http://schemas.openxmlformats.org/drawingml/2006/main">
              <a:ext uri="{FF2B5EF4-FFF2-40B4-BE49-F238E27FC236}">
                <a16:creationId xmlns:a16="http://schemas.microsoft.com/office/drawing/2014/main" id="{0DC14BDB-8EA2-47A5-9701-5A63D6A91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153025"/>
            <a:ext cx="2724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PER-TRADE RISK CEILING</a:t>
            </a:r>
          </a:p>
        </p:txBody>
      </p:sp>
      <p:sp>
        <p:nvSpPr>
          <p:cNvPr id="15" name="product-boundary">
            <a:extLst xmlns:a="http://schemas.openxmlformats.org/drawingml/2006/main">
              <a:ext uri="{FF2B5EF4-FFF2-40B4-BE49-F238E27FC236}">
                <a16:creationId xmlns:a16="http://schemas.microsoft.com/office/drawing/2014/main" id="{8C644FD5-C4ED-4870-BD5C-48CD053E2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619750"/>
            <a:ext cx="274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89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The dashboard shows equity, positions, risk, and the latest decision. It never publishes credentials or private account identifiers.</a:t>
            </a:r>
          </a:p>
        </p:txBody>
      </p:sp>
    </p:spTree>
    <p:extLst>
      <p:ext uri="{BB962C8B-B14F-4D97-AF65-F5344CB8AC3E}">
        <p14:creationId xmlns:p14="http://schemas.microsoft.com/office/powerpoint/2010/main" val="81132676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label-Small-account feasibility-58-32">
            <a:extLst xmlns:a="http://schemas.openxmlformats.org/drawingml/2006/main">
              <a:ext uri="{FF2B5EF4-FFF2-40B4-BE49-F238E27FC236}">
                <a16:creationId xmlns:a16="http://schemas.microsoft.com/office/drawing/2014/main" id="{9B081491-0B9F-4F4F-ACD5-8D39FA7C6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SEE THE RISK FIRST</a:t>
            </a:r>
          </a:p>
        </p:txBody>
      </p:sp>
      <p:sp>
        <p:nvSpPr>
          <p:cNvPr id="2" name="slide-title-6">
            <a:extLst xmlns:a="http://schemas.openxmlformats.org/drawingml/2006/main">
              <a:ext uri="{FF2B5EF4-FFF2-40B4-BE49-F238E27FC236}">
                <a16:creationId xmlns:a16="http://schemas.microsoft.com/office/drawing/2014/main" id="{3DE694FA-1336-4208-967E-4D184C952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Before Finly sends an order, it shows the exact downside.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3B1A30-E373-4C32-869B-36307EDDC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0D2B43"/>
            </a:solidFill>
            <a:prstDash val="solid"/>
          </a:ln>
        </p:spPr>
      </p:sp>
      <p:sp>
        <p:nvSpPr>
          <p:cNvPr id="4" name="footer-6">
            <a:extLst xmlns:a="http://schemas.openxmlformats.org/drawingml/2006/main">
              <a:ext uri="{FF2B5EF4-FFF2-40B4-BE49-F238E27FC236}">
                <a16:creationId xmlns:a16="http://schemas.microsoft.com/office/drawing/2014/main" id="{252132A0-5F3D-4190-9277-720B5665B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FINLY  /  AI TRADING WITH BUILT-IN CHECKS</a:t>
            </a:r>
          </a:p>
        </p:txBody>
      </p:sp>
      <p:sp>
        <p:nvSpPr>
          <p:cNvPr id="5" name="page-6">
            <a:extLst xmlns:a="http://schemas.openxmlformats.org/drawingml/2006/main">
              <a:ext uri="{FF2B5EF4-FFF2-40B4-BE49-F238E27FC236}">
                <a16:creationId xmlns:a16="http://schemas.microsoft.com/office/drawing/2014/main" id="{ECEDF512-E7C1-4E86-A7FC-3FE3DC5B4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6" name="label-Starting equity-86-226">
            <a:extLst xmlns:a="http://schemas.openxmlformats.org/drawingml/2006/main">
              <a:ext uri="{FF2B5EF4-FFF2-40B4-BE49-F238E27FC236}">
                <a16:creationId xmlns:a16="http://schemas.microsoft.com/office/drawing/2014/main" id="{687147D2-4564-4170-A2ED-E395A95AC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526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MAXIMUM LOSS</a:t>
            </a:r>
          </a:p>
        </p:txBody>
      </p:sp>
      <p:sp>
        <p:nvSpPr>
          <p:cNvPr id="7" name="start-equity">
            <a:extLst xmlns:a="http://schemas.openxmlformats.org/drawingml/2006/main">
              <a:ext uri="{FF2B5EF4-FFF2-40B4-BE49-F238E27FC236}">
                <a16:creationId xmlns:a16="http://schemas.microsoft.com/office/drawing/2014/main" id="{D7BDECB9-BBFC-4112-8538-3802683B4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33650"/>
            <a:ext cx="3048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4800" b="1" i="0">
                <a:solidFill>
                  <a:srgbClr val="17324D"/>
                </a:solidFill>
                <a:latin typeface="Georgia"/>
                <a:ea typeface="Georgia"/>
                <a:cs typeface="Georgia"/>
              </a:defRPr>
            </a:pPr>
            <a:r>
              <a:rPr sz="4800" b="1" i="0">
                <a:solidFill>
                  <a:srgbClr val="17324D"/>
                </a:solidFill>
                <a:latin typeface="Georgia"/>
                <a:ea typeface="Georgia"/>
                <a:cs typeface="Georgia"/>
              </a:rPr>
              <a:t>$366</a:t>
            </a:r>
          </a:p>
        </p:txBody>
      </p:sp>
      <p:sp>
        <p:nvSpPr>
          <p:cNvPr id="8" name="equity-arrow">
            <a:extLst xmlns:a="http://schemas.openxmlformats.org/drawingml/2006/main">
              <a:ext uri="{FF2B5EF4-FFF2-40B4-BE49-F238E27FC236}">
                <a16:creationId xmlns:a16="http://schemas.microsoft.com/office/drawing/2014/main" id="{795DC0C7-1D98-4952-A5E1-10E1E1182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2647950"/>
            <a:ext cx="114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4050" b="0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4050" b="0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VS</a:t>
            </a:r>
          </a:p>
        </p:txBody>
      </p:sp>
      <p:sp>
        <p:nvSpPr>
          <p:cNvPr id="9" name="label-Ending equity-580-226">
            <a:extLst xmlns:a="http://schemas.openxmlformats.org/drawingml/2006/main">
              <a:ext uri="{FF2B5EF4-FFF2-40B4-BE49-F238E27FC236}">
                <a16:creationId xmlns:a16="http://schemas.microsoft.com/office/drawing/2014/main" id="{1F0BDD7C-6C26-4AB8-8749-E9EE592D0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1526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MAXIMUM GAIN</a:t>
            </a:r>
          </a:p>
        </p:txBody>
      </p:sp>
      <p:sp>
        <p:nvSpPr>
          <p:cNvPr id="10" name="end-equity">
            <a:extLst xmlns:a="http://schemas.openxmlformats.org/drawingml/2006/main">
              <a:ext uri="{FF2B5EF4-FFF2-40B4-BE49-F238E27FC236}">
                <a16:creationId xmlns:a16="http://schemas.microsoft.com/office/drawing/2014/main" id="{40F5DFB1-BD6A-4113-AB35-DED73FAE4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533650"/>
            <a:ext cx="342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4800" b="1" i="0">
                <a:solidFill>
                  <a:srgbClr val="17324D"/>
                </a:solidFill>
                <a:latin typeface="Georgia"/>
                <a:ea typeface="Georgia"/>
                <a:cs typeface="Georgia"/>
              </a:defRPr>
            </a:pPr>
            <a:r>
              <a:rPr sz="4800" b="1" i="0">
                <a:solidFill>
                  <a:srgbClr val="17324D"/>
                </a:solidFill>
                <a:latin typeface="Georgia"/>
                <a:ea typeface="Georgia"/>
                <a:cs typeface="Georgia"/>
              </a:rPr>
              <a:t>$634</a:t>
            </a:r>
          </a:p>
        </p:txBody>
      </p:sp>
      <p:sp>
        <p:nvSpPr>
          <p:cNvPr id="11" name="equity-return">
            <a:extLst xmlns:a="http://schemas.openxmlformats.org/drawingml/2006/main">
              <a:ext uri="{FF2B5EF4-FFF2-40B4-BE49-F238E27FC236}">
                <a16:creationId xmlns:a16="http://schemas.microsoft.com/office/drawing/2014/main" id="{BE95903A-D252-4D0C-B8C1-4E9F30304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390900"/>
            <a:ext cx="371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0D2B43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0D2B43"/>
                </a:solidFill>
                <a:latin typeface="Arial"/>
                <a:ea typeface="Arial"/>
                <a:cs typeface="Arial"/>
              </a:rPr>
              <a:t>One-contract SPY debit vertical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0671AF-4A7B-4FCE-BA19-46ED68539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95750"/>
            <a:ext cx="10572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0D2B43"/>
            </a:solidFill>
            <a:prstDash val="solid"/>
          </a:ln>
        </p:spPr>
      </p:sp>
      <p:sp>
        <p:nvSpPr>
          <p:cNvPr id="13" name="metric-minimum order notional">
            <a:extLst xmlns:a="http://schemas.openxmlformats.org/drawingml/2006/main">
              <a:ext uri="{FF2B5EF4-FFF2-40B4-BE49-F238E27FC236}">
                <a16:creationId xmlns:a16="http://schemas.microsoft.com/office/drawing/2014/main" id="{4A025178-3887-418C-A637-F89A4AB1F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45770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rPr>
              <a:t>4/4</a:t>
            </a:r>
          </a:p>
        </p:txBody>
      </p:sp>
      <p:sp>
        <p:nvSpPr>
          <p:cNvPr id="14" name="metric-caption-minimum order notional">
            <a:extLst xmlns:a="http://schemas.openxmlformats.org/drawingml/2006/main">
              <a:ext uri="{FF2B5EF4-FFF2-40B4-BE49-F238E27FC236}">
                <a16:creationId xmlns:a16="http://schemas.microsoft.com/office/drawing/2014/main" id="{D15A2B91-48D2-41E1-AECC-A7473C98D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019675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SOURCE REMOVALS PASSED</a:t>
            </a:r>
          </a:p>
        </p:txBody>
      </p:sp>
      <p:sp>
        <p:nvSpPr>
          <p:cNvPr id="15" name="metric-sell-day fee proxy">
            <a:extLst xmlns:a="http://schemas.openxmlformats.org/drawingml/2006/main">
              <a:ext uri="{FF2B5EF4-FFF2-40B4-BE49-F238E27FC236}">
                <a16:creationId xmlns:a16="http://schemas.microsoft.com/office/drawing/2014/main" id="{67B0CC0B-E078-4CB0-9BC2-384011837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45770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rPr>
              <a:t>32/32</a:t>
            </a:r>
          </a:p>
        </p:txBody>
      </p:sp>
      <p:sp>
        <p:nvSpPr>
          <p:cNvPr id="16" name="metric-caption-sell-day fee proxy">
            <a:extLst xmlns:a="http://schemas.openxmlformats.org/drawingml/2006/main">
              <a:ext uri="{FF2B5EF4-FFF2-40B4-BE49-F238E27FC236}">
                <a16:creationId xmlns:a16="http://schemas.microsoft.com/office/drawing/2014/main" id="{5F8F19C1-EC5D-483E-9525-D62173974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01967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PERTURBATIONS PASSED</a:t>
            </a:r>
          </a:p>
        </p:txBody>
      </p:sp>
      <p:sp>
        <p:nvSpPr>
          <p:cNvPr id="17" name="metric-sub-minimum orders skipped">
            <a:extLst xmlns:a="http://schemas.openxmlformats.org/drawingml/2006/main">
              <a:ext uri="{FF2B5EF4-FFF2-40B4-BE49-F238E27FC236}">
                <a16:creationId xmlns:a16="http://schemas.microsoft.com/office/drawing/2014/main" id="{6F2C6B57-12A8-44AE-AD88-E5075F92F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4577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rPr>
              <a:t>EXACT</a:t>
            </a:r>
          </a:p>
        </p:txBody>
      </p:sp>
      <p:sp>
        <p:nvSpPr>
          <p:cNvPr id="18" name="metric-caption-sub-minimum orders skipped">
            <a:extLst xmlns:a="http://schemas.openxmlformats.org/drawingml/2006/main">
              <a:ext uri="{FF2B5EF4-FFF2-40B4-BE49-F238E27FC236}">
                <a16:creationId xmlns:a16="http://schemas.microsoft.com/office/drawing/2014/main" id="{46CFCFA7-DA3F-4490-BC33-21A7BFF06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01967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ALPACA-COMPATIBLE FIELDS</a:t>
            </a:r>
          </a:p>
        </p:txBody>
      </p:sp>
      <p:sp>
        <p:nvSpPr>
          <p:cNvPr id="19" name="small-account-boundary">
            <a:extLst xmlns:a="http://schemas.openxmlformats.org/drawingml/2006/main">
              <a:ext uri="{FF2B5EF4-FFF2-40B4-BE49-F238E27FC236}">
                <a16:creationId xmlns:a16="http://schemas.microsoft.com/office/drawing/2014/main" id="{CB9B2EF6-214E-40B5-ABCC-1008A5767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676900"/>
            <a:ext cx="9791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0" i="1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050" b="0" i="1">
                <a:solidFill>
                  <a:srgbClr val="68706F"/>
                </a:solidFill>
                <a:latin typeface="Arial"/>
                <a:ea typeface="Arial"/>
                <a:cs typeface="Arial"/>
              </a:rPr>
              <a:t>If the evidence or the numbers change, Finly stops the trade.</a:t>
            </a:r>
          </a:p>
        </p:txBody>
      </p:sp>
    </p:spTree>
    <p:extLst>
      <p:ext uri="{BB962C8B-B14F-4D97-AF65-F5344CB8AC3E}">
        <p14:creationId xmlns:p14="http://schemas.microsoft.com/office/powerpoint/2010/main" val="43145094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D2B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label-Forward proof-58-32">
            <a:extLst xmlns:a="http://schemas.openxmlformats.org/drawingml/2006/main">
              <a:ext uri="{FF2B5EF4-FFF2-40B4-BE49-F238E27FC236}">
                <a16:creationId xmlns:a16="http://schemas.microsoft.com/office/drawing/2014/main" id="{6ACF7A3F-C5A1-4AE3-8DF2-0910E9A55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WE BUILT THE CHECKS IN</a:t>
            </a:r>
          </a:p>
        </p:txBody>
      </p:sp>
      <p:sp>
        <p:nvSpPr>
          <p:cNvPr id="2" name="slide-title-8">
            <a:extLst xmlns:a="http://schemas.openxmlformats.org/drawingml/2006/main">
              <a:ext uri="{FF2B5EF4-FFF2-40B4-BE49-F238E27FC236}">
                <a16:creationId xmlns:a16="http://schemas.microsoft.com/office/drawing/2014/main" id="{0BF2187E-DD90-444B-BBDC-68977FAD2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Every Finly decision comes with a receipt.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5ECCC5-1FED-40D8-BB28-608D943C1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5E7482"/>
            </a:solidFill>
            <a:prstDash val="solid"/>
          </a:ln>
        </p:spPr>
      </p:sp>
      <p:sp>
        <p:nvSpPr>
          <p:cNvPr id="4" name="footer-8">
            <a:extLst xmlns:a="http://schemas.openxmlformats.org/drawingml/2006/main">
              <a:ext uri="{FF2B5EF4-FFF2-40B4-BE49-F238E27FC236}">
                <a16:creationId xmlns:a16="http://schemas.microsoft.com/office/drawing/2014/main" id="{E1E39969-1921-4C18-89E3-02726A2AA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C5D0D4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5D0D4"/>
                </a:solidFill>
                <a:latin typeface="Arial"/>
                <a:ea typeface="Arial"/>
                <a:cs typeface="Arial"/>
              </a:rPr>
              <a:t>FINLY  /  AI TRADING WITH BUILT-IN CHECKS</a:t>
            </a:r>
          </a:p>
        </p:txBody>
      </p:sp>
      <p:sp>
        <p:nvSpPr>
          <p:cNvPr id="5" name="page-8">
            <a:extLst xmlns:a="http://schemas.openxmlformats.org/drawingml/2006/main">
              <a:ext uri="{FF2B5EF4-FFF2-40B4-BE49-F238E27FC236}">
                <a16:creationId xmlns:a16="http://schemas.microsoft.com/office/drawing/2014/main" id="{E316E011-31FD-43AE-9852-5216AC467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C5D0D4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5D0D4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6" name="label-Public before the first signal-64-210">
            <a:extLst xmlns:a="http://schemas.openxmlformats.org/drawingml/2006/main">
              <a:ext uri="{FF2B5EF4-FFF2-40B4-BE49-F238E27FC236}">
                <a16:creationId xmlns:a16="http://schemas.microsoft.com/office/drawing/2014/main" id="{F35D3F03-5F0A-421E-A684-5AAC28EB7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WHAT'S IN THE RECEIPT</a:t>
            </a:r>
          </a:p>
        </p:txBody>
      </p:sp>
      <p:sp>
        <p:nvSpPr>
          <p:cNvPr id="7" name="attempt-title">
            <a:extLst xmlns:a="http://schemas.openxmlformats.org/drawingml/2006/main">
              <a:ext uri="{FF2B5EF4-FFF2-40B4-BE49-F238E27FC236}">
                <a16:creationId xmlns:a16="http://schemas.microsoft.com/office/drawing/2014/main" id="{B91E7975-DD57-4745-95B4-5D31DE94E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5619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85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85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The evidence, the trade, the risk, and the result.</a:t>
            </a:r>
          </a:p>
        </p:txBody>
      </p:sp>
      <p:sp>
        <p:nvSpPr>
          <p:cNvPr id="8" name="attempt-copy">
            <a:extLst xmlns:a="http://schemas.openxmlformats.org/drawingml/2006/main">
              <a:ext uri="{FF2B5EF4-FFF2-40B4-BE49-F238E27FC236}">
                <a16:creationId xmlns:a16="http://schemas.microsoft.com/office/drawing/2014/main" id="{2E5D9F72-DFB3-40D6-B90B-4F0478E5C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5334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7000"/>
              </a:lnSpc>
              <a:buNone/>
              <a:defRPr sz="1500" b="0" i="0">
                <a:solidFill>
                  <a:srgbClr val="CBD4D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CBD4D6"/>
                </a:solidFill>
                <a:latin typeface="Arial"/>
                <a:ea typeface="Arial"/>
                <a:cs typeface="Arial"/>
              </a:rPr>
              <a:t>A judge can see what the AI concluded, what code built, what changed during testing, and what happened next. The receipt links back to the data and code behind it.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035B69-DC3A-473D-9A0B-164738911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621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5E7482"/>
            </a:solidFill>
            <a:prstDash val="solid"/>
          </a:ln>
        </p:spPr>
      </p:sp>
      <p:sp>
        <p:nvSpPr>
          <p:cNvPr id="10" name="metric-runtime-bound files matched">
            <a:extLst xmlns:a="http://schemas.openxmlformats.org/drawingml/2006/main">
              <a:ext uri="{FF2B5EF4-FFF2-40B4-BE49-F238E27FC236}">
                <a16:creationId xmlns:a16="http://schemas.microsoft.com/office/drawing/2014/main" id="{B4D66D95-E9E8-45A4-BA66-D12DCBFBE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764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rPr>
              <a:t>VIEW</a:t>
            </a:r>
          </a:p>
        </p:txBody>
      </p:sp>
      <p:sp>
        <p:nvSpPr>
          <p:cNvPr id="11" name="metric-caption-runtime-bound files matched">
            <a:extLst xmlns:a="http://schemas.openxmlformats.org/drawingml/2006/main">
              <a:ext uri="{FF2B5EF4-FFF2-40B4-BE49-F238E27FC236}">
                <a16:creationId xmlns:a16="http://schemas.microsoft.com/office/drawing/2014/main" id="{98B327E9-A557-4FE1-980B-48AD4D3D2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638425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WHAT THE AI CONCLUDED</a:t>
            </a:r>
          </a:p>
        </p:txBody>
      </p:sp>
      <p:sp>
        <p:nvSpPr>
          <p:cNvPr id="12" name="metric-fixed public GET checks">
            <a:extLst xmlns:a="http://schemas.openxmlformats.org/drawingml/2006/main">
              <a:ext uri="{FF2B5EF4-FFF2-40B4-BE49-F238E27FC236}">
                <a16:creationId xmlns:a16="http://schemas.microsoft.com/office/drawing/2014/main" id="{A6E9651B-DAA4-4DFB-88CC-F93D02A6F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76450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rPr>
              <a:t>ORDER</a:t>
            </a:r>
          </a:p>
        </p:txBody>
      </p:sp>
      <p:sp>
        <p:nvSpPr>
          <p:cNvPr id="13" name="metric-caption-fixed public GET checks">
            <a:extLst xmlns:a="http://schemas.openxmlformats.org/drawingml/2006/main">
              <a:ext uri="{FF2B5EF4-FFF2-40B4-BE49-F238E27FC236}">
                <a16:creationId xmlns:a16="http://schemas.microsoft.com/office/drawing/2014/main" id="{1F9A1FDF-56E0-4A20-9EF6-84CC43676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638425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WHAT CODE BUILT</a:t>
            </a:r>
          </a:p>
        </p:txBody>
      </p:sp>
      <p:sp>
        <p:nvSpPr>
          <p:cNvPr id="14" name="metric-timely signal anchors required">
            <a:extLst xmlns:a="http://schemas.openxmlformats.org/drawingml/2006/main">
              <a:ext uri="{FF2B5EF4-FFF2-40B4-BE49-F238E27FC236}">
                <a16:creationId xmlns:a16="http://schemas.microsoft.com/office/drawing/2014/main" id="{F3808D7B-05B0-4899-86BA-8FCD7DFF3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718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rPr>
              <a:t>TESTS</a:t>
            </a:r>
          </a:p>
        </p:txBody>
      </p:sp>
      <p:sp>
        <p:nvSpPr>
          <p:cNvPr id="15" name="metric-caption-timely signal anchors required">
            <a:extLst xmlns:a="http://schemas.openxmlformats.org/drawingml/2006/main">
              <a:ext uri="{FF2B5EF4-FFF2-40B4-BE49-F238E27FC236}">
                <a16:creationId xmlns:a16="http://schemas.microsoft.com/office/drawing/2014/main" id="{7A86783B-6107-4828-A484-CB2934795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33825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WHAT CHANGED UNDER STRESS</a:t>
            </a:r>
          </a:p>
        </p:txBody>
      </p:sp>
      <p:sp>
        <p:nvSpPr>
          <p:cNvPr id="16" name="metric-reconciled settlements required">
            <a:extLst xmlns:a="http://schemas.openxmlformats.org/drawingml/2006/main">
              <a:ext uri="{FF2B5EF4-FFF2-40B4-BE49-F238E27FC236}">
                <a16:creationId xmlns:a16="http://schemas.microsoft.com/office/drawing/2014/main" id="{9E7B3311-BCE3-46B5-ABF1-8BD4AC3E3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371850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rPr>
              <a:t>LOG</a:t>
            </a:r>
          </a:p>
        </p:txBody>
      </p:sp>
      <p:sp>
        <p:nvSpPr>
          <p:cNvPr id="17" name="metric-caption-reconciled settlements required">
            <a:extLst xmlns:a="http://schemas.openxmlformats.org/drawingml/2006/main">
              <a:ext uri="{FF2B5EF4-FFF2-40B4-BE49-F238E27FC236}">
                <a16:creationId xmlns:a16="http://schemas.microsoft.com/office/drawing/2014/main" id="{43C443A3-B990-4AEC-83DF-C7F4E9D2D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933825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WHAT HAPPENED NEXT</a:t>
            </a:r>
          </a:p>
        </p:txBody>
      </p:sp>
      <p:sp>
        <p:nvSpPr>
          <p:cNvPr id="18" name="attempt-gate">
            <a:extLst xmlns:a="http://schemas.openxmlformats.org/drawingml/2006/main">
              <a:ext uri="{FF2B5EF4-FFF2-40B4-BE49-F238E27FC236}">
                <a16:creationId xmlns:a16="http://schemas.microsoft.com/office/drawing/2014/main" id="{30097F05-6D04-4EC5-AA09-9BCA7950A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62500"/>
            <a:ext cx="48768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5"/>
          </a:solidFill>
          <a:ln xmlns:a="http://schemas.openxmlformats.org/drawingml/2006/main" w="9525">
            <a:solidFill>
              <a:srgbClr val="527087"/>
            </a:solidFill>
            <a:prstDash val="solid"/>
          </a:ln>
        </p:spPr>
      </p:sp>
      <p:sp>
        <p:nvSpPr>
          <p:cNvPr id="19" name="attempt-gate-copy">
            <a:extLst xmlns:a="http://schemas.openxmlformats.org/drawingml/2006/main">
              <a:ext uri="{FF2B5EF4-FFF2-40B4-BE49-F238E27FC236}">
                <a16:creationId xmlns:a16="http://schemas.microsoft.com/office/drawing/2014/main" id="{FB63EABB-AB7B-4EF2-9FEB-63AB2ACC7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991100"/>
            <a:ext cx="4381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14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803 TESTS DISCOVERED · 801 PASSED · 0 FAILED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Cloud run · exact revision · Alpaca paper account</a:t>
            </a:r>
          </a:p>
        </p:txBody>
      </p:sp>
      <p:sp>
        <p:nvSpPr>
          <p:cNvPr id="20" name="attempt-boundary">
            <a:extLst xmlns:a="http://schemas.openxmlformats.org/drawingml/2006/main">
              <a:ext uri="{FF2B5EF4-FFF2-40B4-BE49-F238E27FC236}">
                <a16:creationId xmlns:a16="http://schemas.microsoft.com/office/drawing/2014/main" id="{20B72F92-15F5-4E2E-A8E4-9AA3322E6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05450"/>
            <a:ext cx="533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0" i="1">
                <a:solidFill>
                  <a:srgbClr val="9AB0B6"/>
                </a:solidFill>
                <a:latin typeface="Arial"/>
                <a:ea typeface="Arial"/>
                <a:cs typeface="Arial"/>
              </a:defRPr>
            </a:pPr>
            <a:r>
              <a:rPr sz="1125" b="0" i="1">
                <a:solidFill>
                  <a:srgbClr val="9AB0B6"/>
                </a:solidFill>
                <a:latin typeface="Arial"/>
                <a:ea typeface="Arial"/>
                <a:cs typeface="Arial"/>
              </a:rPr>
              <a:t>Open the receipt or run the tests yourself.</a:t>
            </a:r>
          </a:p>
        </p:txBody>
      </p:sp>
    </p:spTree>
    <p:extLst>
      <p:ext uri="{BB962C8B-B14F-4D97-AF65-F5344CB8AC3E}">
        <p14:creationId xmlns:p14="http://schemas.microsoft.com/office/powerpoint/2010/main" val="120778996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D2B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label-Why Finly-58-32">
            <a:extLst xmlns:a="http://schemas.openxmlformats.org/drawingml/2006/main">
              <a:ext uri="{FF2B5EF4-FFF2-40B4-BE49-F238E27FC236}">
                <a16:creationId xmlns:a16="http://schemas.microsoft.com/office/drawing/2014/main" id="{AF51A8D4-1333-46A3-8C5B-8378621B9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TRY FINLY</a:t>
            </a:r>
          </a:p>
        </p:txBody>
      </p:sp>
      <p:sp>
        <p:nvSpPr>
          <p:cNvPr id="2" name="slide-title-9">
            <a:extLst xmlns:a="http://schemas.openxmlformats.org/drawingml/2006/main">
              <a:ext uri="{FF2B5EF4-FFF2-40B4-BE49-F238E27FC236}">
                <a16:creationId xmlns:a16="http://schemas.microsoft.com/office/drawing/2014/main" id="{BD2B0582-AD28-4ED6-B290-C0F529978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Watch it trade. Check the numbers. Read the code.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2A2D4A-BBA8-4EB6-B401-1B56159BB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5E7482"/>
            </a:solidFill>
            <a:prstDash val="solid"/>
          </a:ln>
        </p:spPr>
      </p:sp>
      <p:sp>
        <p:nvSpPr>
          <p:cNvPr id="4" name="footer-9">
            <a:extLst xmlns:a="http://schemas.openxmlformats.org/drawingml/2006/main">
              <a:ext uri="{FF2B5EF4-FFF2-40B4-BE49-F238E27FC236}">
                <a16:creationId xmlns:a16="http://schemas.microsoft.com/office/drawing/2014/main" id="{D5239F40-3BC0-4566-81E1-F3FAC752C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C5D0D4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5D0D4"/>
                </a:solidFill>
                <a:latin typeface="Arial"/>
                <a:ea typeface="Arial"/>
                <a:cs typeface="Arial"/>
              </a:rPr>
              <a:t>FINLY  /  AI TRADING WITH BUILT-IN CHECKS</a:t>
            </a:r>
          </a:p>
        </p:txBody>
      </p:sp>
      <p:sp>
        <p:nvSpPr>
          <p:cNvPr id="5" name="page-9">
            <a:extLst xmlns:a="http://schemas.openxmlformats.org/drawingml/2006/main">
              <a:ext uri="{FF2B5EF4-FFF2-40B4-BE49-F238E27FC236}">
                <a16:creationId xmlns:a16="http://schemas.microsoft.com/office/drawing/2014/main" id="{B780CA56-943C-4899-8E59-0F50C8F85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C5D0D4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5D0D4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6" name="label-P&amp;L evidence-58-220">
            <a:extLst xmlns:a="http://schemas.openxmlformats.org/drawingml/2006/main">
              <a:ext uri="{FF2B5EF4-FFF2-40B4-BE49-F238E27FC236}">
                <a16:creationId xmlns:a16="http://schemas.microsoft.com/office/drawing/2014/main" id="{7C12A42D-4E7C-416F-9A9C-2CAFAA1EA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BACKTEST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B052C1-FF4D-4B30-BEFC-AAA773A40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28875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B3A3A"/>
            </a:solidFill>
            <a:prstDash val="solid"/>
          </a:ln>
        </p:spPr>
      </p:sp>
      <p:sp>
        <p:nvSpPr>
          <p:cNvPr id="8" name="criterion-0">
            <a:extLst xmlns:a="http://schemas.openxmlformats.org/drawingml/2006/main">
              <a:ext uri="{FF2B5EF4-FFF2-40B4-BE49-F238E27FC236}">
                <a16:creationId xmlns:a16="http://schemas.microsoft.com/office/drawing/2014/main" id="{B9225463-DA23-4473-93E1-E13FCB663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86050"/>
            <a:ext cx="234315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7000"/>
              </a:lnSpc>
              <a:buNone/>
              <a:defRPr sz="15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Historical simulation: $10,000 became $106,711—$38,629 more than SPY after modeled costs.</a:t>
            </a:r>
          </a:p>
        </p:txBody>
      </p:sp>
      <p:sp>
        <p:nvSpPr>
          <p:cNvPr id="9" name="label-Technology-350-220">
            <a:extLst xmlns:a="http://schemas.openxmlformats.org/drawingml/2006/main">
              <a:ext uri="{FF2B5EF4-FFF2-40B4-BE49-F238E27FC236}">
                <a16:creationId xmlns:a16="http://schemas.microsoft.com/office/drawing/2014/main" id="{256C4D86-D7C0-4CE6-9695-BD3B5400F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0955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STRESS TEST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1BB092-0A09-4491-8D0E-A9B7C5654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428875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E7482"/>
            </a:solidFill>
            <a:prstDash val="solid"/>
          </a:ln>
        </p:spPr>
      </p:sp>
      <p:sp>
        <p:nvSpPr>
          <p:cNvPr id="11" name="criterion-1">
            <a:extLst xmlns:a="http://schemas.openxmlformats.org/drawingml/2006/main">
              <a:ext uri="{FF2B5EF4-FFF2-40B4-BE49-F238E27FC236}">
                <a16:creationId xmlns:a16="http://schemas.microsoft.com/office/drawing/2014/main" id="{AA00CAF5-8E4A-4BB8-8047-B2135730F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686050"/>
            <a:ext cx="234315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7000"/>
              </a:lnSpc>
              <a:buNone/>
              <a:defRPr sz="15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out-of-era stress test stayed ahead across 21/21 timing anchors and a 25 bp cost assumption.</a:t>
            </a:r>
          </a:p>
        </p:txBody>
      </p:sp>
      <p:sp>
        <p:nvSpPr>
          <p:cNvPr id="12" name="label-Originality-642-220">
            <a:extLst xmlns:a="http://schemas.openxmlformats.org/drawingml/2006/main">
              <a:ext uri="{FF2B5EF4-FFF2-40B4-BE49-F238E27FC236}">
                <a16:creationId xmlns:a16="http://schemas.microsoft.com/office/drawing/2014/main" id="{45842F15-702B-4340-B3D1-7151BF89A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0955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TRADE CHECKS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B6925F-EB7E-47F0-BC87-BB93BE9E3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428875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E7482"/>
            </a:solidFill>
            <a:prstDash val="solid"/>
          </a:ln>
        </p:spPr>
      </p:sp>
      <p:sp>
        <p:nvSpPr>
          <p:cNvPr id="14" name="criterion-2">
            <a:extLst xmlns:a="http://schemas.openxmlformats.org/drawingml/2006/main">
              <a:ext uri="{FF2B5EF4-FFF2-40B4-BE49-F238E27FC236}">
                <a16:creationId xmlns:a16="http://schemas.microsoft.com/office/drawing/2014/main" id="{97B9F06E-8B70-42B9-92EE-7CB2045EF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686050"/>
            <a:ext cx="234315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7000"/>
              </a:lnSpc>
              <a:buNone/>
              <a:defRPr sz="15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$366 maximum loss, $634 maximum gain, 4/4 source removals, and 32/32 input shocks.</a:t>
            </a:r>
          </a:p>
        </p:txBody>
      </p:sp>
      <p:sp>
        <p:nvSpPr>
          <p:cNvPr id="15" name="label-Forward proof-934-220">
            <a:extLst xmlns:a="http://schemas.openxmlformats.org/drawingml/2006/main">
              <a:ext uri="{FF2B5EF4-FFF2-40B4-BE49-F238E27FC236}">
                <a16:creationId xmlns:a16="http://schemas.microsoft.com/office/drawing/2014/main" id="{EA5F4AA3-B32B-4EDB-A2D6-0C9F3ACDC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0955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LIVE ACCOUNT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0143B9-2D5A-43FC-94D8-28453DD62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428875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E7482"/>
            </a:solidFill>
            <a:prstDash val="solid"/>
          </a:ln>
        </p:spPr>
      </p:sp>
      <p:sp>
        <p:nvSpPr>
          <p:cNvPr id="17" name="criterion-3">
            <a:extLst xmlns:a="http://schemas.openxmlformats.org/drawingml/2006/main">
              <a:ext uri="{FF2B5EF4-FFF2-40B4-BE49-F238E27FC236}">
                <a16:creationId xmlns:a16="http://schemas.microsoft.com/office/drawing/2014/main" id="{C322C23B-406F-40A1-B5EA-72A2BE3F8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686050"/>
            <a:ext cx="234315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7000"/>
              </a:lnSpc>
              <a:buNone/>
              <a:defRPr sz="15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 verified $100,000 Alpaca paper account makes every new decision visible and inspectable.</a:t>
            </a:r>
          </a:p>
        </p:txBody>
      </p:sp>
      <p:sp>
        <p:nvSpPr>
          <p:cNvPr id="18" name="closing-line">
            <a:extLst xmlns:a="http://schemas.openxmlformats.org/drawingml/2006/main">
              <a:ext uri="{FF2B5EF4-FFF2-40B4-BE49-F238E27FC236}">
                <a16:creationId xmlns:a16="http://schemas.microsoft.com/office/drawing/2014/main" id="{FDCEE1D7-D104-4C34-A622-0181A2709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95850"/>
            <a:ext cx="10629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85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85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AI reads the market. Code guards the account.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285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85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owlsowo.github.io/finly-bot</a:t>
            </a:r>
          </a:p>
        </p:txBody>
      </p:sp>
    </p:spTree>
    <p:extLst>
      <p:ext uri="{BB962C8B-B14F-4D97-AF65-F5344CB8AC3E}">
        <p14:creationId xmlns:p14="http://schemas.microsoft.com/office/powerpoint/2010/main" val="609388274"/>
      </p:ext>
    </p:extLst>
  </p:cSld>
</p:sld>
</file>

<file path=ppt/theme/theme1.xml><?xml version="1.0" encoding="utf-8"?>
<a:theme xmlns:a="http://schemas.openxmlformats.org/drawingml/2006/main" name="Finly">
  <a:themeElements>
    <a:clrScheme name="Finly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Finly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2026-08-31T09:15:12.3730000Z</dcterms:created>
  <dcterms:modified xsi:type="dcterms:W3CDTF">2026-08-31T09:15:12.3730000Z</dcterms:modified>
</coreProperties>
</file>