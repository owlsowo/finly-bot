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d2184fbdd4431a" /><Relationship Type="http://schemas.openxmlformats.org/officeDocument/2006/relationships/extended-properties" Target="/docProps/app.xml" Id="R865f4b1a7da5495a" /><Relationship Type="http://schemas.openxmlformats.org/officeDocument/2006/relationships/officeDocument" Target="/ppt/presentation.xml" Id="R57b0691fdfa547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283b3828ec4591"/>
  </p:sldMasterIdLst>
  <p:notesMasterIdLst>
    <p:notesMasterId xmlns:r="http://schemas.openxmlformats.org/officeDocument/2006/relationships" r:id="R1541216b1e354850"/>
  </p:notesMasterIdLst>
  <p:sldIdLst>
    <p:sldId xmlns:r="http://schemas.openxmlformats.org/officeDocument/2006/relationships" id="256" r:id="Rf6251981b79f4f57"/>
    <p:sldId xmlns:r="http://schemas.openxmlformats.org/officeDocument/2006/relationships" id="257" r:id="R92857efcf09440f2"/>
    <p:sldId xmlns:r="http://schemas.openxmlformats.org/officeDocument/2006/relationships" id="258" r:id="R195b1c396547484a"/>
    <p:sldId xmlns:r="http://schemas.openxmlformats.org/officeDocument/2006/relationships" id="259" r:id="R6c3d80107b654fb5"/>
    <p:sldId xmlns:r="http://schemas.openxmlformats.org/officeDocument/2006/relationships" id="260" r:id="R1a283114be334305"/>
    <p:sldId xmlns:r="http://schemas.openxmlformats.org/officeDocument/2006/relationships" id="261" r:id="R0fd799948e1b49b7"/>
    <p:sldId xmlns:r="http://schemas.openxmlformats.org/officeDocument/2006/relationships" id="262" r:id="Re91ecbe380d34cb9"/>
    <p:sldId xmlns:r="http://schemas.openxmlformats.org/officeDocument/2006/relationships" id="263" r:id="Rb6487ca5044747c4"/>
    <p:sldId xmlns:r="http://schemas.openxmlformats.org/officeDocument/2006/relationships" id="264" r:id="Rfbbe38c899ac4e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f2e99c35564048" /><Relationship Type="http://schemas.openxmlformats.org/officeDocument/2006/relationships/slideMaster" Target="/ppt/slideMasters/slideMaster1.xml" Id="R91283b3828ec4591" /><Relationship Type="http://schemas.openxmlformats.org/officeDocument/2006/relationships/notesMaster" Target="/ppt/notesMasters/notesMaster1.xml" Id="R1541216b1e354850" /><Relationship Type="http://schemas.openxmlformats.org/officeDocument/2006/relationships/presProps" Target="/ppt/presProps.xml" Id="Rba6dab0903644988" /><Relationship Type="http://schemas.openxmlformats.org/officeDocument/2006/relationships/tableStyles" Target="/ppt/tableStyles.xml" Id="Rfa22faeee7454275" /><Relationship Type="http://schemas.openxmlformats.org/officeDocument/2006/relationships/slide" Target="/ppt/slides/slide1.xml" Id="Rf6251981b79f4f57" /><Relationship Type="http://schemas.openxmlformats.org/officeDocument/2006/relationships/slide" Target="/ppt/slides/slide2.xml" Id="R92857efcf09440f2" /><Relationship Type="http://schemas.openxmlformats.org/officeDocument/2006/relationships/slide" Target="/ppt/slides/slide3.xml" Id="R195b1c396547484a" /><Relationship Type="http://schemas.openxmlformats.org/officeDocument/2006/relationships/slide" Target="/ppt/slides/slide4.xml" Id="R6c3d80107b654fb5" /><Relationship Type="http://schemas.openxmlformats.org/officeDocument/2006/relationships/slide" Target="/ppt/slides/slide5.xml" Id="R1a283114be334305" /><Relationship Type="http://schemas.openxmlformats.org/officeDocument/2006/relationships/slide" Target="/ppt/slides/slide6.xml" Id="R0fd799948e1b49b7" /><Relationship Type="http://schemas.openxmlformats.org/officeDocument/2006/relationships/slide" Target="/ppt/slides/slide7.xml" Id="Re91ecbe380d34cb9" /><Relationship Type="http://schemas.openxmlformats.org/officeDocument/2006/relationships/slide" Target="/ppt/slides/slide8.xml" Id="Rb6487ca5044747c4" /><Relationship Type="http://schemas.openxmlformats.org/officeDocument/2006/relationships/slide" Target="/ppt/slides/slide9.xml" Id="Rfbbe38c899ac4e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8255f6ad7f48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e513f472014a20" /><Relationship Type="http://schemas.openxmlformats.org/officeDocument/2006/relationships/notesMaster" Target="/ppt/notesMasters/notesMaster1.xml" Id="R2fa8323e0a6a47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115421f91d435d" /><Relationship Type="http://schemas.openxmlformats.org/officeDocument/2006/relationships/notesMaster" Target="/ppt/notesMasters/notesMaster1.xml" Id="Rc92dae38637f45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55725af7ba4b56" /><Relationship Type="http://schemas.openxmlformats.org/officeDocument/2006/relationships/notesMaster" Target="/ppt/notesMasters/notesMaster1.xml" Id="R3d261fb2f06247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f5f966e34c4dfb" /><Relationship Type="http://schemas.openxmlformats.org/officeDocument/2006/relationships/notesMaster" Target="/ppt/notesMasters/notesMaster1.xml" Id="R544c925875824e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da29ee971147cf" /><Relationship Type="http://schemas.openxmlformats.org/officeDocument/2006/relationships/notesMaster" Target="/ppt/notesMasters/notesMaster1.xml" Id="Ra6921a1a89254a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8df6390871408d" /><Relationship Type="http://schemas.openxmlformats.org/officeDocument/2006/relationships/notesMaster" Target="/ppt/notesMasters/notesMaster1.xml" Id="R5aea93c887be45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b0743fc0c34e4f" /><Relationship Type="http://schemas.openxmlformats.org/officeDocument/2006/relationships/notesMaster" Target="/ppt/notesMasters/notesMaster1.xml" Id="R153c4da0244b47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7965bfdf1a49df" /><Relationship Type="http://schemas.openxmlformats.org/officeDocument/2006/relationships/notesMaster" Target="/ppt/notesMasters/notesMaster1.xml" Id="R263c60e3e91944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35779bf64748a5" /><Relationship Type="http://schemas.openxmlformats.org/officeDocument/2006/relationships/notesMaster" Target="/ppt/notesMasters/notesMaster1.xml" Id="R49951e1a73d344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Cloud model runner: https://github.com/owlsowo/finly-bot/blob/main/.github/workflows/paper-agent-cloud.yml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Hosted-model readiness gate: https://github.com/owlsowo/finly-bot/blob/main/scripts/featherless_readiness_check.mjs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Calibration artifact: https://owlsowo.github.io/finly-bot/data/options_policy_calibration.json</a:t>
            </a:r>
          </a:p>
          <a:p xmlns:a="http://schemas.openxmlformats.org/drawingml/2006/main">
            <a:r>
              <a:t>- Reproduce with: npm run options:calibration</a:t>
            </a:r>
          </a:p>
          <a:p xmlns:a="http://schemas.openxmlformats.org/drawingml/2006/main">
            <a:r>
              <a:t>- The test uses historical SPY signals and one fixed symmetric modeled quote surface. It does not use historical option quotes, orders, fills, or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September 2 same-clock measurement: https://owlsowo.github.io/finly-bot/data/competition_forward_profit_2026_09_02.json</a:t>
            </a:r>
          </a:p>
          <a:p xmlns:a="http://schemas.openxmlformats.org/drawingml/2006/main">
            <a:r>
              <a:t>- Exact close: Finly +$141.24, SPY -$284.76, excess +$426.00.</a:t>
            </a:r>
          </a:p>
          <a:p xmlns:a="http://schemas.openxmlformats.org/drawingml/2006/main">
            <a:r>
              <a:t>- Paper account only. The comparison uses SPY raw IEX price return, not total return or alpha.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decision record: https://owlsowo.github.io/finly-bot/data/options_live_decision_funnel_2026_09_02.json</a:t>
            </a:r>
          </a:p>
          <a:p xmlns:a="http://schemas.openxmlformats.org/drawingml/2006/main">
            <a:r>
              <a:t>- Public cloud run: https://github.com/owlsowo/finly-bot/actions/runs/33662758327</a:t>
            </a:r>
          </a:p>
          <a:p xmlns:a="http://schemas.openxmlformats.org/drawingml/2006/main">
            <a:r>
              <a:t>- The 24 cycles are decision-process evidence. No live options order, fill, or options P&amp;L is claimed.</a:t>
            </a:r>
          </a:p>
          <a:p xmlns:a="http://schemas.openxmlformats.org/drawingml/2006/main">
            <a:r>
              <a:t>- Automated verification: https://github.com/owlsowo/finly-bot/actions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cbefe2fdec4b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1963daada548a2" /><Relationship Type="http://schemas.openxmlformats.org/officeDocument/2006/relationships/slideLayout" Target="/ppt/slideLayouts/slideLayout1.xml" Id="R8f4cfbe0ac7944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4cfbe0ac7944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f1d382b304812" /><Relationship Type="http://schemas.openxmlformats.org/officeDocument/2006/relationships/image" Target="/ppt/media/image.png" Id="Rb71f38b7ba164729" /><Relationship Type="http://schemas.openxmlformats.org/officeDocument/2006/relationships/image" Target="/ppt/media/image2.png" Id="Ra6aacb04593741bf" /><Relationship Type="http://schemas.openxmlformats.org/officeDocument/2006/relationships/notesSlide" Target="/ppt/notesSlides/notesSlide1.xml" Id="R4d652e62523b42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8a3319c814a49" /><Relationship Type="http://schemas.openxmlformats.org/officeDocument/2006/relationships/notesSlide" Target="/ppt/notesSlides/notesSlide2.xml" Id="R06651b64fbf74e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5b1b0a5814bd9" /><Relationship Type="http://schemas.openxmlformats.org/officeDocument/2006/relationships/notesSlide" Target="/ppt/notesSlides/notesSlide3.xml" Id="Rf35b714afa7a42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a7710c3d44f5a" /><Relationship Type="http://schemas.openxmlformats.org/officeDocument/2006/relationships/chart" Target="/ppt/slides/charts/chart1.xml" Id="Ra7287b3122c94e7c" /><Relationship Type="http://schemas.openxmlformats.org/officeDocument/2006/relationships/notesSlide" Target="/ppt/notesSlides/notesSlide4.xml" Id="R140264543bd842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826a896eb40ca" /><Relationship Type="http://schemas.openxmlformats.org/officeDocument/2006/relationships/notesSlide" Target="/ppt/notesSlides/notesSlide5.xml" Id="Rc6dfef74603640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32e9d23db4c58" /><Relationship Type="http://schemas.openxmlformats.org/officeDocument/2006/relationships/notesSlide" Target="/ppt/notesSlides/notesSlide6.xml" Id="Rdeddac4c81664b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273ddc1ef4587" /><Relationship Type="http://schemas.openxmlformats.org/officeDocument/2006/relationships/notesSlide" Target="/ppt/notesSlides/notesSlide7.xml" Id="Ra2167998569740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a076b6409433f" /><Relationship Type="http://schemas.openxmlformats.org/officeDocument/2006/relationships/notesSlide" Target="/ppt/notesSlides/notesSlide8.xml" Id="R8abdca9710744c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c73cb9b384b67" /><Relationship Type="http://schemas.openxmlformats.org/officeDocument/2006/relationships/image" Target="/ppt/media/image3.png" Id="R244ce5f401054397" /><Relationship Type="http://schemas.openxmlformats.org/officeDocument/2006/relationships/hyperlink" Target="https://owlsowo.github.io/finly-bot/" TargetMode="External" Id="Rad7efc709d904173" /><Relationship Type="http://schemas.openxmlformats.org/officeDocument/2006/relationships/hyperlink" Target="https://owlsowo.github.io/finly-bot/" TargetMode="External" Id="R9d919eda949c4fa9" /><Relationship Type="http://schemas.openxmlformats.org/officeDocument/2006/relationships/notesSlide" Target="/ppt/notesSlides/notesSlide9.xml" Id="Re9ecc473743a4a40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f38b7ba164729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B6D20-2CB7-481D-BFC3-F94DC96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AA568-722C-4749-8230-A17DEC08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ONE AUTONOMOUS STRATEGY · TWO COORDINATED SLEEVES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B6205-36AA-41FD-9354-79B3EA38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Finly pairs a tested allocation with capped-risk AI options.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6C301-E410-4BEF-95F8-7DC2B380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7E3E5"/>
                </a:solidFill>
              </a:defRPr>
            </a:pPr>
            <a:r>
              <a:rPr sz="1650" b="0" i="0">
                <a:solidFill>
                  <a:srgbClr val="D7E3E5"/>
                </a:solidFill>
              </a:rPr>
              <a:t>The allocation keeps the account invested. AI studies small options trades; fixed rules cap the risk and can still stop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3DEA9-0CA9-49A8-8F64-99133548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acb04593741bf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E9CF36-81E0-48C1-AAAA-16A313A0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ALLOCATION  +  OPTIONS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8CDE0-2D7E-414F-95AB-7DBDACD6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One account  ·  one risk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6AC69-B4B8-4E85-A14E-2A65232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39BAD-024C-4AA4-8B9B-E77A75D6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D95CB-7DDF-4BA7-8B63-177E2D47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41F16-BDB9-4FC6-94FC-5FBB08AB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4EBC1-2497-4386-B5CC-FB3B674F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21FB9A-B4EA-4771-92FB-670BD2C3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+$426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CE90B2-854A-48D6-AB24-FF38A68B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VS SPY THROUGH SEP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25751-8751-47CE-B8F3-5CB5B054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725EF-0633-469C-B01A-45D16919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387ABF-6FF5-4F37-97AA-BD3813B9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6C241-DBF2-46BB-98E3-CEE73C3F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90B391-7F7E-45BD-ABE0-614755B8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18564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F5FB2C-2D24-4A93-83DC-B64106A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CD92B-B27B-44AA-9EA8-6B19B881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BDF30-9763-4440-B625-F561AB79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54872-F2D1-426C-B08E-ACFED42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880CB-46EC-481A-ADEB-59B6FBCF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56CF1-173C-4B71-83B5-54B34968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386F1-55A7-49AB-9742-100AE392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AA3CA-A237-4A2B-972A-0A856144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96236-1225-4E49-9AE0-26EF0470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E9189-BB54-44E8-B713-49EDD919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B397C-42B2-4476-BA79-09DADF86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662D2-196A-4586-9091-259BAFCB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FD765-7D37-4D57-A614-01247B1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62CF1-2B1F-4799-A929-356A1272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B7EC0-6CFD-43E5-96F0-73E2AD63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90F2B-2753-4665-98F2-7253C906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8AD721-CDC4-4AB7-84F2-1BF92155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25F3AE-157B-4A8A-A076-376FC882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F5112-F724-46AF-A636-65AD2ABB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5B85D-87CD-42ED-A97F-3655F0B0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C40C9-77BD-48C6-98A3-F06ACD33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F4F98-8F96-440D-843D-5D39F28B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B76DAC-F7FC-451A-9752-2A9A9A08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1AA8E7-C57F-4DB5-9965-84F8ADA1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35DD25-7C1E-4AC3-98A5-51287846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53A47E-7CB0-493F-909B-12C00AEA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CCFFCA-1333-4BD1-B763-42F778AF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221888-157A-4705-85E6-F437CA55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47C316-3E87-41D8-AB2B-921548A5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695DED-53FA-40AE-8F22-66CC1671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24176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F71397-D80F-4D55-ABFB-C60606ED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E6F87-179D-4155-9F49-03A9A98B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Price sets the direction. AI explains the news. Rules control the money.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2DA55-0376-484A-8DD6-2B94C3CE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0A360-B5A6-45E1-AF5A-92CC6673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66B11-B4CE-40B3-A9CB-84236187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D1012-7259-4E11-81BF-BFB0C778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Signed market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F2A88-A18B-4ADC-A2E3-6CAAC24A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Price momentum owns the sign. Options and AI-read news may only support, reduce, or stop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E3EC2-1ADA-4AE7-B385-CDCA571D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F2C6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A8A7D-629D-4433-915C-1FB35A74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AB450-9150-4D3D-94BB-21EAB2F4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 BUILDS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419CC-8898-47B6-8F39-8A265A67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One exact spread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843E0-E852-463E-B7F6-3A3BAB10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Bull call, bear put, or no trade. One contract, capped loss, fixed broker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9DDCC-0D6D-4E11-9059-E813953A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B9DFD2"/>
                </a:solidFill>
              </a:defRPr>
            </a:pPr>
            <a:r>
              <a:rPr sz="3300" b="1" i="0">
                <a:solidFill>
                  <a:srgbClr val="B9DFD2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332D2-5073-4689-A92B-C3B7485E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F2C66D"/>
                </a:solidFill>
              </a:defRPr>
            </a:pPr>
            <a:r>
              <a:rPr sz="3300" b="1" i="0">
                <a:solidFill>
                  <a:srgbClr val="F2C66D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000654-E124-460B-9702-CD2AD9C1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52650"/>
            <a:ext cx="4000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7BAFB-F29A-45D0-A009-BE8726E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01794-882D-4918-8A24-A4274AC7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RULES 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22BB5A-82DC-4DF6-90B2-6A69925B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Can money move?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A5ACDF-DDCD-456E-9B9B-0A89C1C6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90900"/>
            <a:ext cx="1638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558C72-004E-4192-A416-56999AFE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0A7120-4B40-4FDD-9FA6-13768DCE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ORDER 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12B8F-2B86-4356-B329-0D5FA06D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9090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D55AC-0276-4EA2-A232-5A2DDEB8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DA7F81-CAAC-4900-B344-771C0584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9095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8BBCFC-3D15-456D-AB6E-53412E3D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388B89-D36E-49F4-8448-66B58F01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9DFD2"/>
                </a:solidFill>
              </a:defRPr>
            </a:pPr>
            <a:r>
              <a:rPr sz="1875" b="1" i="0">
                <a:solidFill>
                  <a:srgbClr val="B9DFD2"/>
                </a:solidFill>
              </a:rPr>
              <a:t>Three outcomes: bullish call spread · bearish put spread · no trade.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72A000-A2AB-4C6C-A5E4-876D9A24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45DA5-2482-4423-B381-DFD11D4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35983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E7BE7-780D-4B1A-90DB-49728233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31C33-89AE-44C4-A4B0-22387F1C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A6703-4F4A-4100-AC32-49410C0B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Historical rule: 50% QQQ + 50% across three trend-selected sectors. Competition deployment: 97% of those weights + 3%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B73AB-268B-4EF1-AF10-891E4A39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287b3122c94e7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93D6B-52B4-49B2-9429-4B668666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A0AEDC-3EE5-4C6F-A5D8-04A9ED6B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142EB-6A7D-46B3-9041-FD57775D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B5379-38EF-4C08-992E-EB62E1DC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80E8C-2A56-4882-BA37-52393BC1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B984C8-5D6F-482F-896E-06EB0B7D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442CE-E210-496F-85FE-DAF59086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5EAD1A-405B-44F4-94E3-5F6328D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A5FEE-0DC9-4424-892D-4B136B4B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B61270-DBAD-44AB-9960-DD368D17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732490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75B9A0-5E8F-4190-B6E6-9202FDDC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SECOND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EED82-ED8F-4F64-BEFE-78200322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across all 21 tested monthly rebalance schedules.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598F8B-6B41-4A01-96CC-C6DE5652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CA5A7-A6F1-4E05-B1EA-B7D98145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96184-FEE7-40EB-8256-19E5FCBC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91E5B-8D03-49D0-A013-DDF203EB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238E7-CFAF-4943-AF5B-7621C27F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8C7DA1-DDC0-4DF9-8597-0C96FFB3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0272F-EEDC-4101-80E8-56C27031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E018CA-8D55-46AF-A9FF-887EC3E6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FFA13-8228-4620-92E4-9538CBF7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E2831-56C3-461B-B329-85A215B9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1E086-5E02-4E1F-8F5A-2CBAFC68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2FEFC-A46B-4004-BCF3-F5BB4F7A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REBALANCE SCHEDULES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1D18C-CE4E-4F8B-A79C-F1CD4FC6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EFEEB-6C1F-418A-B67B-B6BDF910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0B14C-1F17-489D-8BE9-F05F43C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EA9E5-231A-43EF-94A9-06C47F23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3DE51-291F-45AD-AA77-6DDB1D98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27B8DF-D65B-4F5F-9330-ACF573AB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14816D-3C0F-4D44-80B3-4E3DD13F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B3AC3C-5014-49BF-BDC4-DAD8311A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59186F-7762-4C15-A683-F2A62B6F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DBC05A-8459-45A3-A963-D3FB12E8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2633A6-FE82-4C53-B048-9A6042A2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91622-C625-40AF-B3C1-4F101733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B3895E-2C4E-4B62-B33D-399A4F05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65353B-B302-4DB8-ADC5-41681B37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51127F-903E-491D-A5AE-E86A58BD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1F57A7-762C-4D37-8F49-16534F6E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D42C79-A6DF-4214-92B4-FF3BC7E9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772283-AFB3-4222-8B51-E7300FB4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BF3F22-7ED7-4910-A651-EF226D19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7ABD10-CF56-4827-AA75-7FEEC885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725004-CBE7-4158-A92D-68F9D67E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017E67-CE66-46AC-97B4-DFFFF5B8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BC0C2F-8A12-44C5-9CF3-F4831851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ANNUALIZED GROWTH EDGE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A01D04-3034-4B08-A2E8-CE48B1D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745500-F46B-489C-B7CB-A6272739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833E11-BD4D-470F-9BA3-BBEBD550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894F8A-AFDE-4D81-97E4-C6317861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400772-7DE2-4702-ABC7-4CE6DF48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E67370-6DEB-493B-ACEE-EF3D4EEC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E56A41-3904-48D3-A88E-17761042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80826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B8E491-8381-4FBA-B164-8D105E83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OPTIONS ELIGIBILITY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CD74A-0E78-461C-B697-48760DB8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314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22A3E"/>
                </a:solidFill>
              </a:defRPr>
            </a:pPr>
            <a:r>
              <a:rPr sz="2850" b="1" i="0">
                <a:solidFill>
                  <a:srgbClr val="122A3E"/>
                </a:solidFill>
              </a:rPr>
              <a:t>11 ordinary-quote windows cleared every alpha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226FF-F366-4B7C-9428-E5FAFF40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517 sampled SPY signal windows · 2016–2026 · five-session stride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66C61-D936-4B1E-B63E-855FDFD5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SYMMETRIC MODELED QUOTE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CE7C4-0A8F-4E1E-AAEA-4EB28979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90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1A632-C3D2-42B7-A90D-09E6AB84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104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2F7D68"/>
                </a:solidFill>
              </a:defRPr>
            </a:pPr>
            <a:r>
              <a:rPr sz="390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945B3-226B-443E-A02A-518673CA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241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eligible entries out of 517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A1F3BD-6933-405E-AFEF-B4E02D90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051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7078"/>
                </a:solidFill>
              </a:defRPr>
            </a:pPr>
            <a:r>
              <a:rPr sz="1125" b="0" i="0">
                <a:solidFill>
                  <a:srgbClr val="627078"/>
                </a:solidFill>
              </a:rPr>
              <a:t>All retain positive conservative value after modeled costs.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025F4-9854-4FA1-96FE-E7CC88D9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BOTH DIRECTIONS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8F637-4CE2-4C2B-A9B9-2B4C2E50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43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6CACB-4A39-4CE8-AF75-6AA16D08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2F7D68"/>
                </a:solidFill>
              </a:defRPr>
            </a:pPr>
            <a:r>
              <a:rPr sz="3300" b="1" i="0">
                <a:solidFill>
                  <a:srgbClr val="2F7D68"/>
                </a:solidFill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58DA45-C476-4A8C-906E-8645D764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bullish call spreads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C46064-4BA5-4470-BD88-06074CF8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10050"/>
            <a:ext cx="2971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AB58F5-821D-44F8-BF92-EA4687CD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E56B5D"/>
                </a:solidFill>
              </a:defRPr>
            </a:pPr>
            <a:r>
              <a:rPr sz="3300" b="1" i="0">
                <a:solidFill>
                  <a:srgbClr val="E56B5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46FB3E-51D4-4C26-B014-C1CB46E8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38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bearish put spreads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0BCC2A-E7CF-4B9E-B87D-5B959911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4362450" cy="33337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B4020-0CB7-44C9-9D2F-C329FBE2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ELIGIBLE-SPREAD RANGE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0DEFD0-73CC-475C-8ABF-DBF02075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9850"/>
            <a:ext cx="361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Positive value. Capped loss.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C9E05F-D3A7-4115-8D22-5D5A7BE0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90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MAX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EA5E43-F27D-4F77-8BBB-33F8D053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718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$440–$455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84BBE-F4C3-4984-8BAC-BF01430B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CONSERVATIVE 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B84D07-A34E-4EFD-9692-A1A217B8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290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$10.08–$22.26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1BB15B-92AE-49D3-BDDE-FC3C3E04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05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REWARD / RISK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EF6323-D9E7-4C92-9D18-F0C0AE5B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286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2.30–2.41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E1FD1D-DAB8-42C7-A26D-0DC858CD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196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4D4D8"/>
                </a:solidFill>
              </a:defRPr>
            </a:pPr>
            <a:r>
              <a:rPr sz="975" b="0" i="0">
                <a:solidFill>
                  <a:srgbClr val="C4D4D8"/>
                </a:solidFill>
              </a:rPr>
              <a:t>Signal + fixed quote-surface test—not historical option prices or P&amp;L.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A496C3-CC85-43E7-A041-E6A94768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517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35E55-0B49-4B73-A48A-6C928034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SAMPLED SIGNAL WINDOWS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395BF6-BF8B-404F-BB56-4D5D4EEC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67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F01E52-3343-4A37-9714-C90E7882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9912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CLEARED EVERY ALPHA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CD1AF0-C9FE-48D0-8E7C-0A2F6502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7 /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382294-FB9A-42E3-9497-4B8CA185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BULLISH / BEARISH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417A7F-0933-4254-B52E-FC89F95A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467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8AF81E-2505-4B44-8B73-1E760A9E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991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HARD LOSS CEILING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DB1A3E-A830-4FC1-9CE2-C1ED5561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6B045D-3DD7-4240-B834-51B768F4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441412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C88908-7BEE-48C7-A8D1-C4219C98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· THROUGH SEPTEMBER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F92D5-BC28-4764-BFA1-0E16E9A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Finly finished $426 ahead of SPY at the same closing bell.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0563D-7F9C-43C9-85F9-8E419748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93420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72AE2-32DD-4BE5-A845-544A98D9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636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 · SAME 4:00 P.M. PRICE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090F7-8FC2-4E33-B43F-55BDA59C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194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FINLY PAPER ACCOUNT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4DC0C-2F3E-4873-B37B-33C63A6A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B2942"/>
                </a:solidFill>
              </a:defRPr>
            </a:pPr>
            <a:r>
              <a:rPr sz="3600" b="1" i="0">
                <a:solidFill>
                  <a:srgbClr val="0B2942"/>
                </a:solidFill>
              </a:rPr>
              <a:t>+$141.24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1CD15-E67E-4AD5-B086-CA30BCA6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$100,141.24 ending 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8230E-632C-4678-BF99-8C3E0193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24150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2439F-91EC-4853-A57F-05A98830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194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3084F-DF5D-47EE-B850-8E8C807C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B2942"/>
                </a:solidFill>
              </a:defRPr>
            </a:pPr>
            <a:r>
              <a:rPr sz="3600" b="1" i="0">
                <a:solidFill>
                  <a:srgbClr val="0B2942"/>
                </a:solidFill>
              </a:rPr>
              <a:t>−$284.76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0C448-201B-472B-9260-B31EB2E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$99,715.24 ending value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DEF22A-E96F-434B-96B6-B3049BAC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605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734DE-FC2B-4CBA-AF0C-F3F978B8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15 ETF fill events · zero deposits or withdrawals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EE6BC-AC32-4D54-8CC2-5D886DB9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43100"/>
            <a:ext cx="356235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D8F15-E03E-4D7E-8B0B-84E8A361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241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 ADVANTAGE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17017-BA9E-4DA8-B71E-92B167C6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8130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250" b="1" i="0">
                <a:solidFill>
                  <a:srgbClr val="FFFFFF"/>
                </a:solidFill>
              </a:defRPr>
            </a:pPr>
            <a:r>
              <a:rPr sz="5250" b="1" i="0">
                <a:solidFill>
                  <a:srgbClr val="FFFFFF"/>
                </a:solidFill>
              </a:rPr>
              <a:t>+$426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61FCC8-A316-4A4E-B86D-039FA479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147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versus SPY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9F8EE5-6F58-4B29-9067-FF7705A8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B9DFD2"/>
                </a:solidFill>
              </a:defRPr>
            </a:pPr>
            <a:r>
              <a:rPr sz="1275" b="0" i="0">
                <a:solidFill>
                  <a:srgbClr val="B9DFD2"/>
                </a:solidFill>
              </a:rPr>
              <a:t>Measured from the same start at the exact same timestamp.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FCA6A-37AB-46E2-955B-4D079CA6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70299-EDC7-499C-920C-9F0D2C8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9DFD2"/>
                </a:solidFill>
              </a:defRPr>
            </a:pPr>
            <a:r>
              <a:rPr sz="1875" b="1" i="0">
                <a:solidFill>
                  <a:srgbClr val="B9DFD2"/>
                </a:solidFill>
              </a:rPr>
              <a:t>A live broker result—not a backtest—and every number links to the read-only measurement.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A0B1BD-EA41-4262-A60A-50DE71BF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94592-977C-4CB4-8437-4AC5CDD1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996587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FE3897-2419-4F22-AA50-21070D20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THE OPTIONS AGENT DID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A403-790A-48EE-A48A-8C26CD4B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2A3E"/>
                </a:solidFill>
              </a:defRPr>
            </a:pPr>
            <a:r>
              <a:rPr sz="3225" b="1" i="0">
                <a:solidFill>
                  <a:srgbClr val="122A3E"/>
                </a:solidFill>
              </a:rPr>
              <a:t>24 live options checks ended with no trade—and every reason is counted.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0C4AD-9C02-48D1-B3EA-8C02B2A1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318135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7005FF-F930-44F7-A5A7-AE7CD351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SEPTEMBER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EDD95-5584-46FA-B9C0-2C01218F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850" b="1" i="0">
                <a:solidFill>
                  <a:srgbClr val="FFFFFF"/>
                </a:solidFill>
              </a:defRPr>
            </a:pPr>
            <a:r>
              <a:rPr sz="5850" b="1" i="0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D9C6A-7B1D-4AE5-AFE2-ED7496E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LIVE EVALUATION CYCLES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EAA13-FC55-4BDF-BEFA-75607014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108D9-3E02-4DD0-A300-4227C1CC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B9DFD2"/>
                </a:solidFill>
              </a:defRPr>
            </a:pPr>
            <a:r>
              <a:rPr sz="1575" b="1" i="0">
                <a:solidFill>
                  <a:srgbClr val="B9DFD2"/>
                </a:solidFill>
              </a:rPr>
              <a:t>$0 NEW OPTIONS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B2E88-AC08-4FC9-B5CC-FE3A92C7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8120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0877E-383E-4C01-83D3-8122B6B6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6692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E56B5D"/>
                </a:solidFill>
              </a:defRPr>
            </a:pPr>
            <a:r>
              <a:rPr sz="3150" b="1" i="0">
                <a:solidFill>
                  <a:srgbClr val="E56B5D"/>
                </a:solidFill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C0F38-5D56-4333-AF85-6A66C0AF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0502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CB678C-11DA-47BC-88A5-9A8CF056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FAILED CERTIFICATION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09527-0E66-4D9C-988E-1491A1A2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6220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A candidate did not clear every deterministic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635A8-B108-42EA-A3E7-8DD6E3CA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5275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D3631-F97E-4665-A86A-FAC580BB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3847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2C66D"/>
                </a:solidFill>
              </a:defRPr>
            </a:pPr>
            <a:r>
              <a:rPr sz="3150" b="1" i="0">
                <a:solidFill>
                  <a:srgbClr val="F2C66D"/>
                </a:solidFill>
              </a:rPr>
              <a:t>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F118D-D5D6-464F-8E8F-4E399693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90B74-3657-4241-998B-FD31A156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6705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INSUFFICIENT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07726-BEBC-49E8-894E-DF0B02E2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33375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The AI-read market case did not support an entry.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64438-DE07-451D-9401-935CA58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590B7-0077-420F-AD6B-F9EC1B89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1002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2F7D68"/>
                </a:solidFill>
              </a:defRPr>
            </a:pPr>
            <a:r>
              <a:rPr sz="3150" b="1" i="0">
                <a:solidFill>
                  <a:srgbClr val="2F7D6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176AF3-D94F-42EB-B8A2-6B881DDA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4812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ED5048-DE14-44A7-833F-2047F438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860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AFTER THE CUTOFF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1DB02E-EC65-48F7-AD87-50F140B5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0530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The entry window had closed; monitoring continued.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22428B-3ECB-43E4-9F41-4404305C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86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B2942"/>
                </a:solidFill>
              </a:defRPr>
            </a:pPr>
            <a:r>
              <a:rPr sz="1575" b="1" i="0">
                <a:solidFill>
                  <a:srgbClr val="0B2942"/>
                </a:solidFill>
              </a:rPr>
              <a:t>0 orders submitted  ·  0 option fills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DA82EC-77FF-482C-A4BF-B604F3D7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29250"/>
            <a:ext cx="708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F7D68"/>
                </a:solidFill>
              </a:defRPr>
            </a:pPr>
            <a:r>
              <a:rPr sz="1650" b="0" i="0">
                <a:solidFill>
                  <a:srgbClr val="2F7D68"/>
                </a:solidFill>
              </a:rPr>
              <a:t>The agent was active; it simply found no setup that cleared the bar.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C15DDB-17FA-43D0-B72F-AF6239A1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9CE46C-D630-47C7-AB4B-59CB6187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F7D68"/>
                </a:solidFill>
              </a:defRPr>
            </a:pPr>
            <a:r>
              <a:rPr sz="1650" b="1" i="0">
                <a:solidFill>
                  <a:srgbClr val="2F7D68"/>
                </a:solidFill>
              </a:rPr>
              <a:t>827 automated tests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FD9D97-2F4C-4C72-86CC-4467BBD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1531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2942"/>
                </a:solidFill>
              </a:defRPr>
            </a:pPr>
            <a:r>
              <a:rPr sz="1425" b="1" i="0">
                <a:solidFill>
                  <a:srgbClr val="0B2942"/>
                </a:solidFill>
              </a:rPr>
              <a:t>825 passed  ·  0 failed  ·  2 optional checks skipped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CEAFF3-E7A7-4195-862C-BC9F75E2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C68A4A-309A-4EFB-AAF0-55A3D613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398347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F912A4-E4CB-4888-AD2C-6CB44A21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DACC6-D13E-41EE-82E3-126912DB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22A3E"/>
                </a:solidFill>
              </a:defRPr>
            </a:pPr>
            <a:r>
              <a:rPr sz="3750" b="1" i="0">
                <a:solidFill>
                  <a:srgbClr val="122A3E"/>
                </a:solidFill>
              </a:rPr>
              <a:t>Watch the account. Try the decision. Inspect the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D4D16-649E-4562-A3AE-F4D8CBDD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27078"/>
                </a:solidFill>
              </a:defRPr>
            </a:pPr>
            <a:r>
              <a:rPr sz="2025" b="0" i="0">
                <a:solidFill>
                  <a:srgbClr val="627078"/>
                </a:solidFill>
              </a:rPr>
              <a:t>$426 ahead of SPY through September 2—and every headline links to evidence you can inspect.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E1572-79C6-4C1F-8165-A9AA6E50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ce5f401054397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8BBD7-CD90-44B9-87AD-5A9B2418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ad7efc709d904173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F7CD8-CCDB-4374-81F3-80D8C3AF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AED38-E732-413B-8C61-1DB7EFCD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BF766-C3C3-4712-A806-3E466CFA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B8266-3C82-469E-922F-94AD78F8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03EA6-BE29-49D1-9864-E0344C71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29F5E-013D-4096-94BB-1D19342E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4B4D6-14E5-4604-A49D-5215E5A5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Bullish, bearish, or no trade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D659C-5224-4F45-B7AE-0D0B8B9E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87229-1398-415D-A141-C4F47BB7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9DAB9-C592-489B-85F3-1092E93B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41330-D7D5-4320-9FEB-118A421F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decision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57365-E89D-4443-AB2A-3F6173C5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A84D8-4AF1-4A51-A125-AC2F55BA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depth. Live account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4236B9-389C-4EFC-9057-614FA11E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9d919eda949c4fa9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361DE7-F79A-49CA-875A-6C2988AC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FBBFE-F296-474C-8B15-0E22E440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12879-3156-43C9-96EB-F167BCD0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650747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2026-09-02T22:54:55.7370000Z</dcterms:created>
  <dcterms:modified xsi:type="dcterms:W3CDTF">2026-09-02T22:54:55.7370000Z</dcterms:modified>
</coreProperties>
</file>