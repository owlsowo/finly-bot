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3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1d1acec4c94400a" /><Relationship Type="http://schemas.openxmlformats.org/officeDocument/2006/relationships/extended-properties" Target="/docProps/app.xml" Id="R05b5f548ac124ee4" /><Relationship Type="http://schemas.openxmlformats.org/officeDocument/2006/relationships/officeDocument" Target="/ppt/presentation.xml" Id="Rfa891e8c4af048b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09696a45ced48ec"/>
  </p:sldMasterIdLst>
  <p:notesMasterIdLst>
    <p:notesMasterId xmlns:r="http://schemas.openxmlformats.org/officeDocument/2006/relationships" r:id="R4bc3c24d50b04186"/>
  </p:notesMasterIdLst>
  <p:sldIdLst>
    <p:sldId xmlns:r="http://schemas.openxmlformats.org/officeDocument/2006/relationships" id="256" r:id="R063f7684141d412c"/>
    <p:sldId xmlns:r="http://schemas.openxmlformats.org/officeDocument/2006/relationships" id="257" r:id="Rd0e71d2e5de84087"/>
    <p:sldId xmlns:r="http://schemas.openxmlformats.org/officeDocument/2006/relationships" id="258" r:id="R2571906e78db4cda"/>
    <p:sldId xmlns:r="http://schemas.openxmlformats.org/officeDocument/2006/relationships" id="259" r:id="R027f5746eb8e4d69"/>
    <p:sldId xmlns:r="http://schemas.openxmlformats.org/officeDocument/2006/relationships" id="260" r:id="Rf308ed66cf8c43a4"/>
    <p:sldId xmlns:r="http://schemas.openxmlformats.org/officeDocument/2006/relationships" id="261" r:id="R6559c9234848423c"/>
    <p:sldId xmlns:r="http://schemas.openxmlformats.org/officeDocument/2006/relationships" id="262" r:id="R47ce9e6a1ae34e7d"/>
    <p:sldId xmlns:r="http://schemas.openxmlformats.org/officeDocument/2006/relationships" id="263" r:id="R1ce95ed4c12b4a36"/>
    <p:sldId xmlns:r="http://schemas.openxmlformats.org/officeDocument/2006/relationships" id="264" r:id="Rc4cf87e7bf234a1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d825612ea194428" /><Relationship Type="http://schemas.openxmlformats.org/officeDocument/2006/relationships/slideMaster" Target="/ppt/slideMasters/slideMaster1.xml" Id="Rd09696a45ced48ec" /><Relationship Type="http://schemas.openxmlformats.org/officeDocument/2006/relationships/notesMaster" Target="/ppt/notesMasters/notesMaster1.xml" Id="R4bc3c24d50b04186" /><Relationship Type="http://schemas.openxmlformats.org/officeDocument/2006/relationships/presProps" Target="/ppt/presProps.xml" Id="Rc2bcf91186924b26" /><Relationship Type="http://schemas.openxmlformats.org/officeDocument/2006/relationships/tableStyles" Target="/ppt/tableStyles.xml" Id="R4fe5399735c3431e" /><Relationship Type="http://schemas.openxmlformats.org/officeDocument/2006/relationships/slide" Target="/ppt/slides/slide1.xml" Id="R063f7684141d412c" /><Relationship Type="http://schemas.openxmlformats.org/officeDocument/2006/relationships/slide" Target="/ppt/slides/slide2.xml" Id="Rd0e71d2e5de84087" /><Relationship Type="http://schemas.openxmlformats.org/officeDocument/2006/relationships/slide" Target="/ppt/slides/slide3.xml" Id="R2571906e78db4cda" /><Relationship Type="http://schemas.openxmlformats.org/officeDocument/2006/relationships/slide" Target="/ppt/slides/slide4.xml" Id="R027f5746eb8e4d69" /><Relationship Type="http://schemas.openxmlformats.org/officeDocument/2006/relationships/slide" Target="/ppt/slides/slide5.xml" Id="Rf308ed66cf8c43a4" /><Relationship Type="http://schemas.openxmlformats.org/officeDocument/2006/relationships/slide" Target="/ppt/slides/slide6.xml" Id="R6559c9234848423c" /><Relationship Type="http://schemas.openxmlformats.org/officeDocument/2006/relationships/slide" Target="/ppt/slides/slide7.xml" Id="R47ce9e6a1ae34e7d" /><Relationship Type="http://schemas.openxmlformats.org/officeDocument/2006/relationships/slide" Target="/ppt/slides/slide8.xml" Id="R1ce95ed4c12b4a36" /><Relationship Type="http://schemas.openxmlformats.org/officeDocument/2006/relationships/slide" Target="/ppt/slides/slide9.xml" Id="Rc4cf87e7bf234a1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45caa757d48479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1ab442c57ec4dbb" /><Relationship Type="http://schemas.openxmlformats.org/officeDocument/2006/relationships/notesMaster" Target="/ppt/notesMasters/notesMaster1.xml" Id="R94e252b9e8ea491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76fed541339474a" /><Relationship Type="http://schemas.openxmlformats.org/officeDocument/2006/relationships/notesMaster" Target="/ppt/notesMasters/notesMaster1.xml" Id="Reb2a67f950fd45b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2966133fa1344a8" /><Relationship Type="http://schemas.openxmlformats.org/officeDocument/2006/relationships/notesMaster" Target="/ppt/notesMasters/notesMaster1.xml" Id="R3d9bd4d4ef35453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e7a4862f7fd4374" /><Relationship Type="http://schemas.openxmlformats.org/officeDocument/2006/relationships/notesMaster" Target="/ppt/notesMasters/notesMaster1.xml" Id="R123f426b98c941b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3b9d3b971af4038" /><Relationship Type="http://schemas.openxmlformats.org/officeDocument/2006/relationships/notesMaster" Target="/ppt/notesMasters/notesMaster1.xml" Id="R6378fb999ebf477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9b862fa998e4c6f" /><Relationship Type="http://schemas.openxmlformats.org/officeDocument/2006/relationships/notesMaster" Target="/ppt/notesMasters/notesMaster1.xml" Id="R640df96a9c584ab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6793ddc06744c07" /><Relationship Type="http://schemas.openxmlformats.org/officeDocument/2006/relationships/notesMaster" Target="/ppt/notesMasters/notesMaster1.xml" Id="R9cc5166fd6c2429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10f0d55f17a416e" /><Relationship Type="http://schemas.openxmlformats.org/officeDocument/2006/relationships/notesMaster" Target="/ppt/notesMasters/notesMaster1.xml" Id="Rcf4edd88dd7b46b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5b3372c435a414c" /><Relationship Type="http://schemas.openxmlformats.org/officeDocument/2006/relationships/notesMaster" Target="/ppt/notesMasters/notesMaster1.xml" Id="R82bab76e24574bb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Live product: https://owlsowo.github.io/finly-bot/</a:t>
            </a:r>
          </a:p>
          <a:p xmlns:a="http://schemas.openxmlformats.org/drawingml/2006/main">
            <a:r>
              <a:t>- Historical series: https://owlsowo.github.io/finly-bot/data/g4_wealth_drawdown.json</a:t>
            </a:r>
          </a:p>
          <a:p xmlns:a="http://schemas.openxmlformats.org/drawingml/2006/main">
            <a:r>
              <a:t>- Sanitized paper account: https://owlsowo.github.io/finly-bot/data/competition_live.json</a:t>
            </a:r>
          </a:p>
          <a:p xmlns:a="http://schemas.openxmlformats.org/drawingml/2006/main">
            <a:r>
              <a:t>- Product screenshot and bull-horn mark are project-owned.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Decision trace: https://owlsowo.github.io/finly-bot/data/llama_decision_trace.json</a:t>
            </a:r>
          </a:p>
          <a:p xmlns:a="http://schemas.openxmlformats.org/drawingml/2006/main">
            <a:r>
              <a:t>- Positive decision receipt: https://owlsowo.github.io/finly-bot/data/latest_receipt.json</a:t>
            </a:r>
          </a:p>
          <a:p xmlns:a="http://schemas.openxmlformats.org/drawingml/2006/main">
            <a:r>
              <a:t>- Conflict receipt: https://owlsowo.github.io/finly-bot/data/no_trade_receipt.json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Interactive product: https://owlsowo.github.io/finly-bot/#demo</a:t>
            </a:r>
          </a:p>
          <a:p xmlns:a="http://schemas.openxmlformats.org/drawingml/2006/main">
            <a:r>
              <a:t>- Model trace: https://owlsowo.github.io/finly-bot/data/llama_decision_trace.json</a:t>
            </a:r>
          </a:p>
          <a:p xmlns:a="http://schemas.openxmlformats.org/drawingml/2006/main">
            <a:r>
              <a:t>- Compiled order receipt: https://owlsowo.github.io/finly-bot/data/latest_receipt.json</a:t>
            </a:r>
          </a:p>
          <a:p xmlns:a="http://schemas.openxmlformats.org/drawingml/2006/main">
            <a:r>
              <a:t>- Screenshot is project-owned.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Historical wealth and drawdown series: https://owlsowo.github.io/finly-bot/data/g4_wealth_drawdown.json</a:t>
            </a:r>
          </a:p>
          <a:p xmlns:a="http://schemas.openxmlformats.org/drawingml/2006/main">
            <a:r>
              <a:t>- Quantitative claim boundary: https://owlsowo.github.io/finly-bot/data/quantitative_release_gate.json</a:t>
            </a:r>
          </a:p>
          <a:p xmlns:a="http://schemas.openxmlformats.org/drawingml/2006/main">
            <a:r>
              <a:t>- Historical simulation with modeled 5 bp one-way costs; not broker P&amp;L or a forecast.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External-era evidence: https://owlsowo.github.io/finly-bot/data/attempt150_public_evidence.json</a:t>
            </a:r>
          </a:p>
          <a:p xmlns:a="http://schemas.openxmlformats.org/drawingml/2006/main">
            <a:r>
              <a:t>- Kenneth French 10 Industry Portfolios: https://mba.tuck.dartmouth.edu/pages/faculty/ken.french/ftp/10_Industry_Portfolios_daily_CSV.zip</a:t>
            </a:r>
          </a:p>
          <a:p xmlns:a="http://schemas.openxmlformats.org/drawingml/2006/main">
            <a:r>
              <a:t>- Evidence record: 21218 observations, 21/21 positive anchors.</a:t>
            </a:r>
          </a:p>
          <a:p xmlns:a="http://schemas.openxmlformats.org/drawingml/2006/main">
            <a:r>
              <a:t>- Industry-proxy historical stress test; separate from live broker performance.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Positive options receipt: https://owlsowo.github.io/finly-bot/data/latest_receipt.json</a:t>
            </a:r>
          </a:p>
          <a:p xmlns:a="http://schemas.openxmlformats.org/drawingml/2006/main">
            <a:r>
              <a:t>- Conflict receipt: https://owlsowo.github.io/finly-bot/data/no_trade_receipt.json</a:t>
            </a:r>
          </a:p>
          <a:p xmlns:a="http://schemas.openxmlformats.org/drawingml/2006/main">
            <a:r>
              <a:t>- Receipt: SPY260911P00560000 / SPY260911P00550000, $3.66 debit.</a:t>
            </a:r>
          </a:p>
          <a:p xmlns:a="http://schemas.openxmlformats.org/drawingml/2006/main">
            <a:r>
              <a:t>- The checked options fixture is synthetic paper-trading evidence, not realized options P&amp;L.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Sanitized live account: https://owlsowo.github.io/finly-bot/data/competition_live.json</a:t>
            </a:r>
          </a:p>
          <a:p xmlns:a="http://schemas.openxmlformats.org/drawingml/2006/main">
            <a:r>
              <a:t>- Public live dashboard: https://owlsowo.github.io/finly-bot/#live</a:t>
            </a:r>
          </a:p>
          <a:p xmlns:a="http://schemas.openxmlformats.org/drawingml/2006/main">
            <a:r>
              <a:t>- Human-frozen competition protocol: https://github.com/owlsowo/finly-bot/blob/main/config/g4-official-production.json</a:t>
            </a:r>
          </a:p>
          <a:p xmlns:a="http://schemas.openxmlformats.org/drawingml/2006/main">
            <a:r>
              <a:t>- Forward-score contract: https://github.com/owlsowo/finly-bot/blob/main/config/competition-forward-profit.json</a:t>
            </a:r>
          </a:p>
          <a:p xmlns:a="http://schemas.openxmlformats.org/drawingml/2006/main">
            <a:r>
              <a:t>- Verified starting equity: $100,000; per-trade risk ceiling: $500.</a:t>
            </a:r>
          </a:p>
          <a:p xmlns:a="http://schemas.openxmlformats.org/drawingml/2006/main">
            <a:r>
              <a:t>- Screenshot is project-owned and records paper-account state.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Cloud runner: https://github.com/owlsowo/finly-bot/blob/main/docs/CLOUD_RUNNER.md</a:t>
            </a:r>
          </a:p>
          <a:p xmlns:a="http://schemas.openxmlformats.org/drawingml/2006/main">
            <a:r>
              <a:t>- Conflict receipt: https://owlsowo.github.io/finly-bot/data/no_trade_receipt.json</a:t>
            </a:r>
          </a:p>
          <a:p xmlns:a="http://schemas.openxmlformats.org/drawingml/2006/main">
            <a:r>
              <a:t>- Verified automated run: https://github.com/owlsowo/finly-bot/actions/runs/33369848292</a:t>
            </a:r>
          </a:p>
          <a:p xmlns:a="http://schemas.openxmlformats.org/drawingml/2006/main">
            <a:r>
              <a:t>- Public repository: https://github.com/owlsowo/finly-bot</a:t>
            </a:r>
          </a:p>
          <a:p xmlns:a="http://schemas.openxmlformats.org/drawingml/2006/main">
            <a:r>
              <a:t>- Screenshot is project-owned.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Live product: https://owlsowo.github.io/finly-bot/</a:t>
            </a:r>
          </a:p>
          <a:p xmlns:a="http://schemas.openxmlformats.org/drawingml/2006/main">
            <a:r>
              <a:t>- Repository: https://github.com/owlsowo/finly-bot</a:t>
            </a:r>
          </a:p>
          <a:p xmlns:a="http://schemas.openxmlformats.org/drawingml/2006/main">
            <a:r>
              <a:t>- Contact: mailto:bwen412@brandeis.edu</a:t>
            </a:r>
          </a:p>
          <a:p xmlns:a="http://schemas.openxmlformats.org/drawingml/2006/main">
            <a:r>
              <a:t>- QR encodes the live product URL and was generated by quickchart.io.</a:t>
            </a:r>
          </a:p>
          <a:p xmlns:a="http://schemas.openxmlformats.org/drawingml/2006/main">
            <a:r>
              <a:t>- Historical simulations and live paper-account results are labeled separately.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e21ddfd49e54d4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1d6a2bffd7e4079" /><Relationship Type="http://schemas.openxmlformats.org/officeDocument/2006/relationships/slideLayout" Target="/ppt/slideLayouts/slideLayout1.xml" Id="Ra40cf526e6974f4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40cf526e6974f4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dbd255e663405b" /><Relationship Type="http://schemas.openxmlformats.org/officeDocument/2006/relationships/image" Target="/ppt/media/image.png" Id="Ra885f96337934cb3" /><Relationship Type="http://schemas.openxmlformats.org/officeDocument/2006/relationships/image" Target="/ppt/media/image.svg" Id="Rcb28f9617a904bdb" /><Relationship Type="http://schemas.openxmlformats.org/officeDocument/2006/relationships/image" Target="/ppt/media/image2.png" Id="R30ce646019104eae" /><Relationship Type="http://schemas.openxmlformats.org/officeDocument/2006/relationships/notesSlide" Target="/ppt/notesSlides/notesSlide1.xml" Id="Rde18a8536f014ff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5bef3af8994ebe" /><Relationship Type="http://schemas.openxmlformats.org/officeDocument/2006/relationships/notesSlide" Target="/ppt/notesSlides/notesSlide2.xml" Id="Rbbbeb817baf647c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14fae836c1467d" /><Relationship Type="http://schemas.openxmlformats.org/officeDocument/2006/relationships/image" Target="/ppt/media/image.jpeg" Id="Rddb4a12f75e54f7d" /><Relationship Type="http://schemas.openxmlformats.org/officeDocument/2006/relationships/notesSlide" Target="/ppt/notesSlides/notesSlide3.xml" Id="Rcaedc0572b3242a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14da2cc6ab475f" /><Relationship Type="http://schemas.openxmlformats.org/officeDocument/2006/relationships/chart" Target="/ppt/slides/charts/chart1.xml" Id="R2b4f1b37f0214eb4" /><Relationship Type="http://schemas.openxmlformats.org/officeDocument/2006/relationships/chart" Target="/ppt/slides/charts/chart2.xml" Id="Rfd8058deaa9941cd" /><Relationship Type="http://schemas.openxmlformats.org/officeDocument/2006/relationships/notesSlide" Target="/ppt/notesSlides/notesSlide4.xml" Id="R0253470fabbd48b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55cc45cd9044b2" /><Relationship Type="http://schemas.openxmlformats.org/officeDocument/2006/relationships/notesSlide" Target="/ppt/notesSlides/notesSlide5.xml" Id="Re94023d7a8fd487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f5648b6b47494c" /><Relationship Type="http://schemas.openxmlformats.org/officeDocument/2006/relationships/chart" Target="/ppt/slides/charts/chart3.xml" Id="R7f6b2a1029444f31" /><Relationship Type="http://schemas.openxmlformats.org/officeDocument/2006/relationships/notesSlide" Target="/ppt/notesSlides/notesSlide6.xml" Id="R18545257a2834ce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359a6679534b2b" /><Relationship Type="http://schemas.openxmlformats.org/officeDocument/2006/relationships/image" Target="/ppt/media/image3.png" Id="Ree82b2f397624c71" /><Relationship Type="http://schemas.openxmlformats.org/officeDocument/2006/relationships/notesSlide" Target="/ppt/notesSlides/notesSlide7.xml" Id="Re8b29c84aebc49a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bf52aedf6840d9" /><Relationship Type="http://schemas.openxmlformats.org/officeDocument/2006/relationships/image" Target="/ppt/media/image2.jpeg" Id="R4c17f49c35064948" /><Relationship Type="http://schemas.openxmlformats.org/officeDocument/2006/relationships/notesSlide" Target="/ppt/notesSlides/notesSlide8.xml" Id="Raa41d601ccf24f1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f1d8932fdc438a" /><Relationship Type="http://schemas.openxmlformats.org/officeDocument/2006/relationships/image" Target="/ppt/media/image4.png" Id="Rf6b51087ea5d4713" /><Relationship Type="http://schemas.openxmlformats.org/officeDocument/2006/relationships/notesSlide" Target="/ppt/notesSlides/notesSlide9.xml" Id="Ra43cfa2776fb4c99" /></Relationships>
</file>

<file path=ppt/slides/charts/chart1.xml><?xml version="1.0" encoding="utf-8"?>
<c:chartSpace xmlns:c="http://schemas.openxmlformats.org/drawingml/2006/chart">
  <c:lang val="en-US"/>
  <c:chart>
    <c:plotArea>
      <c:lineChart>
        <c:grouping val="standard"/>
        <c:ser>
          <c:idx val="0"/>
          <c:order val="0"/>
          <c:tx>
            <c:v>Finly G4</c:v>
          </c:tx>
          <c:spPr>
            <a:ln xmlns:a="http://schemas.openxmlformats.org/drawingml/2006/main" w="38100">
              <a:solidFill>
                <a:srgbClr val="2F7D68"/>
              </a:solidFill>
              <a:prstDash val="solid"/>
            </a:ln>
          </c:spPr>
          <c:marker>
            <c:symbol val="none"/>
          </c:marker>
          <c:cat>
            <c:strLit>
              <c:ptCount val="70"/>
              <c:pt idx="0">
                <c:v>2013-01-02</c:v>
              </c:pt>
              <c:pt idx="1">
                <c:v>2013-03-15</c:v>
              </c:pt>
              <c:pt idx="2">
                <c:v>2013-05-28</c:v>
              </c:pt>
              <c:pt idx="3">
                <c:v>2013-08-07</c:v>
              </c:pt>
              <c:pt idx="4">
                <c:v>2013-10-17</c:v>
              </c:pt>
              <c:pt idx="5">
                <c:v>2013-12-30</c:v>
              </c:pt>
              <c:pt idx="6">
                <c:v>2014-03-13</c:v>
              </c:pt>
              <c:pt idx="7">
                <c:v>2014-05-23</c:v>
              </c:pt>
              <c:pt idx="8">
                <c:v>2014-08-05</c:v>
              </c:pt>
              <c:pt idx="9">
                <c:v>2014-10-15</c:v>
              </c:pt>
              <c:pt idx="10">
                <c:v>2014-12-26</c:v>
              </c:pt>
              <c:pt idx="11">
                <c:v>2015-03-11</c:v>
              </c:pt>
              <c:pt idx="12">
                <c:v>2015-05-21</c:v>
              </c:pt>
              <c:pt idx="13">
                <c:v>2015-08-03</c:v>
              </c:pt>
              <c:pt idx="14">
                <c:v>2015-10-13</c:v>
              </c:pt>
              <c:pt idx="15">
                <c:v>2015-12-23</c:v>
              </c:pt>
              <c:pt idx="16">
                <c:v>2016-03-08</c:v>
              </c:pt>
              <c:pt idx="17">
                <c:v>2016-05-18</c:v>
              </c:pt>
              <c:pt idx="18">
                <c:v>2016-07-29</c:v>
              </c:pt>
              <c:pt idx="19">
                <c:v>2016-10-10</c:v>
              </c:pt>
              <c:pt idx="20">
                <c:v>2016-12-20</c:v>
              </c:pt>
              <c:pt idx="21">
                <c:v>2017-03-06</c:v>
              </c:pt>
              <c:pt idx="22">
                <c:v>2017-05-16</c:v>
              </c:pt>
              <c:pt idx="23">
                <c:v>2017-07-27</c:v>
              </c:pt>
              <c:pt idx="24">
                <c:v>2017-10-06</c:v>
              </c:pt>
              <c:pt idx="25">
                <c:v>2017-12-18</c:v>
              </c:pt>
              <c:pt idx="26">
                <c:v>2018-03-02</c:v>
              </c:pt>
              <c:pt idx="27">
                <c:v>2018-05-14</c:v>
              </c:pt>
              <c:pt idx="28">
                <c:v>2018-07-25</c:v>
              </c:pt>
              <c:pt idx="29">
                <c:v>2018-10-04</c:v>
              </c:pt>
              <c:pt idx="30">
                <c:v>2018-12-17</c:v>
              </c:pt>
              <c:pt idx="31">
                <c:v>2019-03-01</c:v>
              </c:pt>
              <c:pt idx="32">
                <c:v>2019-05-13</c:v>
              </c:pt>
              <c:pt idx="33">
                <c:v>2019-07-24</c:v>
              </c:pt>
              <c:pt idx="34">
                <c:v>2019-10-03</c:v>
              </c:pt>
              <c:pt idx="35">
                <c:v>2019-12-13</c:v>
              </c:pt>
              <c:pt idx="36">
                <c:v>2020-02-27</c:v>
              </c:pt>
              <c:pt idx="37">
                <c:v>2020-05-08</c:v>
              </c:pt>
              <c:pt idx="38">
                <c:v>2020-07-21</c:v>
              </c:pt>
              <c:pt idx="39">
                <c:v>2020-09-30</c:v>
              </c:pt>
              <c:pt idx="40">
                <c:v>2020-12-10</c:v>
              </c:pt>
              <c:pt idx="41">
                <c:v>2021-02-24</c:v>
              </c:pt>
              <c:pt idx="42">
                <c:v>2021-05-06</c:v>
              </c:pt>
              <c:pt idx="43">
                <c:v>2021-07-19</c:v>
              </c:pt>
              <c:pt idx="44">
                <c:v>2021-09-28</c:v>
              </c:pt>
              <c:pt idx="45">
                <c:v>2021-12-08</c:v>
              </c:pt>
              <c:pt idx="46">
                <c:v>2022-02-18</c:v>
              </c:pt>
              <c:pt idx="47">
                <c:v>2022-05-03</c:v>
              </c:pt>
              <c:pt idx="48">
                <c:v>2022-07-15</c:v>
              </c:pt>
              <c:pt idx="49">
                <c:v>2022-09-26</c:v>
              </c:pt>
              <c:pt idx="50">
                <c:v>2022-12-06</c:v>
              </c:pt>
              <c:pt idx="51">
                <c:v>2023-02-17</c:v>
              </c:pt>
              <c:pt idx="52">
                <c:v>2023-05-02</c:v>
              </c:pt>
              <c:pt idx="53">
                <c:v>2023-07-14</c:v>
              </c:pt>
              <c:pt idx="54">
                <c:v>2023-09-25</c:v>
              </c:pt>
              <c:pt idx="55">
                <c:v>2023-12-05</c:v>
              </c:pt>
              <c:pt idx="56">
                <c:v>2024-02-16</c:v>
              </c:pt>
              <c:pt idx="57">
                <c:v>2024-04-30</c:v>
              </c:pt>
              <c:pt idx="58">
                <c:v>2024-07-12</c:v>
              </c:pt>
              <c:pt idx="59">
                <c:v>2024-09-23</c:v>
              </c:pt>
              <c:pt idx="60">
                <c:v>2024-12-03</c:v>
              </c:pt>
              <c:pt idx="61">
                <c:v>2025-02-18</c:v>
              </c:pt>
              <c:pt idx="62">
                <c:v>2025-04-30</c:v>
              </c:pt>
              <c:pt idx="63">
                <c:v>2025-07-14</c:v>
              </c:pt>
              <c:pt idx="64">
                <c:v>2025-09-23</c:v>
              </c:pt>
              <c:pt idx="65">
                <c:v>2025-12-03</c:v>
              </c:pt>
              <c:pt idx="66">
                <c:v>2026-02-17</c:v>
              </c:pt>
              <c:pt idx="67">
                <c:v>2026-04-29</c:v>
              </c:pt>
              <c:pt idx="68">
                <c:v>2026-07-13</c:v>
              </c:pt>
              <c:pt idx="69">
                <c:v>2026-08-27</c:v>
              </c:pt>
            </c:strLit>
          </c:cat>
          <c:val>
            <c:numLit>
              <c:formatCode>$#,##0</c:formatCode>
              <c:ptCount val="70"/>
              <c:pt idx="0">
                <c:v>10288</c:v>
              </c:pt>
              <c:pt idx="1">
                <c:v>10739</c:v>
              </c:pt>
              <c:pt idx="2">
                <c:v>11526</c:v>
              </c:pt>
              <c:pt idx="3">
                <c:v>11889</c:v>
              </c:pt>
              <c:pt idx="4">
                <c:v>12514</c:v>
              </c:pt>
              <c:pt idx="5">
                <c:v>13355</c:v>
              </c:pt>
              <c:pt idx="6">
                <c:v>13659</c:v>
              </c:pt>
              <c:pt idx="7">
                <c:v>13830</c:v>
              </c:pt>
              <c:pt idx="8">
                <c:v>14211</c:v>
              </c:pt>
              <c:pt idx="9">
                <c:v>13885</c:v>
              </c:pt>
              <c:pt idx="10">
                <c:v>15896</c:v>
              </c:pt>
              <c:pt idx="11">
                <c:v>15917</c:v>
              </c:pt>
              <c:pt idx="12">
                <c:v>16845</c:v>
              </c:pt>
              <c:pt idx="13">
                <c:v>17137</c:v>
              </c:pt>
              <c:pt idx="14">
                <c:v>16353</c:v>
              </c:pt>
              <c:pt idx="15">
                <c:v>17109</c:v>
              </c:pt>
              <c:pt idx="16">
                <c:v>16170</c:v>
              </c:pt>
              <c:pt idx="17">
                <c:v>16498</c:v>
              </c:pt>
              <c:pt idx="18">
                <c:v>17744</c:v>
              </c:pt>
              <c:pt idx="19">
                <c:v>17769</c:v>
              </c:pt>
              <c:pt idx="20">
                <c:v>18234</c:v>
              </c:pt>
              <c:pt idx="21">
                <c:v>19148</c:v>
              </c:pt>
              <c:pt idx="22">
                <c:v>19699</c:v>
              </c:pt>
              <c:pt idx="23">
                <c:v>20198</c:v>
              </c:pt>
              <c:pt idx="24">
                <c:v>20790</c:v>
              </c:pt>
              <c:pt idx="25">
                <c:v>22268</c:v>
              </c:pt>
              <c:pt idx="26">
                <c:v>22817</c:v>
              </c:pt>
              <c:pt idx="27">
                <c:v>23411</c:v>
              </c:pt>
              <c:pt idx="28">
                <c:v>24609</c:v>
              </c:pt>
              <c:pt idx="29">
                <c:v>24698</c:v>
              </c:pt>
              <c:pt idx="30">
                <c:v>21265</c:v>
              </c:pt>
              <c:pt idx="31">
                <c:v>23784</c:v>
              </c:pt>
              <c:pt idx="32">
                <c:v>24688</c:v>
              </c:pt>
              <c:pt idx="33">
                <c:v>26502</c:v>
              </c:pt>
              <c:pt idx="34">
                <c:v>26158</c:v>
              </c:pt>
              <c:pt idx="35">
                <c:v>28309</c:v>
              </c:pt>
              <c:pt idx="36">
                <c:v>27807</c:v>
              </c:pt>
              <c:pt idx="37">
                <c:v>28920</c:v>
              </c:pt>
              <c:pt idx="38">
                <c:v>32733</c:v>
              </c:pt>
              <c:pt idx="39">
                <c:v>33901</c:v>
              </c:pt>
              <c:pt idx="40">
                <c:v>36522</c:v>
              </c:pt>
              <c:pt idx="41">
                <c:v>38925</c:v>
              </c:pt>
              <c:pt idx="42">
                <c:v>40816</c:v>
              </c:pt>
              <c:pt idx="43">
                <c:v>41474</c:v>
              </c:pt>
              <c:pt idx="44">
                <c:v>43575</c:v>
              </c:pt>
              <c:pt idx="45">
                <c:v>47241</c:v>
              </c:pt>
              <c:pt idx="46">
                <c:v>45003</c:v>
              </c:pt>
              <c:pt idx="47">
                <c:v>44079</c:v>
              </c:pt>
              <c:pt idx="48">
                <c:v>41770</c:v>
              </c:pt>
              <c:pt idx="49">
                <c:v>41642</c:v>
              </c:pt>
              <c:pt idx="50">
                <c:v>44593</c:v>
              </c:pt>
              <c:pt idx="51">
                <c:v>45887</c:v>
              </c:pt>
              <c:pt idx="52">
                <c:v>47153</c:v>
              </c:pt>
              <c:pt idx="53">
                <c:v>52437</c:v>
              </c:pt>
              <c:pt idx="54">
                <c:v>51363</c:v>
              </c:pt>
              <c:pt idx="55">
                <c:v>54161</c:v>
              </c:pt>
              <c:pt idx="56">
                <c:v>59507</c:v>
              </c:pt>
              <c:pt idx="57">
                <c:v>59856</c:v>
              </c:pt>
              <c:pt idx="58">
                <c:v>67431</c:v>
              </c:pt>
              <c:pt idx="59">
                <c:v>69737</c:v>
              </c:pt>
              <c:pt idx="60">
                <c:v>74965</c:v>
              </c:pt>
              <c:pt idx="61">
                <c:v>76998</c:v>
              </c:pt>
              <c:pt idx="62">
                <c:v>70629</c:v>
              </c:pt>
              <c:pt idx="63">
                <c:v>79543</c:v>
              </c:pt>
              <c:pt idx="64">
                <c:v>84910</c:v>
              </c:pt>
              <c:pt idx="65">
                <c:v>86155</c:v>
              </c:pt>
              <c:pt idx="66">
                <c:v>89189</c:v>
              </c:pt>
              <c:pt idx="67">
                <c:v>96162</c:v>
              </c:pt>
              <c:pt idx="68">
                <c:v>103465</c:v>
              </c:pt>
              <c:pt idx="69">
                <c:v>106711</c:v>
              </c:pt>
            </c:numLit>
          </c:val>
        </c:ser>
        <c:ser>
          <c:idx val="1"/>
          <c:order val="1"/>
          <c:tx>
            <c:v>SPY</c:v>
          </c:tx>
          <c:spPr>
            <a:ln xmlns:a="http://schemas.openxmlformats.org/drawingml/2006/main" w="28575">
              <a:solidFill>
                <a:srgbClr val="0B2942"/>
              </a:solidFill>
              <a:prstDash val="dash"/>
            </a:ln>
          </c:spPr>
          <c:marker>
            <c:symbol val="none"/>
          </c:marker>
          <c:cat>
            <c:strLit>
              <c:ptCount val="70"/>
              <c:pt idx="0">
                <c:v>2013-01-02</c:v>
              </c:pt>
              <c:pt idx="1">
                <c:v>2013-03-15</c:v>
              </c:pt>
              <c:pt idx="2">
                <c:v>2013-05-28</c:v>
              </c:pt>
              <c:pt idx="3">
                <c:v>2013-08-07</c:v>
              </c:pt>
              <c:pt idx="4">
                <c:v>2013-10-17</c:v>
              </c:pt>
              <c:pt idx="5">
                <c:v>2013-12-30</c:v>
              </c:pt>
              <c:pt idx="6">
                <c:v>2014-03-13</c:v>
              </c:pt>
              <c:pt idx="7">
                <c:v>2014-05-23</c:v>
              </c:pt>
              <c:pt idx="8">
                <c:v>2014-08-05</c:v>
              </c:pt>
              <c:pt idx="9">
                <c:v>2014-10-15</c:v>
              </c:pt>
              <c:pt idx="10">
                <c:v>2014-12-26</c:v>
              </c:pt>
              <c:pt idx="11">
                <c:v>2015-03-11</c:v>
              </c:pt>
              <c:pt idx="12">
                <c:v>2015-05-21</c:v>
              </c:pt>
              <c:pt idx="13">
                <c:v>2015-08-03</c:v>
              </c:pt>
              <c:pt idx="14">
                <c:v>2015-10-13</c:v>
              </c:pt>
              <c:pt idx="15">
                <c:v>2015-12-23</c:v>
              </c:pt>
              <c:pt idx="16">
                <c:v>2016-03-08</c:v>
              </c:pt>
              <c:pt idx="17">
                <c:v>2016-05-18</c:v>
              </c:pt>
              <c:pt idx="18">
                <c:v>2016-07-29</c:v>
              </c:pt>
              <c:pt idx="19">
                <c:v>2016-10-10</c:v>
              </c:pt>
              <c:pt idx="20">
                <c:v>2016-12-20</c:v>
              </c:pt>
              <c:pt idx="21">
                <c:v>2017-03-06</c:v>
              </c:pt>
              <c:pt idx="22">
                <c:v>2017-05-16</c:v>
              </c:pt>
              <c:pt idx="23">
                <c:v>2017-07-27</c:v>
              </c:pt>
              <c:pt idx="24">
                <c:v>2017-10-06</c:v>
              </c:pt>
              <c:pt idx="25">
                <c:v>2017-12-18</c:v>
              </c:pt>
              <c:pt idx="26">
                <c:v>2018-03-02</c:v>
              </c:pt>
              <c:pt idx="27">
                <c:v>2018-05-14</c:v>
              </c:pt>
              <c:pt idx="28">
                <c:v>2018-07-25</c:v>
              </c:pt>
              <c:pt idx="29">
                <c:v>2018-10-04</c:v>
              </c:pt>
              <c:pt idx="30">
                <c:v>2018-12-17</c:v>
              </c:pt>
              <c:pt idx="31">
                <c:v>2019-03-01</c:v>
              </c:pt>
              <c:pt idx="32">
                <c:v>2019-05-13</c:v>
              </c:pt>
              <c:pt idx="33">
                <c:v>2019-07-24</c:v>
              </c:pt>
              <c:pt idx="34">
                <c:v>2019-10-03</c:v>
              </c:pt>
              <c:pt idx="35">
                <c:v>2019-12-13</c:v>
              </c:pt>
              <c:pt idx="36">
                <c:v>2020-02-27</c:v>
              </c:pt>
              <c:pt idx="37">
                <c:v>2020-05-08</c:v>
              </c:pt>
              <c:pt idx="38">
                <c:v>2020-07-21</c:v>
              </c:pt>
              <c:pt idx="39">
                <c:v>2020-09-30</c:v>
              </c:pt>
              <c:pt idx="40">
                <c:v>2020-12-10</c:v>
              </c:pt>
              <c:pt idx="41">
                <c:v>2021-02-24</c:v>
              </c:pt>
              <c:pt idx="42">
                <c:v>2021-05-06</c:v>
              </c:pt>
              <c:pt idx="43">
                <c:v>2021-07-19</c:v>
              </c:pt>
              <c:pt idx="44">
                <c:v>2021-09-28</c:v>
              </c:pt>
              <c:pt idx="45">
                <c:v>2021-12-08</c:v>
              </c:pt>
              <c:pt idx="46">
                <c:v>2022-02-18</c:v>
              </c:pt>
              <c:pt idx="47">
                <c:v>2022-05-03</c:v>
              </c:pt>
              <c:pt idx="48">
                <c:v>2022-07-15</c:v>
              </c:pt>
              <c:pt idx="49">
                <c:v>2022-09-26</c:v>
              </c:pt>
              <c:pt idx="50">
                <c:v>2022-12-06</c:v>
              </c:pt>
              <c:pt idx="51">
                <c:v>2023-02-17</c:v>
              </c:pt>
              <c:pt idx="52">
                <c:v>2023-05-02</c:v>
              </c:pt>
              <c:pt idx="53">
                <c:v>2023-07-14</c:v>
              </c:pt>
              <c:pt idx="54">
                <c:v>2023-09-25</c:v>
              </c:pt>
              <c:pt idx="55">
                <c:v>2023-12-05</c:v>
              </c:pt>
              <c:pt idx="56">
                <c:v>2024-02-16</c:v>
              </c:pt>
              <c:pt idx="57">
                <c:v>2024-04-30</c:v>
              </c:pt>
              <c:pt idx="58">
                <c:v>2024-07-12</c:v>
              </c:pt>
              <c:pt idx="59">
                <c:v>2024-09-23</c:v>
              </c:pt>
              <c:pt idx="60">
                <c:v>2024-12-03</c:v>
              </c:pt>
              <c:pt idx="61">
                <c:v>2025-02-18</c:v>
              </c:pt>
              <c:pt idx="62">
                <c:v>2025-04-30</c:v>
              </c:pt>
              <c:pt idx="63">
                <c:v>2025-07-14</c:v>
              </c:pt>
              <c:pt idx="64">
                <c:v>2025-09-23</c:v>
              </c:pt>
              <c:pt idx="65">
                <c:v>2025-12-03</c:v>
              </c:pt>
              <c:pt idx="66">
                <c:v>2026-02-17</c:v>
              </c:pt>
              <c:pt idx="67">
                <c:v>2026-04-29</c:v>
              </c:pt>
              <c:pt idx="68">
                <c:v>2026-07-13</c:v>
              </c:pt>
              <c:pt idx="69">
                <c:v>2026-08-27</c:v>
              </c:pt>
            </c:strLit>
          </c:cat>
          <c:val>
            <c:numLit>
              <c:formatCode>$#,##0</c:formatCode>
              <c:ptCount val="70"/>
              <c:pt idx="0">
                <c:v>10246</c:v>
              </c:pt>
              <c:pt idx="1">
                <c:v>10980</c:v>
              </c:pt>
              <c:pt idx="2">
                <c:v>11718</c:v>
              </c:pt>
              <c:pt idx="3">
                <c:v>11984</c:v>
              </c:pt>
              <c:pt idx="4">
                <c:v>12330</c:v>
              </c:pt>
              <c:pt idx="5">
                <c:v>13156</c:v>
              </c:pt>
              <c:pt idx="6">
                <c:v>13253</c:v>
              </c:pt>
              <c:pt idx="7">
                <c:v>13683</c:v>
              </c:pt>
              <c:pt idx="8">
                <c:v>13869</c:v>
              </c:pt>
              <c:pt idx="9">
                <c:v>13528</c:v>
              </c:pt>
              <c:pt idx="10">
                <c:v>15209</c:v>
              </c:pt>
              <c:pt idx="11">
                <c:v>14922</c:v>
              </c:pt>
              <c:pt idx="12">
                <c:v>15648</c:v>
              </c:pt>
              <c:pt idx="13">
                <c:v>15451</c:v>
              </c:pt>
              <c:pt idx="14">
                <c:v>14825</c:v>
              </c:pt>
              <c:pt idx="15">
                <c:v>15343</c:v>
              </c:pt>
              <c:pt idx="16">
                <c:v>14775</c:v>
              </c:pt>
              <c:pt idx="17">
                <c:v>15339</c:v>
              </c:pt>
              <c:pt idx="18">
                <c:v>16337</c:v>
              </c:pt>
              <c:pt idx="19">
                <c:v>16347</c:v>
              </c:pt>
              <c:pt idx="20">
                <c:v>17223</c:v>
              </c:pt>
              <c:pt idx="21">
                <c:v>18083</c:v>
              </c:pt>
              <c:pt idx="22">
                <c:v>18343</c:v>
              </c:pt>
              <c:pt idx="23">
                <c:v>18979</c:v>
              </c:pt>
              <c:pt idx="24">
                <c:v>19626</c:v>
              </c:pt>
              <c:pt idx="25">
                <c:v>20799</c:v>
              </c:pt>
              <c:pt idx="26">
                <c:v>20867</c:v>
              </c:pt>
              <c:pt idx="27">
                <c:v>21254</c:v>
              </c:pt>
              <c:pt idx="28">
                <c:v>22213</c:v>
              </c:pt>
              <c:pt idx="29">
                <c:v>22740</c:v>
              </c:pt>
              <c:pt idx="30">
                <c:v>20062</c:v>
              </c:pt>
              <c:pt idx="31">
                <c:v>22160</c:v>
              </c:pt>
              <c:pt idx="32">
                <c:v>22292</c:v>
              </c:pt>
              <c:pt idx="33">
                <c:v>24042</c:v>
              </c:pt>
              <c:pt idx="34">
                <c:v>23270</c:v>
              </c:pt>
              <c:pt idx="35">
                <c:v>25425</c:v>
              </c:pt>
              <c:pt idx="36">
                <c:v>23955</c:v>
              </c:pt>
              <c:pt idx="37">
                <c:v>23686</c:v>
              </c:pt>
              <c:pt idx="38">
                <c:v>26439</c:v>
              </c:pt>
              <c:pt idx="39">
                <c:v>27352</c:v>
              </c:pt>
              <c:pt idx="40">
                <c:v>29953</c:v>
              </c:pt>
              <c:pt idx="41">
                <c:v>32134</c:v>
              </c:pt>
              <c:pt idx="42">
                <c:v>34486</c:v>
              </c:pt>
              <c:pt idx="43">
                <c:v>35086</c:v>
              </c:pt>
              <c:pt idx="44">
                <c:v>35923</c:v>
              </c:pt>
              <c:pt idx="45">
                <c:v>38888</c:v>
              </c:pt>
              <c:pt idx="46">
                <c:v>36092</c:v>
              </c:pt>
              <c:pt idx="47">
                <c:v>34716</c:v>
              </c:pt>
              <c:pt idx="48">
                <c:v>32249</c:v>
              </c:pt>
              <c:pt idx="49">
                <c:v>30631</c:v>
              </c:pt>
              <c:pt idx="50">
                <c:v>33113</c:v>
              </c:pt>
              <c:pt idx="51">
                <c:v>34399</c:v>
              </c:pt>
              <c:pt idx="52">
                <c:v>34834</c:v>
              </c:pt>
              <c:pt idx="53">
                <c:v>38235</c:v>
              </c:pt>
              <c:pt idx="54">
                <c:v>36914</c:v>
              </c:pt>
              <c:pt idx="55">
                <c:v>38995</c:v>
              </c:pt>
              <c:pt idx="56">
                <c:v>42832</c:v>
              </c:pt>
              <c:pt idx="57">
                <c:v>43178</c:v>
              </c:pt>
              <c:pt idx="58">
                <c:v>48323</c:v>
              </c:pt>
              <c:pt idx="59">
                <c:v>49309</c:v>
              </c:pt>
              <c:pt idx="60">
                <c:v>52273</c:v>
              </c:pt>
              <c:pt idx="61">
                <c:v>53107</c:v>
              </c:pt>
              <c:pt idx="62">
                <c:v>48306</c:v>
              </c:pt>
              <c:pt idx="63">
                <c:v>54588</c:v>
              </c:pt>
              <c:pt idx="64">
                <c:v>58104</c:v>
              </c:pt>
              <c:pt idx="65">
                <c:v>59915</c:v>
              </c:pt>
              <c:pt idx="66">
                <c:v>60001</c:v>
              </c:pt>
              <c:pt idx="67">
                <c:v>62696</c:v>
              </c:pt>
              <c:pt idx="68">
                <c:v>66178</c:v>
              </c:pt>
              <c:pt idx="69">
                <c:v>68082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200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FE6E1"/>
              </a:solidFill>
              <a:prstDash val="solid"/>
            </a:ln>
          </c:spPr>
        </c:majorGridlines>
        <c:numFmt formatCode="$#,##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27078"/>
                </a:solidFill>
              </a:defRPr>
            </a:pPr>
          </a:p>
        </c:txPr>
        <c:crossAx val="48650112"/>
        <c:crossBetween val="between"/>
        <c:majorUnit val="30000"/>
      </c:valAx>
      <c:spPr>
        <a:solidFill xmlns:a="http://schemas.openxmlformats.org/drawingml/2006/main">
          <a:srgbClr val="FFFCF6"/>
        </a:solidFill>
        <a:ln xmlns:a="http://schemas.openxmlformats.org/drawingml/2006/main" w="0">
          <a:noFill/>
          <a:prstDash val="solid"/>
        </a:ln>
      </c:spPr>
    </c:plotArea>
    <c:legend>
      <c:legendPos val="t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200" b="1">
              <a:solidFill>
                <a:srgbClr val="122A3E"/>
              </a:solidFill>
            </a:defRPr>
          </a:pPr>
        </a:p>
      </c:txPr>
    </c:legend>
    <c:plotVisOnly val="1"/>
  </c:chart>
  <c:spPr>
    <a:solidFill xmlns:a="http://schemas.openxmlformats.org/drawingml/2006/main">
      <a:srgbClr val="FFFCF6"/>
    </a:solidFill>
    <a:ln xmlns:a="http://schemas.openxmlformats.org/drawingml/2006/main" w="0">
      <a:noFill/>
      <a:prstDash val="solid"/>
    </a:ln>
  </c:spPr>
</c:chartSpace>
</file>

<file path=ppt/slides/charts/chart2.xml><?xml version="1.0" encoding="utf-8"?>
<c:chartSpace xmlns:c="http://schemas.openxmlformats.org/drawingml/2006/chart">
  <c:lang val="en-US"/>
  <c:chart>
    <c:plotArea>
      <c:lineChart>
        <c:grouping val="standard"/>
        <c:ser>
          <c:idx val="0"/>
          <c:order val="0"/>
          <c:tx>
            <c:v>Finly drawdown</c:v>
          </c:tx>
          <c:spPr>
            <a:ln xmlns:a="http://schemas.openxmlformats.org/drawingml/2006/main" w="19050">
              <a:solidFill>
                <a:srgbClr val="2F7D68"/>
              </a:solidFill>
              <a:prstDash val="solid"/>
            </a:ln>
          </c:spPr>
          <c:marker>
            <c:symbol val="none"/>
          </c:marker>
          <c:cat>
            <c:strLit>
              <c:ptCount val="70"/>
              <c:pt idx="0">
                <c:v>2013-01-02</c:v>
              </c:pt>
              <c:pt idx="1">
                <c:v>2013-03-15</c:v>
              </c:pt>
              <c:pt idx="2">
                <c:v>2013-05-28</c:v>
              </c:pt>
              <c:pt idx="3">
                <c:v>2013-08-07</c:v>
              </c:pt>
              <c:pt idx="4">
                <c:v>2013-10-17</c:v>
              </c:pt>
              <c:pt idx="5">
                <c:v>2013-12-30</c:v>
              </c:pt>
              <c:pt idx="6">
                <c:v>2014-03-13</c:v>
              </c:pt>
              <c:pt idx="7">
                <c:v>2014-05-23</c:v>
              </c:pt>
              <c:pt idx="8">
                <c:v>2014-08-05</c:v>
              </c:pt>
              <c:pt idx="9">
                <c:v>2014-10-15</c:v>
              </c:pt>
              <c:pt idx="10">
                <c:v>2014-12-26</c:v>
              </c:pt>
              <c:pt idx="11">
                <c:v>2015-03-11</c:v>
              </c:pt>
              <c:pt idx="12">
                <c:v>2015-05-21</c:v>
              </c:pt>
              <c:pt idx="13">
                <c:v>2015-08-03</c:v>
              </c:pt>
              <c:pt idx="14">
                <c:v>2015-10-13</c:v>
              </c:pt>
              <c:pt idx="15">
                <c:v>2015-12-23</c:v>
              </c:pt>
              <c:pt idx="16">
                <c:v>2016-03-08</c:v>
              </c:pt>
              <c:pt idx="17">
                <c:v>2016-05-18</c:v>
              </c:pt>
              <c:pt idx="18">
                <c:v>2016-07-29</c:v>
              </c:pt>
              <c:pt idx="19">
                <c:v>2016-10-10</c:v>
              </c:pt>
              <c:pt idx="20">
                <c:v>2016-12-20</c:v>
              </c:pt>
              <c:pt idx="21">
                <c:v>2017-03-06</c:v>
              </c:pt>
              <c:pt idx="22">
                <c:v>2017-05-16</c:v>
              </c:pt>
              <c:pt idx="23">
                <c:v>2017-07-27</c:v>
              </c:pt>
              <c:pt idx="24">
                <c:v>2017-10-06</c:v>
              </c:pt>
              <c:pt idx="25">
                <c:v>2017-12-18</c:v>
              </c:pt>
              <c:pt idx="26">
                <c:v>2018-03-02</c:v>
              </c:pt>
              <c:pt idx="27">
                <c:v>2018-05-14</c:v>
              </c:pt>
              <c:pt idx="28">
                <c:v>2018-07-25</c:v>
              </c:pt>
              <c:pt idx="29">
                <c:v>2018-10-04</c:v>
              </c:pt>
              <c:pt idx="30">
                <c:v>2018-12-17</c:v>
              </c:pt>
              <c:pt idx="31">
                <c:v>2019-03-01</c:v>
              </c:pt>
              <c:pt idx="32">
                <c:v>2019-05-13</c:v>
              </c:pt>
              <c:pt idx="33">
                <c:v>2019-07-24</c:v>
              </c:pt>
              <c:pt idx="34">
                <c:v>2019-10-03</c:v>
              </c:pt>
              <c:pt idx="35">
                <c:v>2019-12-13</c:v>
              </c:pt>
              <c:pt idx="36">
                <c:v>2020-02-27</c:v>
              </c:pt>
              <c:pt idx="37">
                <c:v>2020-05-08</c:v>
              </c:pt>
              <c:pt idx="38">
                <c:v>2020-07-21</c:v>
              </c:pt>
              <c:pt idx="39">
                <c:v>2020-09-30</c:v>
              </c:pt>
              <c:pt idx="40">
                <c:v>2020-12-10</c:v>
              </c:pt>
              <c:pt idx="41">
                <c:v>2021-02-24</c:v>
              </c:pt>
              <c:pt idx="42">
                <c:v>2021-05-06</c:v>
              </c:pt>
              <c:pt idx="43">
                <c:v>2021-07-19</c:v>
              </c:pt>
              <c:pt idx="44">
                <c:v>2021-09-28</c:v>
              </c:pt>
              <c:pt idx="45">
                <c:v>2021-12-08</c:v>
              </c:pt>
              <c:pt idx="46">
                <c:v>2022-02-18</c:v>
              </c:pt>
              <c:pt idx="47">
                <c:v>2022-05-03</c:v>
              </c:pt>
              <c:pt idx="48">
                <c:v>2022-07-15</c:v>
              </c:pt>
              <c:pt idx="49">
                <c:v>2022-09-26</c:v>
              </c:pt>
              <c:pt idx="50">
                <c:v>2022-12-06</c:v>
              </c:pt>
              <c:pt idx="51">
                <c:v>2023-02-17</c:v>
              </c:pt>
              <c:pt idx="52">
                <c:v>2023-05-02</c:v>
              </c:pt>
              <c:pt idx="53">
                <c:v>2023-07-14</c:v>
              </c:pt>
              <c:pt idx="54">
                <c:v>2023-09-25</c:v>
              </c:pt>
              <c:pt idx="55">
                <c:v>2023-12-05</c:v>
              </c:pt>
              <c:pt idx="56">
                <c:v>2024-02-16</c:v>
              </c:pt>
              <c:pt idx="57">
                <c:v>2024-04-30</c:v>
              </c:pt>
              <c:pt idx="58">
                <c:v>2024-07-12</c:v>
              </c:pt>
              <c:pt idx="59">
                <c:v>2024-09-23</c:v>
              </c:pt>
              <c:pt idx="60">
                <c:v>2024-12-03</c:v>
              </c:pt>
              <c:pt idx="61">
                <c:v>2025-02-18</c:v>
              </c:pt>
              <c:pt idx="62">
                <c:v>2025-04-30</c:v>
              </c:pt>
              <c:pt idx="63">
                <c:v>2025-07-14</c:v>
              </c:pt>
              <c:pt idx="64">
                <c:v>2025-09-23</c:v>
              </c:pt>
              <c:pt idx="65">
                <c:v>2025-12-03</c:v>
              </c:pt>
              <c:pt idx="66">
                <c:v>2026-02-17</c:v>
              </c:pt>
              <c:pt idx="67">
                <c:v>2026-04-29</c:v>
              </c:pt>
              <c:pt idx="68">
                <c:v>2026-07-13</c:v>
              </c:pt>
              <c:pt idx="69">
                <c:v>2026-08-27</c:v>
              </c:pt>
            </c:strLit>
          </c:cat>
          <c:val>
            <c:numLit>
              <c:formatCode>0%</c:formatCode>
              <c:ptCount val="70"/>
              <c:pt idx="0">
                <c:v>0</c:v>
              </c:pt>
              <c:pt idx="1">
                <c:v>-0.00138782</c:v>
              </c:pt>
              <c:pt idx="2">
                <c:v>-0.00936304</c:v>
              </c:pt>
              <c:pt idx="3">
                <c:v>-0.01093798</c:v>
              </c:pt>
              <c:pt idx="4">
                <c:v>0</c:v>
              </c:pt>
              <c:pt idx="5">
                <c:v>-0.00229364</c:v>
              </c:pt>
              <c:pt idx="6">
                <c:v>-0.01856983</c:v>
              </c:pt>
              <c:pt idx="7">
                <c:v>-0.00625856</c:v>
              </c:pt>
              <c:pt idx="8">
                <c:v>-0.03116174</c:v>
              </c:pt>
              <c:pt idx="9">
                <c:v>-0.07714909</c:v>
              </c:pt>
              <c:pt idx="10">
                <c:v>0</c:v>
              </c:pt>
              <c:pt idx="11">
                <c:v>-0.04055249</c:v>
              </c:pt>
              <c:pt idx="12">
                <c:v>0</c:v>
              </c:pt>
              <c:pt idx="13">
                <c:v>-0.00718341</c:v>
              </c:pt>
              <c:pt idx="14">
                <c:v>-0.05256368</c:v>
              </c:pt>
              <c:pt idx="15">
                <c:v>-0.01947082</c:v>
              </c:pt>
              <c:pt idx="16">
                <c:v>-0.07327132</c:v>
              </c:pt>
              <c:pt idx="17">
                <c:v>-0.05446604</c:v>
              </c:pt>
              <c:pt idx="18">
                <c:v>0</c:v>
              </c:pt>
              <c:pt idx="19">
                <c:v>-0.01767946</c:v>
              </c:pt>
              <c:pt idx="20">
                <c:v>0</c:v>
              </c:pt>
              <c:pt idx="21">
                <c:v>-0.00780512</c:v>
              </c:pt>
              <c:pt idx="22">
                <c:v>0</c:v>
              </c:pt>
              <c:pt idx="23">
                <c:v>-0.00565511</c:v>
              </c:pt>
              <c:pt idx="24">
                <c:v>0</c:v>
              </c:pt>
              <c:pt idx="25">
                <c:v>0</c:v>
              </c:pt>
              <c:pt idx="26">
                <c:v>-0.03928326</c:v>
              </c:pt>
              <c:pt idx="27">
                <c:v>-0.01426383</c:v>
              </c:pt>
              <c:pt idx="28">
                <c:v>0</c:v>
              </c:pt>
              <c:pt idx="29">
                <c:v>-0.01994868</c:v>
              </c:pt>
              <c:pt idx="30">
                <c:v>-0.15616815</c:v>
              </c:pt>
              <c:pt idx="31">
                <c:v>-0.05622893</c:v>
              </c:pt>
              <c:pt idx="32">
                <c:v>-0.04075474</c:v>
              </c:pt>
              <c:pt idx="33">
                <c:v>-0.00173267</c:v>
              </c:pt>
              <c:pt idx="34">
                <c:v>-0.02126249</c:v>
              </c:pt>
              <c:pt idx="35">
                <c:v>0</c:v>
              </c:pt>
              <c:pt idx="36">
                <c:v>-0.11855299</c:v>
              </c:pt>
              <c:pt idx="37">
                <c:v>-0.08327718</c:v>
              </c:pt>
              <c:pt idx="38">
                <c:v>-0.00375227</c:v>
              </c:pt>
              <c:pt idx="39">
                <c:v>-0.0611605</c:v>
              </c:pt>
              <c:pt idx="40">
                <c:v>-0.01351528</c:v>
              </c:pt>
              <c:pt idx="41">
                <c:v>-0.03018982</c:v>
              </c:pt>
              <c:pt idx="42">
                <c:v>-0.0172632</c:v>
              </c:pt>
              <c:pt idx="43">
                <c:v>-0.03358004</c:v>
              </c:pt>
              <c:pt idx="44">
                <c:v>-0.01915337</c:v>
              </c:pt>
              <c:pt idx="45">
                <c:v>-0.00914672</c:v>
              </c:pt>
              <c:pt idx="46">
                <c:v>-0.06702713</c:v>
              </c:pt>
              <c:pt idx="47">
                <c:v>-0.10097063</c:v>
              </c:pt>
              <c:pt idx="48">
                <c:v>-0.14806634</c:v>
              </c:pt>
              <c:pt idx="49">
                <c:v>-0.15069097</c:v>
              </c:pt>
              <c:pt idx="50">
                <c:v>-0.09049578</c:v>
              </c:pt>
              <c:pt idx="51">
                <c:v>-0.06410674</c:v>
              </c:pt>
              <c:pt idx="52">
                <c:v>-0.03828585</c:v>
              </c:pt>
              <c:pt idx="53">
                <c:v>-0.00611465</c:v>
              </c:pt>
              <c:pt idx="54">
                <c:v>-0.04553927</c:v>
              </c:pt>
              <c:pt idx="55">
                <c:v>-0.00973974</c:v>
              </c:pt>
              <c:pt idx="56">
                <c:v>-0.01097868</c:v>
              </c:pt>
              <c:pt idx="57">
                <c:v>-0.04056359</c:v>
              </c:pt>
              <c:pt idx="58">
                <c:v>-0.00186402</c:v>
              </c:pt>
              <c:pt idx="59">
                <c:v>-0.00084626</c:v>
              </c:pt>
              <c:pt idx="60">
                <c:v>-0.00021714</c:v>
              </c:pt>
              <c:pt idx="61">
                <c:v>0</c:v>
              </c:pt>
              <c:pt idx="62">
                <c:v>-0.08271184</c:v>
              </c:pt>
              <c:pt idx="63">
                <c:v>0</c:v>
              </c:pt>
              <c:pt idx="64">
                <c:v>-0.00560896</c:v>
              </c:pt>
              <c:pt idx="65">
                <c:v>-0.01113221</c:v>
              </c:pt>
              <c:pt idx="66">
                <c:v>-0.0067297</c:v>
              </c:pt>
              <c:pt idx="67">
                <c:v>-0.0078209</c:v>
              </c:pt>
              <c:pt idx="68">
                <c:v>-0.03047249</c:v>
              </c:pt>
              <c:pt idx="69">
                <c:v>-0.00285384</c:v>
              </c:pt>
            </c:numLit>
          </c:val>
        </c:ser>
        <c:ser>
          <c:idx val="1"/>
          <c:order val="1"/>
          <c:tx>
            <c:v>SPY drawdown</c:v>
          </c:tx>
          <c:spPr>
            <a:ln xmlns:a="http://schemas.openxmlformats.org/drawingml/2006/main" w="19050">
              <a:solidFill>
                <a:srgbClr val="0B2942"/>
              </a:solidFill>
              <a:prstDash val="solid"/>
            </a:ln>
          </c:spPr>
          <c:marker>
            <c:symbol val="none"/>
          </c:marker>
          <c:cat>
            <c:strLit>
              <c:ptCount val="70"/>
              <c:pt idx="0">
                <c:v>2013-01-02</c:v>
              </c:pt>
              <c:pt idx="1">
                <c:v>2013-03-15</c:v>
              </c:pt>
              <c:pt idx="2">
                <c:v>2013-05-28</c:v>
              </c:pt>
              <c:pt idx="3">
                <c:v>2013-08-07</c:v>
              </c:pt>
              <c:pt idx="4">
                <c:v>2013-10-17</c:v>
              </c:pt>
              <c:pt idx="5">
                <c:v>2013-12-30</c:v>
              </c:pt>
              <c:pt idx="6">
                <c:v>2014-03-13</c:v>
              </c:pt>
              <c:pt idx="7">
                <c:v>2014-05-23</c:v>
              </c:pt>
              <c:pt idx="8">
                <c:v>2014-08-05</c:v>
              </c:pt>
              <c:pt idx="9">
                <c:v>2014-10-15</c:v>
              </c:pt>
              <c:pt idx="10">
                <c:v>2014-12-26</c:v>
              </c:pt>
              <c:pt idx="11">
                <c:v>2015-03-11</c:v>
              </c:pt>
              <c:pt idx="12">
                <c:v>2015-05-21</c:v>
              </c:pt>
              <c:pt idx="13">
                <c:v>2015-08-03</c:v>
              </c:pt>
              <c:pt idx="14">
                <c:v>2015-10-13</c:v>
              </c:pt>
              <c:pt idx="15">
                <c:v>2015-12-23</c:v>
              </c:pt>
              <c:pt idx="16">
                <c:v>2016-03-08</c:v>
              </c:pt>
              <c:pt idx="17">
                <c:v>2016-05-18</c:v>
              </c:pt>
              <c:pt idx="18">
                <c:v>2016-07-29</c:v>
              </c:pt>
              <c:pt idx="19">
                <c:v>2016-10-10</c:v>
              </c:pt>
              <c:pt idx="20">
                <c:v>2016-12-20</c:v>
              </c:pt>
              <c:pt idx="21">
                <c:v>2017-03-06</c:v>
              </c:pt>
              <c:pt idx="22">
                <c:v>2017-05-16</c:v>
              </c:pt>
              <c:pt idx="23">
                <c:v>2017-07-27</c:v>
              </c:pt>
              <c:pt idx="24">
                <c:v>2017-10-06</c:v>
              </c:pt>
              <c:pt idx="25">
                <c:v>2017-12-18</c:v>
              </c:pt>
              <c:pt idx="26">
                <c:v>2018-03-02</c:v>
              </c:pt>
              <c:pt idx="27">
                <c:v>2018-05-14</c:v>
              </c:pt>
              <c:pt idx="28">
                <c:v>2018-07-25</c:v>
              </c:pt>
              <c:pt idx="29">
                <c:v>2018-10-04</c:v>
              </c:pt>
              <c:pt idx="30">
                <c:v>2018-12-17</c:v>
              </c:pt>
              <c:pt idx="31">
                <c:v>2019-03-01</c:v>
              </c:pt>
              <c:pt idx="32">
                <c:v>2019-05-13</c:v>
              </c:pt>
              <c:pt idx="33">
                <c:v>2019-07-24</c:v>
              </c:pt>
              <c:pt idx="34">
                <c:v>2019-10-03</c:v>
              </c:pt>
              <c:pt idx="35">
                <c:v>2019-12-13</c:v>
              </c:pt>
              <c:pt idx="36">
                <c:v>2020-02-27</c:v>
              </c:pt>
              <c:pt idx="37">
                <c:v>2020-05-08</c:v>
              </c:pt>
              <c:pt idx="38">
                <c:v>2020-07-21</c:v>
              </c:pt>
              <c:pt idx="39">
                <c:v>2020-09-30</c:v>
              </c:pt>
              <c:pt idx="40">
                <c:v>2020-12-10</c:v>
              </c:pt>
              <c:pt idx="41">
                <c:v>2021-02-24</c:v>
              </c:pt>
              <c:pt idx="42">
                <c:v>2021-05-06</c:v>
              </c:pt>
              <c:pt idx="43">
                <c:v>2021-07-19</c:v>
              </c:pt>
              <c:pt idx="44">
                <c:v>2021-09-28</c:v>
              </c:pt>
              <c:pt idx="45">
                <c:v>2021-12-08</c:v>
              </c:pt>
              <c:pt idx="46">
                <c:v>2022-02-18</c:v>
              </c:pt>
              <c:pt idx="47">
                <c:v>2022-05-03</c:v>
              </c:pt>
              <c:pt idx="48">
                <c:v>2022-07-15</c:v>
              </c:pt>
              <c:pt idx="49">
                <c:v>2022-09-26</c:v>
              </c:pt>
              <c:pt idx="50">
                <c:v>2022-12-06</c:v>
              </c:pt>
              <c:pt idx="51">
                <c:v>2023-02-17</c:v>
              </c:pt>
              <c:pt idx="52">
                <c:v>2023-05-02</c:v>
              </c:pt>
              <c:pt idx="53">
                <c:v>2023-07-14</c:v>
              </c:pt>
              <c:pt idx="54">
                <c:v>2023-09-25</c:v>
              </c:pt>
              <c:pt idx="55">
                <c:v>2023-12-05</c:v>
              </c:pt>
              <c:pt idx="56">
                <c:v>2024-02-16</c:v>
              </c:pt>
              <c:pt idx="57">
                <c:v>2024-04-30</c:v>
              </c:pt>
              <c:pt idx="58">
                <c:v>2024-07-12</c:v>
              </c:pt>
              <c:pt idx="59">
                <c:v>2024-09-23</c:v>
              </c:pt>
              <c:pt idx="60">
                <c:v>2024-12-03</c:v>
              </c:pt>
              <c:pt idx="61">
                <c:v>2025-02-18</c:v>
              </c:pt>
              <c:pt idx="62">
                <c:v>2025-04-30</c:v>
              </c:pt>
              <c:pt idx="63">
                <c:v>2025-07-14</c:v>
              </c:pt>
              <c:pt idx="64">
                <c:v>2025-09-23</c:v>
              </c:pt>
              <c:pt idx="65">
                <c:v>2025-12-03</c:v>
              </c:pt>
              <c:pt idx="66">
                <c:v>2026-02-17</c:v>
              </c:pt>
              <c:pt idx="67">
                <c:v>2026-04-29</c:v>
              </c:pt>
              <c:pt idx="68">
                <c:v>2026-07-13</c:v>
              </c:pt>
              <c:pt idx="69">
                <c:v>2026-08-27</c:v>
              </c:pt>
            </c:strLit>
          </c:cat>
          <c:val>
            <c:numLit>
              <c:formatCode>0%</c:formatCode>
              <c:ptCount val="70"/>
              <c:pt idx="0">
                <c:v>0</c:v>
              </c:pt>
              <c:pt idx="1">
                <c:v>-0.00131972</c:v>
              </c:pt>
              <c:pt idx="2">
                <c:v>-0.00520432</c:v>
              </c:pt>
              <c:pt idx="3">
                <c:v>-0.01035388</c:v>
              </c:pt>
              <c:pt idx="4">
                <c:v>0</c:v>
              </c:pt>
              <c:pt idx="5">
                <c:v>-0.00021706</c:v>
              </c:pt>
              <c:pt idx="6">
                <c:v>-0.01636085</c:v>
              </c:pt>
              <c:pt idx="7">
                <c:v>0</c:v>
              </c:pt>
              <c:pt idx="8">
                <c:v>-0.03342536</c:v>
              </c:pt>
              <c:pt idx="9">
                <c:v>-0.07193798</c:v>
              </c:pt>
              <c:pt idx="10">
                <c:v>0</c:v>
              </c:pt>
              <c:pt idx="11">
                <c:v>-0.03533155</c:v>
              </c:pt>
              <c:pt idx="12">
                <c:v>0</c:v>
              </c:pt>
              <c:pt idx="13">
                <c:v>-0.01317096</c:v>
              </c:pt>
              <c:pt idx="14">
                <c:v>-0.05314881</c:v>
              </c:pt>
              <c:pt idx="15">
                <c:v>-0.02006912</c:v>
              </c:pt>
              <c:pt idx="16">
                <c:v>-0.05631327</c:v>
              </c:pt>
              <c:pt idx="17">
                <c:v>-0.02470228</c:v>
              </c:pt>
              <c:pt idx="18">
                <c:v>-0.00055288</c:v>
              </c:pt>
              <c:pt idx="19">
                <c:v>-0.00838939</c:v>
              </c:pt>
              <c:pt idx="20">
                <c:v>-0.00011214</c:v>
              </c:pt>
              <c:pt idx="21">
                <c:v>-0.00863285</c:v>
              </c:pt>
              <c:pt idx="22">
                <c:v>-0.00091536</c:v>
              </c:pt>
              <c:pt idx="23">
                <c:v>-0.00092951</c:v>
              </c:pt>
              <c:pt idx="24">
                <c:v>-0.0011389</c:v>
              </c:pt>
              <c:pt idx="25">
                <c:v>0</c:v>
              </c:pt>
              <c:pt idx="26">
                <c:v>-0.0610654</c:v>
              </c:pt>
              <c:pt idx="27">
                <c:v>-0.04364147</c:v>
              </c:pt>
              <c:pt idx="28">
                <c:v>-0.00053135</c:v>
              </c:pt>
              <c:pt idx="29">
                <c:v>-0.0096389</c:v>
              </c:pt>
              <c:pt idx="30">
                <c:v>-0.12624863</c:v>
              </c:pt>
              <c:pt idx="31">
                <c:v>-0.03489924</c:v>
              </c:pt>
              <c:pt idx="32">
                <c:v>-0.04479169</c:v>
              </c:pt>
              <c:pt idx="33">
                <c:v>0</c:v>
              </c:pt>
              <c:pt idx="34">
                <c:v>-0.03393507</c:v>
              </c:pt>
              <c:pt idx="35">
                <c:v>0</c:v>
              </c:pt>
              <c:pt idx="36">
                <c:v>-0.12067738</c:v>
              </c:pt>
              <c:pt idx="37">
                <c:v>-0.13057975</c:v>
              </c:pt>
              <c:pt idx="38">
                <c:v>-0.02949723</c:v>
              </c:pt>
              <c:pt idx="39">
                <c:v>-0.0600208</c:v>
              </c:pt>
              <c:pt idx="40">
                <c:v>-0.00929314</c:v>
              </c:pt>
              <c:pt idx="41">
                <c:v>-0.00221585</c:v>
              </c:pt>
              <c:pt idx="42">
                <c:v>-0.00235674</c:v>
              </c:pt>
              <c:pt idx="43">
                <c:v>-0.02770634</c:v>
              </c:pt>
              <c:pt idx="44">
                <c:v>-0.03989614</c:v>
              </c:pt>
              <c:pt idx="45">
                <c:v>-0.0004472</c:v>
              </c:pt>
              <c:pt idx="46">
                <c:v>-0.09101783</c:v>
              </c:pt>
              <c:pt idx="47">
                <c:v>-0.1256757</c:v>
              </c:pt>
              <c:pt idx="48">
                <c:v>-0.18780171</c:v>
              </c:pt>
              <c:pt idx="49">
                <c:v>-0.22855283</c:v>
              </c:pt>
              <c:pt idx="50">
                <c:v>-0.16604267</c:v>
              </c:pt>
              <c:pt idx="51">
                <c:v>-0.13364364</c:v>
              </c:pt>
              <c:pt idx="52">
                <c:v>-0.12269263</c:v>
              </c:pt>
              <c:pt idx="53">
                <c:v>-0.03704402</c:v>
              </c:pt>
              <c:pt idx="54">
                <c:v>-0.07032004</c:v>
              </c:pt>
              <c:pt idx="55">
                <c:v>-0.01790285</c:v>
              </c:pt>
              <c:pt idx="56">
                <c:v>-0.00498016</c:v>
              </c:pt>
              <c:pt idx="57">
                <c:v>-0.04050291</c:v>
              </c:pt>
              <c:pt idx="58">
                <c:v>-0.00236933</c:v>
              </c:pt>
              <c:pt idx="59">
                <c:v>0</c:v>
              </c:pt>
              <c:pt idx="60">
                <c:v>0</c:v>
              </c:pt>
              <c:pt idx="61">
                <c:v>0</c:v>
              </c:pt>
              <c:pt idx="62">
                <c:v>-0.09254198</c:v>
              </c:pt>
              <c:pt idx="63">
                <c:v>-0.00161383</c:v>
              </c:pt>
              <c:pt idx="64">
                <c:v>-0.00544347</c:v>
              </c:pt>
              <c:pt idx="65">
                <c:v>-0.00509174</c:v>
              </c:pt>
              <c:pt idx="66">
                <c:v>-0.01817424</c:v>
              </c:pt>
              <c:pt idx="67">
                <c:v>-0.00501975</c:v>
              </c:pt>
              <c:pt idx="68">
                <c:v>-0.01115105</c:v>
              </c:pt>
              <c:pt idx="69">
                <c:v>-0.00920845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0"/>
          <c:min val="-0.4"/>
        </c:scaling>
        <c:delete val="0"/>
        <c:axPos val="l"/>
        <c:majorGridlines>
          <c:spPr>
            <a:ln xmlns:a="http://schemas.openxmlformats.org/drawingml/2006/main" w="9525">
              <a:solidFill>
                <a:srgbClr val="E2E7E3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27078"/>
                </a:solidFill>
              </a:defRPr>
            </a:pPr>
          </a:p>
        </c:txPr>
        <c:crossAx val="48650112"/>
        <c:crossBetween val="between"/>
        <c:majorUnit val="0.2"/>
      </c:valAx>
      <c:spPr>
        <a:solidFill xmlns:a="http://schemas.openxmlformats.org/drawingml/2006/main">
          <a:srgbClr val="FFFCF6"/>
        </a:solidFill>
        <a:ln xmlns:a="http://schemas.openxmlformats.org/drawingml/2006/main" w="0">
          <a:noFill/>
          <a:prstDash val="solid"/>
        </a:ln>
      </c:spPr>
    </c:plotArea>
    <c:plotVisOnly val="1"/>
  </c:chart>
  <c:spPr>
    <a:solidFill xmlns:a="http://schemas.openxmlformats.org/drawingml/2006/main">
      <a:srgbClr val="FFFCF6"/>
    </a:solidFill>
    <a:ln xmlns:a="http://schemas.openxmlformats.org/drawingml/2006/main" w="0">
      <a:noFill/>
      <a:prstDash val="solid"/>
    </a:ln>
  </c:spPr>
</c:chartSpace>
</file>

<file path=ppt/slides/charts/chart3.xml><?xml version="1.0" encoding="utf-8"?>
<c:chartSpace xmlns:c="http://schemas.openxmlformats.org/drawingml/2006/chart">
  <c:lang val="en-US"/>
  <c:chart>
    <c:plotArea>
      <c:lineChart>
        <c:grouping val="standard"/>
        <c:ser>
          <c:idx val="0"/>
          <c:order val="0"/>
          <c:tx>
            <c:v>Expiry payoff</c:v>
          </c:tx>
          <c:spPr>
            <a:ln xmlns:a="http://schemas.openxmlformats.org/drawingml/2006/main" w="47625">
              <a:solidFill>
                <a:srgbClr val="2F7D68"/>
              </a:solidFill>
              <a:prstDash val="solid"/>
            </a:ln>
          </c:spPr>
          <c:marker>
            <c:symbol val="circle"/>
            <c:size val="5"/>
            <c:spPr>
              <a:solidFill xmlns:a="http://schemas.openxmlformats.org/drawingml/2006/main">
                <a:srgbClr val="2F7D68"/>
              </a:solidFill>
            </c:spPr>
          </c:marker>
          <c:cat>
            <c:strLit>
              <c:ptCount val="9"/>
              <c:pt idx="0">
                <c:v>$540</c:v>
              </c:pt>
              <c:pt idx="1">
                <c:v>$545</c:v>
              </c:pt>
              <c:pt idx="2">
                <c:v>$550</c:v>
              </c:pt>
              <c:pt idx="3">
                <c:v>$555</c:v>
              </c:pt>
              <c:pt idx="4">
                <c:v>$560</c:v>
              </c:pt>
              <c:pt idx="5">
                <c:v>$565</c:v>
              </c:pt>
              <c:pt idx="6">
                <c:v>$570</c:v>
              </c:pt>
              <c:pt idx="7">
                <c:v>$575</c:v>
              </c:pt>
              <c:pt idx="8">
                <c:v>$580</c:v>
              </c:pt>
            </c:strLit>
          </c:cat>
          <c:val>
            <c:numLit>
              <c:formatCode>$#,##0</c:formatCode>
              <c:ptCount val="9"/>
              <c:pt idx="0">
                <c:v>634</c:v>
              </c:pt>
              <c:pt idx="1">
                <c:v>634</c:v>
              </c:pt>
              <c:pt idx="2">
                <c:v>634</c:v>
              </c:pt>
              <c:pt idx="3">
                <c:v>134</c:v>
              </c:pt>
              <c:pt idx="4">
                <c:v>-366</c:v>
              </c:pt>
              <c:pt idx="5">
                <c:v>-366</c:v>
              </c:pt>
              <c:pt idx="6">
                <c:v>-366</c:v>
              </c:pt>
              <c:pt idx="7">
                <c:v>-366</c:v>
              </c:pt>
              <c:pt idx="8">
                <c:v>-366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27078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700"/>
          <c:min val="-40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8E0DB"/>
              </a:solidFill>
              <a:prstDash val="solid"/>
            </a:ln>
          </c:spPr>
        </c:majorGridlines>
        <c:numFmt formatCode="$#,##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27078"/>
                </a:solidFill>
              </a:defRPr>
            </a:pPr>
          </a:p>
        </c:txPr>
        <c:crossAx val="48650112"/>
        <c:crossBetween val="between"/>
        <c:majorUnit val="200"/>
      </c:valAx>
      <c:spPr>
        <a:solidFill xmlns:a="http://schemas.openxmlformats.org/drawingml/2006/main">
          <a:srgbClr val="F6F1E8"/>
        </a:solidFill>
        <a:ln xmlns:a="http://schemas.openxmlformats.org/drawingml/2006/main" w="0">
          <a:noFill/>
          <a:prstDash val="solid"/>
        </a:ln>
      </c:spPr>
    </c:plotArea>
    <c:plotVisOnly val="1"/>
  </c:chart>
  <c:spPr>
    <a:solidFill xmlns:a="http://schemas.openxmlformats.org/drawingml/2006/main">
      <a:srgbClr val="F6F1E8"/>
    </a:solidFill>
    <a:ln xmlns:a="http://schemas.openxmlformats.org/drawingml/2006/main" w="0">
      <a:noFill/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294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85f96337934cb3">
            <a:extLst>
              <a:ext uri="{96DAC541-7B7A-43D3-8B79-37D633B846F1}">
                <asvg:svgBlip xmlns:asvg="http://schemas.microsoft.com/office/drawing/2016/SVG/main" r:embed="Rcb28f9617a904bd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09600" y="381000"/>
            <a:ext cx="514350" cy="51435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F4A112-45E6-4E21-B4EE-24C2BAA45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76250"/>
            <a:ext cx="171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FFFFFF"/>
                </a:solidFill>
              </a:defRPr>
            </a:pPr>
            <a:r>
              <a:rPr sz="1800" b="1" i="0">
                <a:solidFill>
                  <a:srgbClr val="FFFFFF"/>
                </a:solidFill>
              </a:rPr>
              <a:t>FINLY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D6F19D-EE10-430E-B9FD-135DDB58D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01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B9DFD2"/>
                </a:solidFill>
              </a:defRPr>
            </a:pPr>
            <a:r>
              <a:rPr sz="1125" b="1" i="0">
                <a:solidFill>
                  <a:srgbClr val="B9DFD2"/>
                </a:solidFill>
              </a:rPr>
              <a:t>AI RESEARCH WITH CHECKED EXECUTION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F93EA5-EE3C-4F5B-8893-A2280E1C6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4762500" cy="2114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 i="0">
                <a:solidFill>
                  <a:srgbClr val="FFFFFF"/>
                </a:solidFill>
              </a:defRPr>
            </a:pPr>
            <a:r>
              <a:rPr sz="3300" b="1" i="0">
                <a:solidFill>
                  <a:srgbClr val="FFFFFF"/>
                </a:solidFill>
              </a:rPr>
              <a:t>Finly turns AI research into a checked Alpaca paper order.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622BE1-A2E4-4399-A0AB-910B26D7F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81450"/>
            <a:ext cx="4476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D7E3E5"/>
                </a:solidFill>
              </a:defRPr>
            </a:pPr>
            <a:r>
              <a:rPr sz="1800" b="0" i="0">
                <a:solidFill>
                  <a:srgbClr val="D7E3E5"/>
                </a:solidFill>
              </a:rPr>
              <a:t>The model explains the market. Code fixes the risk, builds the order, and can still stop it.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83F896-CDBB-4E45-B47F-E4343E938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923925"/>
            <a:ext cx="5924550" cy="3371850"/>
          </a:xfrm>
          <a:prstGeom xmlns:a="http://schemas.openxmlformats.org/drawingml/2006/main" prst="roundRect">
            <a:avLst>
              <a:gd name="adj" fmla="val 3390"/>
            </a:avLst>
          </a:prstGeom>
          <a:solidFill xmlns:a="http://schemas.openxmlformats.org/drawingml/2006/main">
            <a:srgbClr val="F6F1E8"/>
          </a:solidFill>
          <a:ln xmlns:a="http://schemas.openxmlformats.org/drawingml/2006/main" w="9525">
            <a:solidFill>
              <a:srgbClr val="B9DFD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ce646019104eae"/>
          <a:stretch xmlns:a="http://schemas.openxmlformats.org/drawingml/2006/main"/>
        </p:blipFill>
        <p:spPr>
          <a:xfrm xmlns:a="http://schemas.openxmlformats.org/drawingml/2006/main">
            <a:off x="5755217" y="971550"/>
            <a:ext cx="5825067" cy="3276600"/>
          </a:xfrm>
          <a:prstGeom xmlns:a="http://schemas.openxmlformats.org/drawingml/2006/main" prst="roundRect">
            <a:avLst>
              <a:gd name="adj" fmla="val 2326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E5CE02-DC5C-4D9D-8DC7-2BE6638ED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482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DF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BF33F9-65D6-4AF8-A9EF-36979BAF6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57800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 i="0">
                <a:solidFill>
                  <a:srgbClr val="F2C66D"/>
                </a:solidFill>
              </a:defRPr>
            </a:pPr>
            <a:r>
              <a:rPr sz="2850" b="1" i="0">
                <a:solidFill>
                  <a:srgbClr val="F2C66D"/>
                </a:solidFill>
              </a:rPr>
              <a:t>$106,711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A676BF-B58E-4337-BE9D-5F49588C5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81675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C5D4D8"/>
                </a:solidFill>
              </a:defRPr>
            </a:pPr>
            <a:r>
              <a:rPr sz="1125" b="1" i="0">
                <a:solidFill>
                  <a:srgbClr val="C5D4D8"/>
                </a:solidFill>
              </a:rPr>
              <a:t>HISTORICAL ENDING WEALTH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23E824-6DE9-43B4-8875-458D14366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257800"/>
            <a:ext cx="2095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 i="0">
                <a:solidFill>
                  <a:srgbClr val="FFFFFF"/>
                </a:solidFill>
              </a:defRPr>
            </a:pPr>
            <a:r>
              <a:rPr sz="2850" b="1" i="0">
                <a:solidFill>
                  <a:srgbClr val="FFFFFF"/>
                </a:solidFill>
              </a:rPr>
              <a:t>+$38,629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3CA8F4-058F-426F-BF8C-B0787A172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781675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C5D4D8"/>
                </a:solidFill>
              </a:defRPr>
            </a:pPr>
            <a:r>
              <a:rPr sz="1125" b="1" i="0">
                <a:solidFill>
                  <a:srgbClr val="C5D4D8"/>
                </a:solidFill>
              </a:rPr>
              <a:t>VERSUS SPY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1D6BCEE-F95F-4557-9240-9258D1696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57800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 i="0">
                <a:solidFill>
                  <a:srgbClr val="B9DFD2"/>
                </a:solidFill>
              </a:defRPr>
            </a:pPr>
            <a:r>
              <a:rPr sz="2850" b="1" i="0">
                <a:solidFill>
                  <a:srgbClr val="B9DFD2"/>
                </a:solidFill>
              </a:rPr>
              <a:t>$100,000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59BED9-65EE-4C1D-8561-6E5673E6E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781675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C5D4D8"/>
                </a:solidFill>
              </a:defRPr>
            </a:pPr>
            <a:r>
              <a:rPr sz="1125" b="1" i="0">
                <a:solidFill>
                  <a:srgbClr val="C5D4D8"/>
                </a:solidFill>
              </a:rPr>
              <a:t>VERIFIED PAPER ACCOUNT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08E7CD7-2E7F-4C50-8AD1-42C4A0A9D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5257800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 i="0">
                <a:solidFill>
                  <a:srgbClr val="E56B5D"/>
                </a:solidFill>
              </a:defRPr>
            </a:pPr>
            <a:r>
              <a:rPr sz="2850" b="1" i="0">
                <a:solidFill>
                  <a:srgbClr val="E56B5D"/>
                </a:solidFill>
              </a:rPr>
              <a:t>$500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3665063-045E-4696-B4C7-8310C2719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5781675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C5D4D8"/>
                </a:solidFill>
              </a:defRPr>
            </a:pPr>
            <a:r>
              <a:rPr sz="1125" b="1" i="0">
                <a:solidFill>
                  <a:srgbClr val="C5D4D8"/>
                </a:solidFill>
              </a:rPr>
              <a:t>PER-TRADE CEILING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5273FFD-95AC-4448-998E-D957D6966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103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AFC2C8"/>
                </a:solidFill>
              </a:defRPr>
            </a:pPr>
            <a:r>
              <a:rPr sz="1200" b="0" i="0">
                <a:solidFill>
                  <a:srgbClr val="AFC2C8"/>
                </a:solidFill>
              </a:rPr>
              <a:t>Bruce Wen  ·  Brandeis University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3EA2918-0E88-4963-A428-BB133E838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AFC2C8"/>
                </a:solidFill>
              </a:defRPr>
            </a:pPr>
            <a:r>
              <a:rPr sz="825" b="1" i="0">
                <a:solidFill>
                  <a:srgbClr val="AFC2C8"/>
                </a:solidFill>
              </a:rPr>
              <a:t>FINLY  /  ALPACA AI TRADING AGENTS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D0F162C-39C4-4AFD-9FF2-733E4BF1F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 i="0">
                <a:solidFill>
                  <a:srgbClr val="AFC2C8"/>
                </a:solidFill>
              </a:defRPr>
            </a:pPr>
            <a:r>
              <a:rPr sz="825" b="1" i="0">
                <a:solidFill>
                  <a:srgbClr val="AFC2C8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67764555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8622778-CB59-4DEC-98A9-0B12F3570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2F7D68"/>
                </a:solidFill>
              </a:defRPr>
            </a:pPr>
            <a:r>
              <a:rPr sz="1125" b="1" i="0">
                <a:solidFill>
                  <a:srgbClr val="2F7D68"/>
                </a:solidFill>
              </a:rPr>
              <a:t>THE 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A616EC-30D7-4A6D-B2D1-810E51FA6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668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450" b="1" i="0">
                <a:solidFill>
                  <a:srgbClr val="122A3E"/>
                </a:solidFill>
              </a:defRPr>
            </a:pPr>
            <a:r>
              <a:rPr sz="3450" b="1" i="0">
                <a:solidFill>
                  <a:srgbClr val="122A3E"/>
                </a:solidFill>
              </a:rPr>
              <a:t>Trading agents break when one model researches, sizes, and sends.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6EAE6F-6786-4747-8083-0F1C7D2DF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526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E56B5D"/>
                </a:solidFill>
              </a:defRPr>
            </a:pPr>
            <a:r>
              <a:rPr sz="1275" b="1" i="0">
                <a:solidFill>
                  <a:srgbClr val="E56B5D"/>
                </a:solidFill>
              </a:rPr>
              <a:t>COMMON AGENT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6CDB28-ED58-4337-AC7C-77B00D9FB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2095500" cy="108585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7DED8"/>
          </a:solidFill>
          <a:ln xmlns:a="http://schemas.openxmlformats.org/drawingml/2006/main" w="19050">
            <a:solidFill>
              <a:srgbClr val="E56B5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7E9CD6-C2B1-4C20-AF89-2581A4E27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76550"/>
            <a:ext cx="1828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 i="0">
                <a:solidFill>
                  <a:srgbClr val="122A3E"/>
                </a:solidFill>
              </a:defRPr>
            </a:pPr>
            <a:r>
              <a:rPr sz="1725" b="1" i="0">
                <a:solidFill>
                  <a:srgbClr val="122A3E"/>
                </a:solidFill>
              </a:rPr>
              <a:t>ONE MODEL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D17CB1-8B20-435D-A115-90D249FB8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14700"/>
            <a:ext cx="1714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0" i="0">
                <a:solidFill>
                  <a:srgbClr val="627078"/>
                </a:solidFill>
              </a:defRPr>
            </a:pPr>
            <a:r>
              <a:rPr sz="1275" b="0" i="0">
                <a:solidFill>
                  <a:srgbClr val="627078"/>
                </a:solidFill>
              </a:rPr>
              <a:t>reads · sizes · writes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F4DC92-91F9-425B-9703-9B51B51C8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857500"/>
            <a:ext cx="266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450" b="1" i="0">
                <a:solidFill>
                  <a:srgbClr val="E56B5D"/>
                </a:solidFill>
              </a:defRPr>
            </a:pPr>
            <a:r>
              <a:rPr sz="3450" b="1" i="0">
                <a:solidFill>
                  <a:srgbClr val="E56B5D"/>
                </a:solidFill>
              </a:rPr>
              <a:t>›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A2154A-069B-42E0-900D-A7E0290B1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590800"/>
            <a:ext cx="1714500" cy="108585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56B5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AE8A65-9659-498F-A7DA-BD159D11F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905125"/>
            <a:ext cx="1485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 i="0">
                <a:solidFill>
                  <a:srgbClr val="122A3E"/>
                </a:solidFill>
              </a:defRPr>
            </a:pPr>
            <a:r>
              <a:rPr sz="1725" b="1" i="0">
                <a:solidFill>
                  <a:srgbClr val="122A3E"/>
                </a:solidFill>
              </a:rPr>
              <a:t>ACCOUNT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BB8534-7A73-4593-9B13-E30D8CDF6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3276600"/>
            <a:ext cx="1485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 i="0">
                <a:solidFill>
                  <a:srgbClr val="E56B5D"/>
                </a:solidFill>
              </a:defRPr>
            </a:pPr>
            <a:r>
              <a:rPr sz="1200" b="0" i="0">
                <a:solidFill>
                  <a:srgbClr val="E56B5D"/>
                </a:solidFill>
              </a:rPr>
              <a:t>one confident error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AEC8332-2C5F-4570-8360-C4B6FF800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1526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2F7D68"/>
                </a:solidFill>
              </a:defRPr>
            </a:pPr>
            <a:r>
              <a:rPr sz="1275" b="1" i="0">
                <a:solidFill>
                  <a:srgbClr val="2F7D68"/>
                </a:solidFill>
              </a:rPr>
              <a:t>FINLY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467125-4376-4C07-B6E8-FDE15E2EF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590800"/>
            <a:ext cx="1314450" cy="108585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E3F0EA"/>
          </a:solidFill>
          <a:ln xmlns:a="http://schemas.openxmlformats.org/drawingml/2006/main" w="19050">
            <a:solidFill>
              <a:srgbClr val="2F7D6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EA0F54F-C5B7-4D79-91A6-D24817801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857500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 i="0">
                <a:solidFill>
                  <a:srgbClr val="2F7D68"/>
                </a:solidFill>
              </a:defRPr>
            </a:pPr>
            <a:r>
              <a:rPr sz="1875" b="1" i="0">
                <a:solidFill>
                  <a:srgbClr val="2F7D68"/>
                </a:solidFill>
              </a:rPr>
              <a:t>AI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C2A0DD-9B4B-447E-9FD5-1BB7CD365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248025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0" i="0">
                <a:solidFill>
                  <a:srgbClr val="627078"/>
                </a:solidFill>
              </a:defRPr>
            </a:pPr>
            <a:r>
              <a:rPr sz="1275" b="0" i="0">
                <a:solidFill>
                  <a:srgbClr val="627078"/>
                </a:solidFill>
              </a:rPr>
              <a:t>interprets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9AC835-EE20-4F3F-A5A1-1FDFE2A78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857500"/>
            <a:ext cx="266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450" b="1" i="0">
                <a:solidFill>
                  <a:srgbClr val="2F7D68"/>
                </a:solidFill>
              </a:defRPr>
            </a:pPr>
            <a:r>
              <a:rPr sz="3450" b="1" i="0">
                <a:solidFill>
                  <a:srgbClr val="2F7D68"/>
                </a:solidFill>
              </a:rPr>
              <a:t>›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455F84-A378-4B41-A7B4-4F8E2C424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590800"/>
            <a:ext cx="1314450" cy="108585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F7D6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2AFCE54-A8C0-4372-85A1-E6817D62C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857500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 i="0">
                <a:solidFill>
                  <a:srgbClr val="2F7D68"/>
                </a:solidFill>
              </a:defRPr>
            </a:pPr>
            <a:r>
              <a:rPr sz="1875" b="1" i="0">
                <a:solidFill>
                  <a:srgbClr val="2F7D68"/>
                </a:solidFill>
              </a:rPr>
              <a:t>CODE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B75017A-2CC6-4471-902A-57DD19C87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248025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0" i="0">
                <a:solidFill>
                  <a:srgbClr val="627078"/>
                </a:solidFill>
              </a:defRPr>
            </a:pPr>
            <a:r>
              <a:rPr sz="1275" b="0" i="0">
                <a:solidFill>
                  <a:srgbClr val="627078"/>
                </a:solidFill>
              </a:rPr>
              <a:t>fixes risk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0BEC0C4-1747-439A-8778-A3811EFC2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857500"/>
            <a:ext cx="266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450" b="1" i="0">
                <a:solidFill>
                  <a:srgbClr val="2F7D68"/>
                </a:solidFill>
              </a:defRPr>
            </a:pPr>
            <a:r>
              <a:rPr sz="3450" b="1" i="0">
                <a:solidFill>
                  <a:srgbClr val="2F7D68"/>
                </a:solidFill>
              </a:rPr>
              <a:t>›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57E9C1E-AC4A-472D-B372-0E95E4D6D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590800"/>
            <a:ext cx="1314450" cy="108585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F7D6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FB97915-0A7F-40FD-8579-402342CE8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857500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 i="0">
                <a:solidFill>
                  <a:srgbClr val="2F7D68"/>
                </a:solidFill>
              </a:defRPr>
            </a:pPr>
            <a:r>
              <a:rPr sz="1875" b="1" i="0">
                <a:solidFill>
                  <a:srgbClr val="2F7D68"/>
                </a:solidFill>
              </a:rPr>
              <a:t>TEST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FE764BE-A826-4C2E-8645-223DCE0E4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248025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0" i="0">
                <a:solidFill>
                  <a:srgbClr val="627078"/>
                </a:solidFill>
              </a:defRPr>
            </a:pPr>
            <a:r>
              <a:rPr sz="1275" b="0" i="0">
                <a:solidFill>
                  <a:srgbClr val="627078"/>
                </a:solidFill>
              </a:rPr>
              <a:t>permits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B0D2D2B-4AFB-493C-894C-5F149E480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2857500"/>
            <a:ext cx="266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450" b="1" i="0">
                <a:solidFill>
                  <a:srgbClr val="2F7D68"/>
                </a:solidFill>
              </a:defRPr>
            </a:pPr>
            <a:r>
              <a:rPr sz="3450" b="1" i="0">
                <a:solidFill>
                  <a:srgbClr val="2F7D68"/>
                </a:solidFill>
              </a:rPr>
              <a:t>›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892B0AE-03DA-4D3B-B46B-1A91B3762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590800"/>
            <a:ext cx="704850" cy="1085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0B29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F6B8DFB-C569-45B2-A5B8-4B2A4B4B5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2990850"/>
            <a:ext cx="590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FFFFFF"/>
                </a:solidFill>
              </a:defRPr>
            </a:pPr>
            <a:r>
              <a:rPr sz="1050" b="1" i="0">
                <a:solidFill>
                  <a:srgbClr val="FFFFFF"/>
                </a:solidFill>
              </a:rPr>
              <a:t>SEND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35A9340-F600-4F8A-A6D1-A04F3ED65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3865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4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715E1C1-837E-46D2-B591-650A679A3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62500"/>
            <a:ext cx="10287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 i="0">
                <a:solidFill>
                  <a:srgbClr val="2F7D68"/>
                </a:solidFill>
              </a:defRPr>
            </a:pPr>
            <a:r>
              <a:rPr sz="2400" b="1" i="0">
                <a:solidFill>
                  <a:srgbClr val="2F7D68"/>
                </a:solidFill>
              </a:rPr>
              <a:t>Useful AI insight without giving the model unchecked control of the account.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BEE21FC-235F-44AD-A4DD-ECB55CEB1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543550"/>
            <a:ext cx="990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627078"/>
                </a:solidFill>
              </a:defRPr>
            </a:pPr>
            <a:r>
              <a:rPr sz="1800" b="0" i="0">
                <a:solidFill>
                  <a:srgbClr val="627078"/>
                </a:solidFill>
              </a:rPr>
              <a:t>Finly keeps exposure, option legs, broker fields, and execution permission in deterministic code.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F554AB2-7528-4B30-B379-97BFE3D21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627078"/>
                </a:solidFill>
              </a:defRPr>
            </a:pPr>
            <a:r>
              <a:rPr sz="825" b="1" i="0">
                <a:solidFill>
                  <a:srgbClr val="627078"/>
                </a:solidFill>
              </a:rPr>
              <a:t>FINLY  /  ALPACA AI TRADING AGENTS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91D1F86-78FE-490C-BE4E-4441D451C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 i="0">
                <a:solidFill>
                  <a:srgbClr val="627078"/>
                </a:solidFill>
              </a:defRPr>
            </a:pPr>
            <a:r>
              <a:rPr sz="825" b="1" i="0">
                <a:solidFill>
                  <a:srgbClr val="627078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93744698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B294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878831E-5DC1-421B-9E7B-EEDDF1075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B9DFD2"/>
                </a:solidFill>
              </a:defRPr>
            </a:pPr>
            <a:r>
              <a:rPr sz="1125" b="1" i="0">
                <a:solidFill>
                  <a:srgbClr val="B9DFD2"/>
                </a:solidFill>
              </a:rPr>
              <a:t>HOW THE PRODUCT WORKS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B2D42A-D4B3-4B09-B033-72D6635CE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668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450" b="1" i="0">
                <a:solidFill>
                  <a:srgbClr val="FFFFFF"/>
                </a:solidFill>
              </a:defRPr>
            </a:pPr>
            <a:r>
              <a:rPr sz="3450" b="1" i="0">
                <a:solidFill>
                  <a:srgbClr val="FFFFFF"/>
                </a:solidFill>
              </a:rPr>
              <a:t>Finly gives AI the judgment; deterministic code keeps the keys.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3E047C-C651-462F-B7BB-1900FF2C6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1914525"/>
            <a:ext cx="6057900" cy="3448050"/>
          </a:xfrm>
          <a:prstGeom xmlns:a="http://schemas.openxmlformats.org/drawingml/2006/main" prst="roundRect">
            <a:avLst>
              <a:gd name="adj" fmla="val 3315"/>
            </a:avLst>
          </a:prstGeom>
          <a:solidFill xmlns:a="http://schemas.openxmlformats.org/drawingml/2006/main">
            <a:srgbClr val="F6F1E8"/>
          </a:solidFill>
          <a:ln xmlns:a="http://schemas.openxmlformats.org/drawingml/2006/main" w="9525">
            <a:solidFill>
              <a:srgbClr val="B9DFD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b4a12f75e54f7d"/>
          <a:stretch xmlns:a="http://schemas.openxmlformats.org/drawingml/2006/main"/>
        </p:blipFill>
        <p:spPr>
          <a:xfrm xmlns:a="http://schemas.openxmlformats.org/drawingml/2006/main">
            <a:off x="5620808" y="1962150"/>
            <a:ext cx="5960533" cy="3352800"/>
          </a:xfrm>
          <a:prstGeom xmlns:a="http://schemas.openxmlformats.org/drawingml/2006/main" prst="roundRect">
            <a:avLst>
              <a:gd name="adj" fmla="val 2273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20BEF0-0749-4BEB-BFD7-BEC34F30E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002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B9DFD2"/>
                </a:solidFill>
              </a:defRPr>
            </a:pPr>
            <a:r>
              <a:rPr sz="1350" b="1" i="0">
                <a:solidFill>
                  <a:srgbClr val="B9DFD2"/>
                </a:solidFill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31EDC0-AF9E-4DEA-AC18-DD495ED6A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0002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B9DFD2"/>
                </a:solidFill>
              </a:defRPr>
            </a:pPr>
            <a:r>
              <a:rPr sz="1200" b="1" i="0">
                <a:solidFill>
                  <a:srgbClr val="B9DFD2"/>
                </a:solidFill>
              </a:rPr>
              <a:t>MODEL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22410D-C8E7-49AF-8397-439EFABFA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324100"/>
            <a:ext cx="371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 i="0">
                <a:solidFill>
                  <a:srgbClr val="FFFFFF"/>
                </a:solidFill>
              </a:defRPr>
            </a:pPr>
            <a:r>
              <a:rPr sz="1950" b="1" i="0">
                <a:solidFill>
                  <a:srgbClr val="FFFFFF"/>
                </a:solidFill>
              </a:rPr>
              <a:t>Assess the evidence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90D7F8-4DA2-4587-8F26-E264AADA6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914650"/>
            <a:ext cx="342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62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7745F3-D325-4BD6-8DCD-C49CCB271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1051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F2C66D"/>
                </a:solidFill>
              </a:defRPr>
            </a:pPr>
            <a:r>
              <a:rPr sz="1350" b="1" i="0">
                <a:solidFill>
                  <a:srgbClr val="F2C66D"/>
                </a:solidFill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7035DA-CD99-41C0-8331-6B36B5072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1051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F2C66D"/>
                </a:solidFill>
              </a:defRPr>
            </a:pPr>
            <a:r>
              <a:rPr sz="1200" b="1" i="0">
                <a:solidFill>
                  <a:srgbClr val="F2C66D"/>
                </a:solidFill>
              </a:rPr>
              <a:t>CODE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DFCB27-9C9C-4B9A-B588-047BB2C3C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429000"/>
            <a:ext cx="371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 i="0">
                <a:solidFill>
                  <a:srgbClr val="FFFFFF"/>
                </a:solidFill>
              </a:defRPr>
            </a:pPr>
            <a:r>
              <a:rPr sz="1950" b="1" i="0">
                <a:solidFill>
                  <a:srgbClr val="FFFFFF"/>
                </a:solidFill>
              </a:rPr>
              <a:t>Aggregate, size, and build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C59150-B35C-41B7-B7E9-F3AB1C84C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19550"/>
            <a:ext cx="342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62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54748A5-68A6-4E70-831E-849541314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100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E56B5D"/>
                </a:solidFill>
              </a:defRPr>
            </a:pPr>
            <a:r>
              <a:rPr sz="1350" b="1" i="0">
                <a:solidFill>
                  <a:srgbClr val="E56B5D"/>
                </a:solidFill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9FF785-7140-45B0-AE39-3BE1299FF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2100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E56B5D"/>
                </a:solidFill>
              </a:defRPr>
            </a:pPr>
            <a:r>
              <a:rPr sz="1200" b="1" i="0">
                <a:solidFill>
                  <a:srgbClr val="E56B5D"/>
                </a:solidFill>
              </a:rPr>
              <a:t>GATE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66033A1-6057-426D-BC37-70C17862F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533900"/>
            <a:ext cx="371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 i="0">
                <a:solidFill>
                  <a:srgbClr val="FFFFFF"/>
                </a:solidFill>
              </a:defRPr>
            </a:pPr>
            <a:r>
              <a:rPr sz="1950" b="1" i="0">
                <a:solidFill>
                  <a:srgbClr val="FFFFFF"/>
                </a:solidFill>
              </a:rPr>
              <a:t>Send to Alpaca—or stop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C6946BC-AAC3-4AD4-8682-F9684ABF2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38800"/>
            <a:ext cx="457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D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44F9211-F719-4C29-B964-C6BD08E1F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0250"/>
            <a:ext cx="476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B9DFD2"/>
                </a:solidFill>
              </a:defRPr>
            </a:pPr>
            <a:r>
              <a:rPr sz="1800" b="1" i="0">
                <a:solidFill>
                  <a:srgbClr val="B9DFD2"/>
                </a:solidFill>
              </a:rPr>
              <a:t>The model may explain or veto. It never writes broker fields.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B8245A0-589A-4C9A-B5D0-6C173F903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AFC2C8"/>
                </a:solidFill>
              </a:defRPr>
            </a:pPr>
            <a:r>
              <a:rPr sz="825" b="1" i="0">
                <a:solidFill>
                  <a:srgbClr val="AFC2C8"/>
                </a:solidFill>
              </a:rPr>
              <a:t>FINLY  /  ALPACA AI TRADING AGENTS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A93BB78-B9AD-4940-90FB-110759208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 i="0">
                <a:solidFill>
                  <a:srgbClr val="AFC2C8"/>
                </a:solidFill>
              </a:defRPr>
            </a:pPr>
            <a:r>
              <a:rPr sz="825" b="1" i="0">
                <a:solidFill>
                  <a:srgbClr val="AFC2C8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58516368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C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8EBE4A3-7204-4EC2-8A3F-07E186938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2F7D68"/>
                </a:solidFill>
              </a:defRPr>
            </a:pPr>
            <a:r>
              <a:rPr sz="1125" b="1" i="0">
                <a:solidFill>
                  <a:srgbClr val="2F7D68"/>
                </a:solidFill>
              </a:rPr>
              <a:t>HISTORICAL REPLAY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794623-F7CF-4008-A1B8-523D5F57B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858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 i="0">
                <a:solidFill>
                  <a:srgbClr val="122A3E"/>
                </a:solidFill>
              </a:defRPr>
            </a:pPr>
            <a:r>
              <a:rPr sz="3300" b="1" i="0">
                <a:solidFill>
                  <a:srgbClr val="122A3E"/>
                </a:solidFill>
              </a:rPr>
              <a:t>$10,000 became $106,711—$38,629 ahead of SPY.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656229-A21D-4211-B203-BF070AE31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38275"/>
            <a:ext cx="762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627078"/>
                </a:solidFill>
              </a:defRPr>
            </a:pPr>
            <a:r>
              <a:rPr sz="1425" b="0" i="0">
                <a:solidFill>
                  <a:srgbClr val="627078"/>
                </a:solidFill>
              </a:rPr>
              <a:t>2013–2026 · identical starting capital · modeled 5 bp one-way costs</a:t>
            </a:r>
          </a:p>
        </p:txBody>
      </p:sp>
      <p:graphicFrame>
        <p:nvGraphicFramePr>
          <p:cNvPr id="19" name="Chart"/>
          <p:cNvGraphicFramePr/>
          <p:nvPr/>
        </p:nvGraphicFramePr>
        <p:xfrm>
          <a:off xmlns:a="http://schemas.openxmlformats.org/drawingml/2006/main" x="609600" y="1924050"/>
          <a:ext xmlns:a="http://schemas.openxmlformats.org/drawingml/2006/main" cx="8667750" cy="3048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b4f1b37f0214eb4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ABC9A7-21A7-4B0A-A1E1-398AE5F86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133600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2F7D68"/>
                </a:solidFill>
              </a:defRPr>
            </a:pPr>
            <a:r>
              <a:rPr sz="3000" b="1" i="0">
                <a:solidFill>
                  <a:srgbClr val="2F7D68"/>
                </a:solidFill>
              </a:rPr>
              <a:t>$106,711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610FFD-019E-47A9-AC6D-124EA8CDC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657475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627078"/>
                </a:solidFill>
              </a:defRPr>
            </a:pPr>
            <a:r>
              <a:rPr sz="1125" b="1" i="0">
                <a:solidFill>
                  <a:srgbClr val="627078"/>
                </a:solidFill>
              </a:rPr>
              <a:t>FINLY ENDING WEALTH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B0BD95-60B1-4284-AE8A-9B9D6AF74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181350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 i="0">
                <a:solidFill>
                  <a:srgbClr val="0B2942"/>
                </a:solidFill>
              </a:defRPr>
            </a:pPr>
            <a:r>
              <a:rPr sz="2700" b="1" i="0">
                <a:solidFill>
                  <a:srgbClr val="0B2942"/>
                </a:solidFill>
              </a:rPr>
              <a:t>$68,082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FCEF5C-6E42-496F-992A-F58284785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705225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627078"/>
                </a:solidFill>
              </a:defRPr>
            </a:pPr>
            <a:r>
              <a:rPr sz="1125" b="1" i="0">
                <a:solidFill>
                  <a:srgbClr val="627078"/>
                </a:solidFill>
              </a:rPr>
              <a:t>SPY ENDING WEALTH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EB9217B-6FD2-4DB8-A511-C5FCCEE10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229100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2F7D68"/>
                </a:solidFill>
              </a:defRPr>
            </a:pPr>
            <a:r>
              <a:rPr sz="2550" b="1" i="0">
                <a:solidFill>
                  <a:srgbClr val="2F7D68"/>
                </a:solidFill>
              </a:rPr>
              <a:t>+967.11%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B24A78-6E70-409E-84C2-3CD8E124E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752975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627078"/>
                </a:solidFill>
              </a:defRPr>
            </a:pPr>
            <a:r>
              <a:rPr sz="1125" b="1" i="0">
                <a:solidFill>
                  <a:srgbClr val="627078"/>
                </a:solidFill>
              </a:rPr>
              <a:t>FINLY TOTAL RETURN</a:t>
            </a:r>
          </a:p>
        </p:txBody>
      </p:sp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609600" y="5143500"/>
          <a:ext xmlns:a="http://schemas.openxmlformats.org/drawingml/2006/main" cx="8667750" cy="971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d8058deaa9941cd"/>
          </a:graphicData>
        </a:graphic>
      </p:graphicFrame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9030C3-9179-4F86-8BC2-19434DCFF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972050"/>
            <a:ext cx="114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627078"/>
                </a:solidFill>
              </a:defRPr>
            </a:pPr>
            <a:r>
              <a:rPr sz="900" b="1" i="0">
                <a:solidFill>
                  <a:srgbClr val="627078"/>
                </a:solidFill>
              </a:rPr>
              <a:t>DRAWDOWN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C6965B4-ACE3-4B88-85B5-369BB427D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476875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627078"/>
                </a:solidFill>
              </a:defRPr>
            </a:pPr>
            <a:r>
              <a:rPr sz="1200" b="0" i="0">
                <a:solidFill>
                  <a:srgbClr val="627078"/>
                </a:solidFill>
              </a:rPr>
              <a:t>Retrospective simulation; the live paper score is measured separately.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8CBEF47-0CED-408F-9CE0-EFDBEF6C8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627078"/>
                </a:solidFill>
              </a:defRPr>
            </a:pPr>
            <a:r>
              <a:rPr sz="825" b="1" i="0">
                <a:solidFill>
                  <a:srgbClr val="627078"/>
                </a:solidFill>
              </a:rPr>
              <a:t>FINLY  /  ALPACA AI TRADING AGENTS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10C5774-ECE2-46D7-8BCA-CB02AEADF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 i="0">
                <a:solidFill>
                  <a:srgbClr val="627078"/>
                </a:solidFill>
              </a:defRPr>
            </a:pPr>
            <a:r>
              <a:rPr sz="825" b="1" i="0">
                <a:solidFill>
                  <a:srgbClr val="627078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24266271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B294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301528F-B878-4644-8200-C836AF5C8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F2C66D"/>
                </a:solidFill>
              </a:defRPr>
            </a:pPr>
            <a:r>
              <a:rPr sz="1125" b="1" i="0">
                <a:solidFill>
                  <a:srgbClr val="F2C66D"/>
                </a:solidFill>
              </a:rPr>
              <a:t>OUT-OF-ERA STRESS TEST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26E673-FBA9-42EF-B529-D50A2D776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763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75" b="1" i="0">
                <a:solidFill>
                  <a:srgbClr val="FFFFFF"/>
                </a:solidFill>
              </a:defRPr>
            </a:pPr>
            <a:r>
              <a:rPr sz="3375" b="1" i="0">
                <a:solidFill>
                  <a:srgbClr val="FFFFFF"/>
                </a:solidFill>
              </a:rPr>
              <a:t>The edge survived 80 earlier years, 21 timing choices, and 5× higher costs.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DBCA6B-0401-4625-97AB-80C40F01B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95550"/>
            <a:ext cx="10287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71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6654FB-815A-4C26-ABBA-667DE35F3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00300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80A20C-317C-4177-A4D4-F77CDB093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2400300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F70C23-DE73-4BE1-9561-B6ABBF3A4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24150"/>
            <a:ext cx="76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F2C66D"/>
                </a:solidFill>
              </a:defRPr>
            </a:pPr>
            <a:r>
              <a:rPr sz="1425" b="1" i="0">
                <a:solidFill>
                  <a:srgbClr val="F2C66D"/>
                </a:solidFill>
              </a:rPr>
              <a:t>1927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6258A7-4704-48A0-887F-CA300962B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2724150"/>
            <a:ext cx="76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F2C66D"/>
                </a:solidFill>
              </a:defRPr>
            </a:pPr>
            <a:r>
              <a:rPr sz="1425" b="1" i="0">
                <a:solidFill>
                  <a:srgbClr val="F2C66D"/>
                </a:solidFill>
              </a:rPr>
              <a:t>2007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A0D3D4-60A6-4021-86D9-F32E17F64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133600"/>
            <a:ext cx="400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 i="0">
                <a:solidFill>
                  <a:srgbClr val="FFFFFF"/>
                </a:solidFill>
              </a:defRPr>
            </a:pPr>
            <a:r>
              <a:rPr sz="2250" b="1" i="0">
                <a:solidFill>
                  <a:srgbClr val="FFFFFF"/>
                </a:solidFill>
              </a:rPr>
              <a:t>21,218 public market days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F99225-F8A8-44F1-91D6-D015AE31B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52800"/>
            <a:ext cx="2476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B9DFD2"/>
                </a:solidFill>
              </a:defRPr>
            </a:pPr>
            <a:r>
              <a:rPr sz="3600" b="1" i="0">
                <a:solidFill>
                  <a:srgbClr val="B9DFD2"/>
                </a:solidFill>
              </a:rPr>
              <a:t>13.37%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910375-9B89-411F-BBBD-4E1F81914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76675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C4D4D8"/>
                </a:solidFill>
              </a:defRPr>
            </a:pPr>
            <a:r>
              <a:rPr sz="1125" b="1" i="0">
                <a:solidFill>
                  <a:srgbClr val="C4D4D8"/>
                </a:solidFill>
              </a:rPr>
              <a:t>FINLY ANNUALIZED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1CCDAF-B49D-40B8-A2B9-F601A36E2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28625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FFFFFF"/>
                </a:solidFill>
              </a:defRPr>
            </a:pPr>
            <a:r>
              <a:rPr sz="1650" b="0" i="0">
                <a:solidFill>
                  <a:srgbClr val="FFFFFF"/>
                </a:solidFill>
              </a:rPr>
              <a:t>vs 9.48% market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6035A4-9CDD-4649-BB9C-FEA216784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35280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F2C66D"/>
                </a:solidFill>
              </a:defRPr>
            </a:pPr>
            <a:r>
              <a:rPr sz="3600" b="1" i="0">
                <a:solidFill>
                  <a:srgbClr val="F2C66D"/>
                </a:solidFill>
              </a:rPr>
              <a:t>21 / 21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658737-2430-4657-BE2C-41FE61DF1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876675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C4D4D8"/>
                </a:solidFill>
              </a:defRPr>
            </a:pPr>
            <a:r>
              <a:rPr sz="1125" b="1" i="0">
                <a:solidFill>
                  <a:srgbClr val="C4D4D8"/>
                </a:solidFill>
              </a:rPr>
              <a:t>REBALANCE ANCHORS POSITIVE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F9C8B4-7756-47BF-9369-276112A31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3B8511-BCAA-4A34-85FB-46741E6DC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9175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3C1AF20-BE16-45F5-9278-1A5A9604C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3E4BC49-9DFC-4099-A690-A8C295607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7325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97EED7B-E810-40A9-B237-42A940FDF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C0F0E2D-A3F6-4A79-84F2-2CBE0426F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DEF817D-FA06-49C6-B6B0-7D6F8AB2E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92E0CA9-F8F0-487F-9FCD-C81CC3C0E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29D6617-C175-4A45-B92D-4685FF4F0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D7E1508-4CB4-4E66-9B6D-91FB08E0C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26AC59C-97B6-4299-806D-4CEF9A6D7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DA988EA-522E-4251-AE6A-7B62B0971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6101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691EC9F-A430-40FC-8215-E7AC3841B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9175" y="46101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0BD8186-9231-42C0-A951-397645C28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6101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0215F58-7BC1-4A43-A350-D20EBB1DA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7325" y="46101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89DF332-7F87-44E3-A2F8-743C3CE4C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46101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711B235-B83E-4054-9641-790D77632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46101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905AB18-F834-45BD-952F-65D1FE0D7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46101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CFF84D0-C141-46DE-A328-61AE0DCA4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46101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A3D4E51-974D-468D-9D77-AE9717593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6101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8630BC5-3ED3-466B-B91C-0F99FD985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46101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A9BC4D0-5866-4582-8BF0-3618643CB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352800"/>
            <a:ext cx="266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F2C66D"/>
                </a:solidFill>
              </a:defRPr>
            </a:pPr>
            <a:r>
              <a:rPr sz="3600" b="1" i="0">
                <a:solidFill>
                  <a:srgbClr val="F2C66D"/>
                </a:solidFill>
              </a:rPr>
              <a:t>+2.45 pp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5BD66E3-787C-4238-8D02-8F32428AD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876675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C4D4D8"/>
                </a:solidFill>
              </a:defRPr>
            </a:pPr>
            <a:r>
              <a:rPr sz="1125" b="1" i="0">
                <a:solidFill>
                  <a:srgbClr val="C4D4D8"/>
                </a:solidFill>
              </a:rPr>
              <a:t>EDGE AT 25 BP COSTS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3CFDCC7-86E3-4B30-ACDC-CAFFA3CC3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286250"/>
            <a:ext cx="276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FFFFFF"/>
                </a:solidFill>
              </a:defRPr>
            </a:pPr>
            <a:r>
              <a:rPr sz="1575" b="1" i="0">
                <a:solidFill>
                  <a:srgbClr val="FFFFFF"/>
                </a:solidFill>
              </a:rPr>
              <a:t>5 bp  →  10 bp  →  25 bp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1112C69-1E99-4047-B3A3-7BE6ECD52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724400"/>
            <a:ext cx="22098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6D87425-9171-4D58-9640-34FE6B6BC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724400"/>
            <a:ext cx="74295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DF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7E5B009-50C3-440F-B65B-7BD4E0864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71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868628A-DE28-45FE-8227-0691945A5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7850"/>
            <a:ext cx="1028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 i="0">
                <a:solidFill>
                  <a:srgbClr val="B9DFD2"/>
                </a:solidFill>
              </a:defRPr>
            </a:pPr>
            <a:r>
              <a:rPr sz="1950" b="1" i="0">
                <a:solidFill>
                  <a:srgbClr val="B9DFD2"/>
                </a:solidFill>
              </a:rPr>
              <a:t>Maximum drawdown was 16.31 percentage points shallower than the market proxy.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4B38CEC-0EF9-43AA-A025-3AD4CC9E1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AFC2C8"/>
                </a:solidFill>
              </a:defRPr>
            </a:pPr>
            <a:r>
              <a:rPr sz="825" b="1" i="0">
                <a:solidFill>
                  <a:srgbClr val="AFC2C8"/>
                </a:solidFill>
              </a:rPr>
              <a:t>FINLY  /  ALPACA AI TRADING AGENTS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B203196-66F5-4F77-A766-C96C576EF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 i="0">
                <a:solidFill>
                  <a:srgbClr val="AFC2C8"/>
                </a:solidFill>
              </a:defRPr>
            </a:pPr>
            <a:r>
              <a:rPr sz="825" b="1" i="0">
                <a:solidFill>
                  <a:srgbClr val="AFC2C8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66790574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C4FF3EE-4A9B-4141-9BC7-EA68AA774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2F7D68"/>
                </a:solidFill>
              </a:defRPr>
            </a:pPr>
            <a:r>
              <a:rPr sz="1125" b="1" i="0">
                <a:solidFill>
                  <a:srgbClr val="2F7D68"/>
                </a:solidFill>
              </a:rPr>
              <a:t>DEFINED-RISK OPTIONS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4FE4A2-12D6-4C50-ABDA-73CC8F428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572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450" b="1" i="0">
                <a:solidFill>
                  <a:srgbClr val="122A3E"/>
                </a:solidFill>
              </a:defRPr>
            </a:pPr>
            <a:r>
              <a:rPr sz="3450" b="1" i="0">
                <a:solidFill>
                  <a:srgbClr val="122A3E"/>
                </a:solidFill>
              </a:rPr>
              <a:t>Every options proposal arrives with its worst case already fixed.</a:t>
            </a:r>
          </a:p>
        </p:txBody>
      </p:sp>
      <p:graphicFrame>
        <p:nvGraphicFramePr>
          <p:cNvPr id="30" name="Chart"/>
          <p:cNvGraphicFramePr/>
          <p:nvPr/>
        </p:nvGraphicFramePr>
        <p:xfrm>
          <a:off xmlns:a="http://schemas.openxmlformats.org/drawingml/2006/main" x="609600" y="1924050"/>
          <a:ext xmlns:a="http://schemas.openxmlformats.org/drawingml/2006/main" cx="6191250" cy="33718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f6b2a1029444f31"/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CE1CB5-A1D1-46CC-89F5-622C37D6A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097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627078"/>
                </a:solidFill>
              </a:defRPr>
            </a:pPr>
            <a:r>
              <a:rPr sz="1050" b="1" i="0">
                <a:solidFill>
                  <a:srgbClr val="627078"/>
                </a:solidFill>
              </a:rPr>
              <a:t>PAYOFF AT EXPIRY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27D7AE-DB11-4227-AD17-E76A1551C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238375"/>
            <a:ext cx="1428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2F7D68"/>
                </a:solidFill>
              </a:defRPr>
            </a:pPr>
            <a:r>
              <a:rPr sz="2100" b="1" i="0">
                <a:solidFill>
                  <a:srgbClr val="2F7D68"/>
                </a:solidFill>
              </a:rPr>
              <a:t>+$634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C2EE17-7A7C-43BA-A120-5A356A0C5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4210050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E56B5D"/>
                </a:solidFill>
              </a:defRPr>
            </a:pPr>
            <a:r>
              <a:rPr sz="2100" b="1" i="0">
                <a:solidFill>
                  <a:srgbClr val="E56B5D"/>
                </a:solidFill>
              </a:rPr>
              <a:t>−$366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7F115C1-F85F-43B2-B9D3-7AA9A7703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847850"/>
            <a:ext cx="4343400" cy="3562350"/>
          </a:xfrm>
          <a:prstGeom xmlns:a="http://schemas.openxmlformats.org/drawingml/2006/main" prst="roundRect">
            <a:avLst>
              <a:gd name="adj" fmla="val 4278"/>
            </a:avLst>
          </a:prstGeom>
          <a:solidFill xmlns:a="http://schemas.openxmlformats.org/drawingml/2006/main">
            <a:srgbClr val="0B2942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AADCE6-D200-4288-8DBC-9C3DA4E48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114550"/>
            <a:ext cx="3638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B9DFD2"/>
                </a:solidFill>
              </a:defRPr>
            </a:pPr>
            <a:r>
              <a:rPr sz="1200" b="1" i="0">
                <a:solidFill>
                  <a:srgbClr val="B9DFD2"/>
                </a:solidFill>
              </a:rPr>
              <a:t>ALPACA-COMPATIBLE PAPER ORDER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155A31-4A54-429C-90AE-175416B1E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571750"/>
            <a:ext cx="342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FFFFFF"/>
                </a:solidFill>
              </a:defRPr>
            </a:pPr>
            <a:r>
              <a:rPr sz="2250" b="1" i="0">
                <a:solidFill>
                  <a:srgbClr val="FFFFFF"/>
                </a:solidFill>
              </a:rPr>
              <a:t>SPY bear-put vertical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E2DA9F-641A-42DA-9505-F5A9CAECC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143250"/>
            <a:ext cx="857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F2C66D"/>
                </a:solidFill>
              </a:defRPr>
            </a:pPr>
            <a:r>
              <a:rPr sz="1200" b="1" i="0">
                <a:solidFill>
                  <a:srgbClr val="F2C66D"/>
                </a:solidFill>
              </a:rPr>
              <a:t>BUY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30FD5F-0FCA-476A-A67D-E8180D9D9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1432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FFFFFF"/>
                </a:solidFill>
              </a:defRPr>
            </a:pPr>
            <a:r>
              <a:rPr sz="1650" b="1" i="0">
                <a:solidFill>
                  <a:srgbClr val="FFFFFF"/>
                </a:solidFill>
              </a:rPr>
              <a:t>1 × SPY 560 PUT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CA42407-61E4-4203-B0E1-FFE28D457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676650"/>
            <a:ext cx="857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E56B5D"/>
                </a:solidFill>
              </a:defRPr>
            </a:pPr>
            <a:r>
              <a:rPr sz="1200" b="1" i="0">
                <a:solidFill>
                  <a:srgbClr val="E56B5D"/>
                </a:solidFill>
              </a:rPr>
              <a:t>SELL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23B3915-4FB3-4FDB-AE70-FFB07E5CA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6766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FFFFFF"/>
                </a:solidFill>
              </a:defRPr>
            </a:pPr>
            <a:r>
              <a:rPr sz="1650" b="1" i="0">
                <a:solidFill>
                  <a:srgbClr val="FFFFFF"/>
                </a:solidFill>
              </a:rPr>
              <a:t>1 × SPY 550 PUT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AA0EDD8-909D-4542-8FFC-D891C6771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210050"/>
            <a:ext cx="857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F2C66D"/>
                </a:solidFill>
              </a:defRPr>
            </a:pPr>
            <a:r>
              <a:rPr sz="1200" b="1" i="0">
                <a:solidFill>
                  <a:srgbClr val="F2C66D"/>
                </a:solidFill>
              </a:rPr>
              <a:t>LIMIT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64DF0A-3655-4E29-8C09-EE3AA595B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2100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FFFFFF"/>
                </a:solidFill>
              </a:defRPr>
            </a:pPr>
            <a:r>
              <a:rPr sz="1650" b="1" i="0">
                <a:solidFill>
                  <a:srgbClr val="FFFFFF"/>
                </a:solidFill>
              </a:rPr>
              <a:t>$3.66 debit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52B1891-0C4A-4FD8-9195-7730CF243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762500"/>
            <a:ext cx="333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71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7E32058-C83E-4E8C-8A1E-69C3B0F2F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933950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C4D4D8"/>
                </a:solidFill>
              </a:defRPr>
            </a:pPr>
            <a:r>
              <a:rPr sz="1275" b="0" i="0">
                <a:solidFill>
                  <a:srgbClr val="C4D4D8"/>
                </a:solidFill>
              </a:rPr>
              <a:t>Exact fields · one contract · synthetic fixture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991E830-B8DF-4C98-A51F-01B7D0D5F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543550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 i="0">
                <a:solidFill>
                  <a:srgbClr val="E56B5D"/>
                </a:solidFill>
              </a:defRPr>
            </a:pPr>
            <a:r>
              <a:rPr sz="2850" b="1" i="0">
                <a:solidFill>
                  <a:srgbClr val="E56B5D"/>
                </a:solidFill>
              </a:rPr>
              <a:t>$366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317DB3F-0EA4-45E0-9DBD-A6C52ADAB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067425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627078"/>
                </a:solidFill>
              </a:defRPr>
            </a:pPr>
            <a:r>
              <a:rPr sz="1125" b="1" i="0">
                <a:solidFill>
                  <a:srgbClr val="627078"/>
                </a:solidFill>
              </a:rPr>
              <a:t>MAXIMUM LOSS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7069486-1E32-471A-AA49-829C299FE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5543550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 i="0">
                <a:solidFill>
                  <a:srgbClr val="2F7D68"/>
                </a:solidFill>
              </a:defRPr>
            </a:pPr>
            <a:r>
              <a:rPr sz="2850" b="1" i="0">
                <a:solidFill>
                  <a:srgbClr val="2F7D68"/>
                </a:solidFill>
              </a:rPr>
              <a:t>$634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BD41692-C6B5-4486-AB24-01AE968F2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6067425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627078"/>
                </a:solidFill>
              </a:defRPr>
            </a:pPr>
            <a:r>
              <a:rPr sz="1125" b="1" i="0">
                <a:solidFill>
                  <a:srgbClr val="627078"/>
                </a:solidFill>
              </a:rPr>
              <a:t>MAXIMUM GAIN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8C21F02-DFBA-48D1-BE1F-20AF48416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543550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 i="0">
                <a:solidFill>
                  <a:srgbClr val="2F7D68"/>
                </a:solidFill>
              </a:defRPr>
            </a:pPr>
            <a:r>
              <a:rPr sz="2700" b="1" i="0">
                <a:solidFill>
                  <a:srgbClr val="2F7D68"/>
                </a:solidFill>
              </a:rPr>
              <a:t>4 / 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34EED3B-B22C-4FEF-A35C-6277B2065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606742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627078"/>
                </a:solidFill>
              </a:defRPr>
            </a:pPr>
            <a:r>
              <a:rPr sz="1125" b="1" i="0">
                <a:solidFill>
                  <a:srgbClr val="627078"/>
                </a:solidFill>
              </a:rPr>
              <a:t>SOURCE REMOVALS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F72D6C7-FC21-4E68-A1C9-918E74AFB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543550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 i="0">
                <a:solidFill>
                  <a:srgbClr val="2F7D68"/>
                </a:solidFill>
              </a:defRPr>
            </a:pPr>
            <a:r>
              <a:rPr sz="2700" b="1" i="0">
                <a:solidFill>
                  <a:srgbClr val="2F7D68"/>
                </a:solidFill>
              </a:rPr>
              <a:t>32 / 32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436CF08-B68F-4CD4-BB2D-2EFF7E1E2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6067425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627078"/>
                </a:solidFill>
              </a:defRPr>
            </a:pPr>
            <a:r>
              <a:rPr sz="1125" b="1" i="0">
                <a:solidFill>
                  <a:srgbClr val="627078"/>
                </a:solidFill>
              </a:rPr>
              <a:t>INPUT SHOCKS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A66D2C2-48A0-490B-8218-D31DB9B61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627078"/>
                </a:solidFill>
              </a:defRPr>
            </a:pPr>
            <a:r>
              <a:rPr sz="825" b="1" i="0">
                <a:solidFill>
                  <a:srgbClr val="627078"/>
                </a:solidFill>
              </a:rPr>
              <a:t>FINLY  /  ALPACA AI TRADING AGENTS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B9B1B7E-E346-408D-8E6A-600C9EE60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 i="0">
                <a:solidFill>
                  <a:srgbClr val="627078"/>
                </a:solidFill>
              </a:defRPr>
            </a:pPr>
            <a:r>
              <a:rPr sz="825" b="1" i="0">
                <a:solidFill>
                  <a:srgbClr val="627078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212663029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B294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E457593-A105-496C-8424-E4E34F5DD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B9DFD2"/>
                </a:solidFill>
              </a:defRPr>
            </a:pPr>
            <a:r>
              <a:rPr sz="1125" b="1" i="0">
                <a:solidFill>
                  <a:srgbClr val="B9DFD2"/>
                </a:solidFill>
              </a:rPr>
              <a:t>SEPARATE FORWARD SCORE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233DD7-F43A-45F6-8525-61A87EB73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858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 i="0">
                <a:solidFill>
                  <a:srgbClr val="FFFFFF"/>
                </a:solidFill>
              </a:defRPr>
            </a:pPr>
            <a:r>
              <a:rPr sz="3300" b="1" i="0">
                <a:solidFill>
                  <a:srgbClr val="FFFFFF"/>
                </a:solidFill>
              </a:rPr>
              <a:t>A human froze the allocation; the $100,000 account supplies the forward score.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BFCDC7-2FF6-4C19-B4FC-AA4F18E6D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1990725"/>
            <a:ext cx="7200900" cy="4076700"/>
          </a:xfrm>
          <a:prstGeom xmlns:a="http://schemas.openxmlformats.org/drawingml/2006/main" prst="roundRect">
            <a:avLst>
              <a:gd name="adj" fmla="val 2804"/>
            </a:avLst>
          </a:prstGeom>
          <a:solidFill xmlns:a="http://schemas.openxmlformats.org/drawingml/2006/main">
            <a:srgbClr val="F6F1E8"/>
          </a:solidFill>
          <a:ln xmlns:a="http://schemas.openxmlformats.org/drawingml/2006/main" w="9525">
            <a:solidFill>
              <a:srgbClr val="B9DFD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82b2f397624c71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9600" y="2038350"/>
            <a:ext cx="7105650" cy="3981450"/>
          </a:xfrm>
          <a:prstGeom xmlns:a="http://schemas.openxmlformats.org/drawingml/2006/main" prst="roundRect">
            <a:avLst>
              <a:gd name="adj" fmla="val 1914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C52991-282A-40FF-9FAD-BB8F05FE4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1526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1A8014-41CF-4EE6-B5AD-3C9EA2C8A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6275" y="2238375"/>
            <a:ext cx="266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 i="0">
                <a:solidFill>
                  <a:srgbClr val="0B2942"/>
                </a:solidFill>
              </a:defRPr>
            </a:pPr>
            <a:r>
              <a:rPr sz="1650" b="1" i="0">
                <a:solidFill>
                  <a:srgbClr val="0B2942"/>
                </a:solidFill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E3E26E-BE4D-4FAF-A218-7392D5607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13360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F2C66D"/>
                </a:solidFill>
              </a:defRPr>
            </a:pPr>
            <a:r>
              <a:rPr sz="1125" b="1" i="0">
                <a:solidFill>
                  <a:srgbClr val="F2C66D"/>
                </a:solidFill>
              </a:rPr>
              <a:t>REPLAY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0FA74C-33D9-4C7E-AB16-EA0E19906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419350"/>
            <a:ext cx="2571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FFFFFF"/>
                </a:solidFill>
              </a:defRPr>
            </a:pPr>
            <a:r>
              <a:rPr sz="1875" b="1" i="0">
                <a:solidFill>
                  <a:srgbClr val="FFFFFF"/>
                </a:solidFill>
              </a:rPr>
              <a:t>$10k → $106,711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6E7FCD-5AC1-45EC-8058-6FFD71094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575" y="2743200"/>
            <a:ext cx="285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71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2A3913-7D4B-456B-8952-8137938C4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2766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DF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C57921-3FD7-4B94-A959-40FFCE2B0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6275" y="3362325"/>
            <a:ext cx="266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 i="0">
                <a:solidFill>
                  <a:srgbClr val="0B2942"/>
                </a:solidFill>
              </a:defRPr>
            </a:pPr>
            <a:r>
              <a:rPr sz="1650" b="1" i="0">
                <a:solidFill>
                  <a:srgbClr val="0B2942"/>
                </a:solidFill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C562C8-8AA5-4479-936C-6B370CAC6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2575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B9DFD2"/>
                </a:solidFill>
              </a:defRPr>
            </a:pPr>
            <a:r>
              <a:rPr sz="1125" b="1" i="0">
                <a:solidFill>
                  <a:srgbClr val="B9DFD2"/>
                </a:solidFill>
              </a:rPr>
              <a:t>FREEZE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F8A40DC-026E-4005-B05A-D0316E185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543300"/>
            <a:ext cx="2571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FFFFFF"/>
                </a:solidFill>
              </a:defRPr>
            </a:pPr>
            <a:r>
              <a:rPr sz="1875" b="1" i="0">
                <a:solidFill>
                  <a:srgbClr val="FFFFFF"/>
                </a:solidFill>
              </a:rPr>
              <a:t>Human-selected rule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057C529-73D3-4153-A800-D0B366BDA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575" y="3867150"/>
            <a:ext cx="285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71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6FF0917-339E-4398-9F41-CD7B11E86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4005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6B5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16FABBC-4904-408A-BE8F-015F563D5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6275" y="4486275"/>
            <a:ext cx="266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 i="0">
                <a:solidFill>
                  <a:srgbClr val="0B2942"/>
                </a:solidFill>
              </a:defRPr>
            </a:pPr>
            <a:r>
              <a:rPr sz="1650" b="1" i="0">
                <a:solidFill>
                  <a:srgbClr val="0B2942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31F8856-8982-4618-A470-7AFEA7DEB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438150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E56B5D"/>
                </a:solidFill>
              </a:defRPr>
            </a:pPr>
            <a:r>
              <a:rPr sz="1125" b="1" i="0">
                <a:solidFill>
                  <a:srgbClr val="E56B5D"/>
                </a:solidFill>
              </a:rPr>
              <a:t>SCORE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EBC16F0-2460-4F1D-8A8C-83C8F0EA3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4667250"/>
            <a:ext cx="2571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FFFFFF"/>
                </a:solidFill>
              </a:defRPr>
            </a:pPr>
            <a:r>
              <a:rPr sz="1875" b="1" i="0">
                <a:solidFill>
                  <a:srgbClr val="FFFFFF"/>
                </a:solidFill>
              </a:rPr>
              <a:t>$100,000 baseline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8BB7FA8-130B-4983-A85F-ED1EAD43B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657850"/>
            <a:ext cx="327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D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2EC1877-BAFC-4803-9C8E-C13C58502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810250"/>
            <a:ext cx="3276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B9DFD2"/>
                </a:solidFill>
              </a:defRPr>
            </a:pPr>
            <a:r>
              <a:rPr sz="1500" b="1" i="0">
                <a:solidFill>
                  <a:srgbClr val="B9DFD2"/>
                </a:solidFill>
              </a:rPr>
              <a:t>Historical upside nominates the test. The account—not the backtest—settles it.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8675861-668C-4683-B46E-C99DBE904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AFC2C8"/>
                </a:solidFill>
              </a:defRPr>
            </a:pPr>
            <a:r>
              <a:rPr sz="825" b="1" i="0">
                <a:solidFill>
                  <a:srgbClr val="AFC2C8"/>
                </a:solidFill>
              </a:rPr>
              <a:t>FINLY  /  ALPACA AI TRADING AGENTS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14A79A1-EB7A-45C0-A352-24E5367FC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 i="0">
                <a:solidFill>
                  <a:srgbClr val="AFC2C8"/>
                </a:solidFill>
              </a:defRPr>
            </a:pPr>
            <a:r>
              <a:rPr sz="825" b="1" i="0">
                <a:solidFill>
                  <a:srgbClr val="AFC2C8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91843234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E3F0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3B4E912-35D3-4E38-92C2-E600F6B6E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2F7D68"/>
                </a:solidFill>
              </a:defRPr>
            </a:pPr>
            <a:r>
              <a:rPr sz="1125" b="1" i="0">
                <a:solidFill>
                  <a:srgbClr val="2F7D68"/>
                </a:solidFill>
              </a:rPr>
              <a:t>OPERATIONAL PROOF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472ADE-BBC9-4960-BD60-B1AA7D150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525" b="1" i="0">
                <a:solidFill>
                  <a:srgbClr val="122A3E"/>
                </a:solidFill>
              </a:defRPr>
            </a:pPr>
            <a:r>
              <a:rPr sz="3525" b="1" i="0">
                <a:solidFill>
                  <a:srgbClr val="122A3E"/>
                </a:solidFill>
              </a:rPr>
              <a:t>Finly can fail closed, restart, and prove what happened.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3109FB-18C1-4B65-8482-55AE01650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825" y="1933575"/>
            <a:ext cx="5791200" cy="3295650"/>
          </a:xfrm>
          <a:prstGeom xmlns:a="http://schemas.openxmlformats.org/drawingml/2006/main" prst="roundRect">
            <a:avLst>
              <a:gd name="adj" fmla="val 346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6B5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17f49c35064948"/>
          <a:stretch xmlns:a="http://schemas.openxmlformats.org/drawingml/2006/main"/>
        </p:blipFill>
        <p:spPr>
          <a:xfrm xmlns:a="http://schemas.openxmlformats.org/drawingml/2006/main">
            <a:off x="5889625" y="1981200"/>
            <a:ext cx="5689600" cy="3200400"/>
          </a:xfrm>
          <a:prstGeom xmlns:a="http://schemas.openxmlformats.org/drawingml/2006/main" prst="roundRect">
            <a:avLst>
              <a:gd name="adj" fmla="val 2381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4482E1-FA24-4311-8F2C-D23093754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19300"/>
            <a:ext cx="1143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7D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6F50A9-5E37-4158-9D3C-CAF2D6952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00250"/>
            <a:ext cx="1695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2F7D68"/>
                </a:solidFill>
              </a:defRPr>
            </a:pPr>
            <a:r>
              <a:rPr sz="1050" b="1" i="0">
                <a:solidFill>
                  <a:srgbClr val="2F7D68"/>
                </a:solidFill>
              </a:rPr>
              <a:t>PREPARE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6D19EA-2465-4270-8680-3371CB563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24790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22A3E"/>
                </a:solidFill>
              </a:defRPr>
            </a:pPr>
            <a:r>
              <a:rPr sz="1800" b="1" i="0">
                <a:solidFill>
                  <a:srgbClr val="122A3E"/>
                </a:solidFill>
              </a:rPr>
              <a:t>Build exact intent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688306-D5C4-48FA-B8B4-9F5540EBB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00350"/>
            <a:ext cx="1143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DD5C13-DD1D-4627-B3CB-40E8C81FD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781300"/>
            <a:ext cx="1695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F2C66D"/>
                </a:solidFill>
              </a:defRPr>
            </a:pPr>
            <a:r>
              <a:rPr sz="1050" b="1" i="0">
                <a:solidFill>
                  <a:srgbClr val="F2C66D"/>
                </a:solidFill>
              </a:rPr>
              <a:t>CHECK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104EB4-DB09-42A4-A844-6FEF78557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02895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22A3E"/>
                </a:solidFill>
              </a:defRPr>
            </a:pPr>
            <a:r>
              <a:rPr sz="1800" b="1" i="0">
                <a:solidFill>
                  <a:srgbClr val="122A3E"/>
                </a:solidFill>
              </a:rPr>
              <a:t>Challenge evidence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4FBF41-9848-44E7-87FE-60C6B2BED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581400"/>
            <a:ext cx="1143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29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9448A3-4C1C-4CCE-B549-6B0645E9F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562350"/>
            <a:ext cx="1695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0B2942"/>
                </a:solidFill>
              </a:defRPr>
            </a:pPr>
            <a:r>
              <a:rPr sz="1050" b="1" i="0">
                <a:solidFill>
                  <a:srgbClr val="0B2942"/>
                </a:solidFill>
              </a:rPr>
              <a:t>READ BACK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DB7BF10-E89F-45D1-AA14-9B84264AB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1000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22A3E"/>
                </a:solidFill>
              </a:defRPr>
            </a:pPr>
            <a:r>
              <a:rPr sz="1800" b="1" i="0">
                <a:solidFill>
                  <a:srgbClr val="122A3E"/>
                </a:solidFill>
              </a:rPr>
              <a:t>Reconcile with broker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79E6C8F-4C5D-43A4-B932-8B773021E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362450"/>
            <a:ext cx="1143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56B5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64613DE-AA80-4981-BF2C-B1AF6C087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343400"/>
            <a:ext cx="1695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E56B5D"/>
                </a:solidFill>
              </a:defRPr>
            </a:pPr>
            <a:r>
              <a:rPr sz="1050" b="1" i="0">
                <a:solidFill>
                  <a:srgbClr val="E56B5D"/>
                </a:solidFill>
              </a:rPr>
              <a:t>RECEIPT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263BB7B-2AB8-4B51-B91F-FFFF42FBC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59105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22A3E"/>
                </a:solidFill>
              </a:defRPr>
            </a:pPr>
            <a:r>
              <a:rPr sz="1800" b="1" i="0">
                <a:solidFill>
                  <a:srgbClr val="122A3E"/>
                </a:solidFill>
              </a:rPr>
              <a:t>Publish what happened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5CAA465-425B-428C-8702-9BFA5C86A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0"/>
            <a:ext cx="4667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4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05F705D-7DCB-43D4-83AC-AB12F39FD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43550"/>
            <a:ext cx="1047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450" b="1" i="0">
                <a:solidFill>
                  <a:srgbClr val="2F7D68"/>
                </a:solidFill>
              </a:defRPr>
            </a:pPr>
            <a:r>
              <a:rPr sz="3450" b="1" i="0">
                <a:solidFill>
                  <a:srgbClr val="2F7D68"/>
                </a:solidFill>
              </a:rPr>
              <a:t>806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D6AF2F4-554D-43BC-B7D3-BBC0985B8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6388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627078"/>
                </a:solidFill>
              </a:defRPr>
            </a:pPr>
            <a:r>
              <a:rPr sz="1650" b="1" i="0">
                <a:solidFill>
                  <a:srgbClr val="627078"/>
                </a:solidFill>
              </a:rPr>
              <a:t>tests discovered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6B0917F-9C2D-487F-B00C-43F095062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22A3E"/>
                </a:solidFill>
              </a:defRPr>
            </a:pPr>
            <a:r>
              <a:rPr sz="1575" b="1" i="0">
                <a:solidFill>
                  <a:srgbClr val="122A3E"/>
                </a:solidFill>
              </a:rPr>
              <a:t>804 passed  ·  0 failed  ·  2 skipped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115AB2B-9A5B-4420-8568-F8EFB0A41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5657850"/>
            <a:ext cx="5695950" cy="6096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0B29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6B44732-3F1A-4A72-BCA7-7338F0E92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819775"/>
            <a:ext cx="527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 i="0">
                <a:solidFill>
                  <a:srgbClr val="FFFFFF"/>
                </a:solidFill>
              </a:defRPr>
            </a:pPr>
            <a:r>
              <a:rPr sz="1575" b="1" i="0">
                <a:solidFill>
                  <a:srgbClr val="FFFFFF"/>
                </a:solidFill>
              </a:rPr>
              <a:t>Conflict → NO TRADE → $0 authorized loss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C63CB04-50B3-41FD-AD79-EFF8856DA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627078"/>
                </a:solidFill>
              </a:defRPr>
            </a:pPr>
            <a:r>
              <a:rPr sz="825" b="1" i="0">
                <a:solidFill>
                  <a:srgbClr val="627078"/>
                </a:solidFill>
              </a:rPr>
              <a:t>FINLY  /  ALPACA AI TRADING AGENTS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B419C2C-86D4-425C-AB84-94DE27DA3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 i="0">
                <a:solidFill>
                  <a:srgbClr val="627078"/>
                </a:solidFill>
              </a:defRPr>
            </a:pPr>
            <a:r>
              <a:rPr sz="825" b="1" i="0">
                <a:solidFill>
                  <a:srgbClr val="627078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44334788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ECC102A-1E77-415A-A909-C2B74301D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2F7D68"/>
                </a:solidFill>
              </a:defRPr>
            </a:pPr>
            <a:r>
              <a:rPr sz="1125" b="1" i="0">
                <a:solidFill>
                  <a:srgbClr val="2F7D68"/>
                </a:solidFill>
              </a:rPr>
              <a:t>JUDGE THE PRODUCT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367EB4-A5E4-45BC-A35B-E1EB2AF27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7524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050" b="1" i="0">
                <a:solidFill>
                  <a:srgbClr val="122A3E"/>
                </a:solidFill>
              </a:defRPr>
            </a:pPr>
            <a:r>
              <a:rPr sz="4050" b="1" i="0">
                <a:solidFill>
                  <a:srgbClr val="122A3E"/>
                </a:solidFill>
              </a:rPr>
              <a:t>Judge the live system—not the slide deck.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5283A0-4942-44AF-8884-E51CD307E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7429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0" i="0">
                <a:solidFill>
                  <a:srgbClr val="627078"/>
                </a:solidFill>
              </a:defRPr>
            </a:pPr>
            <a:r>
              <a:rPr sz="2100" b="0" i="0">
                <a:solidFill>
                  <a:srgbClr val="627078"/>
                </a:solidFill>
              </a:rPr>
              <a:t>Watch the account. Challenge a decision. Inspect the code.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1D78B1-430E-4D78-AE59-F46D446E9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666750"/>
            <a:ext cx="3105150" cy="3105150"/>
          </a:xfrm>
          <a:prstGeom xmlns:a="http://schemas.openxmlformats.org/drawingml/2006/main" prst="roundRect">
            <a:avLst>
              <a:gd name="adj" fmla="val 490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F7D6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b51087ea5d4713"/>
          <a:stretch xmlns:a="http://schemas.openxmlformats.org/drawingml/2006/main"/>
        </p:blipFill>
        <p:spPr>
          <a:xfrm xmlns:a="http://schemas.openxmlformats.org/drawingml/2006/main">
            <a:off x="8743950" y="933450"/>
            <a:ext cx="2571750" cy="25717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E333BA-1941-4791-AE17-7774DC842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905250"/>
            <a:ext cx="2514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2F7D68"/>
                </a:solidFill>
              </a:defRPr>
            </a:pPr>
            <a:r>
              <a:rPr sz="1125" b="1" i="0">
                <a:solidFill>
                  <a:srgbClr val="2F7D68"/>
                </a:solidFill>
              </a:rPr>
              <a:t>SCAN TO OPEN FINLY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5B3DA1-31D9-4362-AAD7-2AE5C1A90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289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2F7D68"/>
                </a:solidFill>
              </a:defRPr>
            </a:pPr>
            <a:r>
              <a:rPr sz="1350" b="1" i="0">
                <a:solidFill>
                  <a:srgbClr val="2F7D68"/>
                </a:solidFill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884AC6-CB6E-40B0-B998-660DBDF4D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2895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2F7D68"/>
                </a:solidFill>
              </a:defRPr>
            </a:pPr>
            <a:r>
              <a:rPr sz="1350" b="1" i="0">
                <a:solidFill>
                  <a:srgbClr val="2F7D68"/>
                </a:solidFill>
              </a:rPr>
              <a:t>WATCH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21A7A8E-3A12-48E2-9825-546D5A9C6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009900"/>
            <a:ext cx="4476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122A3E"/>
                </a:solidFill>
              </a:defRPr>
            </a:pPr>
            <a:r>
              <a:rPr sz="1875" b="1" i="0">
                <a:solidFill>
                  <a:srgbClr val="122A3E"/>
                </a:solidFill>
              </a:rPr>
              <a:t>Live $100k account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B9F69C-4709-432D-8E9E-535836426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05200"/>
            <a:ext cx="6076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4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C03F40-11B8-4B4B-9F6F-C4D148311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81000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E56B5D"/>
                </a:solidFill>
              </a:defRPr>
            </a:pPr>
            <a:r>
              <a:rPr sz="1350" b="1" i="0">
                <a:solidFill>
                  <a:srgbClr val="E56B5D"/>
                </a:solidFill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991EC54-9618-40A0-AB06-A8A35F6D7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81000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E56B5D"/>
                </a:solidFill>
              </a:defRPr>
            </a:pPr>
            <a:r>
              <a:rPr sz="1350" b="1" i="0">
                <a:solidFill>
                  <a:srgbClr val="E56B5D"/>
                </a:solidFill>
              </a:rPr>
              <a:t>CHALLENGE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3FA46A9-79BC-4236-9016-217D39AA4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790950"/>
            <a:ext cx="4476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122A3E"/>
                </a:solidFill>
              </a:defRPr>
            </a:pPr>
            <a:r>
              <a:rPr sz="1875" b="1" i="0">
                <a:solidFill>
                  <a:srgbClr val="122A3E"/>
                </a:solidFill>
              </a:rPr>
              <a:t>Aligned vs conflicting evidence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3C6FE1A-7306-4CB8-9362-A198175BF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86250"/>
            <a:ext cx="6076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4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769114E-0F4E-444E-9159-6C39BDCC7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910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0B2942"/>
                </a:solidFill>
              </a:defRPr>
            </a:pPr>
            <a:r>
              <a:rPr sz="1350" b="1" i="0">
                <a:solidFill>
                  <a:srgbClr val="0B2942"/>
                </a:solidFill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B1718A6-D9D9-438E-9941-E258EDCF4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59105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0B2942"/>
                </a:solidFill>
              </a:defRPr>
            </a:pPr>
            <a:r>
              <a:rPr sz="1350" b="1" i="0">
                <a:solidFill>
                  <a:srgbClr val="0B2942"/>
                </a:solidFill>
              </a:rPr>
              <a:t>INSPECT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3513863-9463-4B41-BA54-2826C472B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572000"/>
            <a:ext cx="4476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122A3E"/>
                </a:solidFill>
              </a:defRPr>
            </a:pPr>
            <a:r>
              <a:rPr sz="1875" b="1" i="0">
                <a:solidFill>
                  <a:srgbClr val="122A3E"/>
                </a:solidFill>
              </a:rPr>
              <a:t>Code, tests, and receipts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F1B4D06-3D6D-4BA3-9CFF-56F467B7A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785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D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30E67C1-337B-4199-B509-D47CEF948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48350"/>
            <a:ext cx="8858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2F7D68"/>
                </a:solidFill>
              </a:defRPr>
            </a:pPr>
            <a:r>
              <a:rPr sz="2250" b="1" i="0">
                <a:solidFill>
                  <a:srgbClr val="2F7D68"/>
                </a:solidFill>
              </a:rPr>
              <a:t>Historical upside. Forward score. Every decision inspectable.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4067B7B-961D-4FD1-9733-8CBB7D8CB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514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0B2942"/>
                </a:solidFill>
              </a:defRPr>
            </a:pPr>
            <a:r>
              <a:rPr sz="1500" b="1" i="0">
                <a:solidFill>
                  <a:srgbClr val="0B2942"/>
                </a:solidFill>
              </a:rPr>
              <a:t>owlsowo.github.io/finly-bot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04B9FB5-2AE0-4275-9E81-5CB6363EB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6267450"/>
            <a:ext cx="3867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0" i="0">
                <a:solidFill>
                  <a:srgbClr val="627078"/>
                </a:solidFill>
              </a:defRPr>
            </a:pPr>
            <a:r>
              <a:rPr sz="1350" b="0" i="0">
                <a:solidFill>
                  <a:srgbClr val="627078"/>
                </a:solidFill>
              </a:rPr>
              <a:t>Bruce Wen  ·  bwen412@brandeis.edu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493A4FB-2D23-4FD5-9C88-E8310ABFF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627078"/>
                </a:solidFill>
              </a:defRPr>
            </a:pPr>
            <a:r>
              <a:rPr sz="825" b="1" i="0">
                <a:solidFill>
                  <a:srgbClr val="627078"/>
                </a:solidFill>
              </a:rPr>
              <a:t>FINLY  /  ALPACA AI TRADING AGENTS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16A3C1A-6E7E-4625-BF9E-D0BDEB8E5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 i="0">
                <a:solidFill>
                  <a:srgbClr val="627078"/>
                </a:solidFill>
              </a:defRPr>
            </a:pPr>
            <a:r>
              <a:rPr sz="825" b="1" i="0">
                <a:solidFill>
                  <a:srgbClr val="627078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20481439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2026-08-31T11:39:46.0810000Z</dcterms:created>
  <dcterms:modified xsi:type="dcterms:W3CDTF">2026-08-31T11:39:46.0810000Z</dcterms:modified>
</coreProperties>
</file>