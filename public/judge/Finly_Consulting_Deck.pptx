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ad4fa001e64547" /><Relationship Type="http://schemas.openxmlformats.org/officeDocument/2006/relationships/extended-properties" Target="/docProps/app.xml" Id="Rfb03ccab66ac4ff4" /><Relationship Type="http://schemas.openxmlformats.org/officeDocument/2006/relationships/officeDocument" Target="/ppt/presentation.xml" Id="R86d9397472fb42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f63338e50d4236"/>
  </p:sldMasterIdLst>
  <p:notesMasterIdLst>
    <p:notesMasterId xmlns:r="http://schemas.openxmlformats.org/officeDocument/2006/relationships" r:id="Ra55b269d55ef4a10"/>
  </p:notesMasterIdLst>
  <p:sldIdLst>
    <p:sldId xmlns:r="http://schemas.openxmlformats.org/officeDocument/2006/relationships" id="256" r:id="Rb2b042d87e32448e"/>
    <p:sldId xmlns:r="http://schemas.openxmlformats.org/officeDocument/2006/relationships" id="257" r:id="R9b126e4ee5794190"/>
    <p:sldId xmlns:r="http://schemas.openxmlformats.org/officeDocument/2006/relationships" id="258" r:id="Rc39788cd08fd477a"/>
    <p:sldId xmlns:r="http://schemas.openxmlformats.org/officeDocument/2006/relationships" id="259" r:id="R251f5b792933464e"/>
    <p:sldId xmlns:r="http://schemas.openxmlformats.org/officeDocument/2006/relationships" id="260" r:id="R0ee004892aa84e3f"/>
    <p:sldId xmlns:r="http://schemas.openxmlformats.org/officeDocument/2006/relationships" id="261" r:id="Rdfa8ffa751a34c9c"/>
    <p:sldId xmlns:r="http://schemas.openxmlformats.org/officeDocument/2006/relationships" id="262" r:id="R7a15360dbc124267"/>
    <p:sldId xmlns:r="http://schemas.openxmlformats.org/officeDocument/2006/relationships" id="263" r:id="R725788fca7324427"/>
    <p:sldId xmlns:r="http://schemas.openxmlformats.org/officeDocument/2006/relationships" id="264" r:id="R2d7ba16eb8c947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4bc6de3bd846a1" /><Relationship Type="http://schemas.openxmlformats.org/officeDocument/2006/relationships/slideMaster" Target="/ppt/slideMasters/slideMaster1.xml" Id="Ra8f63338e50d4236" /><Relationship Type="http://schemas.openxmlformats.org/officeDocument/2006/relationships/notesMaster" Target="/ppt/notesMasters/notesMaster1.xml" Id="Ra55b269d55ef4a10" /><Relationship Type="http://schemas.openxmlformats.org/officeDocument/2006/relationships/presProps" Target="/ppt/presProps.xml" Id="R50a5c423e2834463" /><Relationship Type="http://schemas.openxmlformats.org/officeDocument/2006/relationships/tableStyles" Target="/ppt/tableStyles.xml" Id="R939df7909e6d4f85" /><Relationship Type="http://schemas.openxmlformats.org/officeDocument/2006/relationships/slide" Target="/ppt/slides/slide1.xml" Id="Rb2b042d87e32448e" /><Relationship Type="http://schemas.openxmlformats.org/officeDocument/2006/relationships/slide" Target="/ppt/slides/slide2.xml" Id="R9b126e4ee5794190" /><Relationship Type="http://schemas.openxmlformats.org/officeDocument/2006/relationships/slide" Target="/ppt/slides/slide3.xml" Id="Rc39788cd08fd477a" /><Relationship Type="http://schemas.openxmlformats.org/officeDocument/2006/relationships/slide" Target="/ppt/slides/slide4.xml" Id="R251f5b792933464e" /><Relationship Type="http://schemas.openxmlformats.org/officeDocument/2006/relationships/slide" Target="/ppt/slides/slide5.xml" Id="R0ee004892aa84e3f" /><Relationship Type="http://schemas.openxmlformats.org/officeDocument/2006/relationships/slide" Target="/ppt/slides/slide6.xml" Id="Rdfa8ffa751a34c9c" /><Relationship Type="http://schemas.openxmlformats.org/officeDocument/2006/relationships/slide" Target="/ppt/slides/slide7.xml" Id="R7a15360dbc124267" /><Relationship Type="http://schemas.openxmlformats.org/officeDocument/2006/relationships/slide" Target="/ppt/slides/slide8.xml" Id="R725788fca7324427" /><Relationship Type="http://schemas.openxmlformats.org/officeDocument/2006/relationships/slide" Target="/ppt/slides/slide9.xml" Id="R2d7ba16eb8c947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6a28bd625f40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0dd4367bce406b" /><Relationship Type="http://schemas.openxmlformats.org/officeDocument/2006/relationships/notesMaster" Target="/ppt/notesMasters/notesMaster1.xml" Id="R467449d0eb4d4c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9ecdf0d7754e79" /><Relationship Type="http://schemas.openxmlformats.org/officeDocument/2006/relationships/notesMaster" Target="/ppt/notesMasters/notesMaster1.xml" Id="Red84d19d6d7d42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f0e1499bad4552" /><Relationship Type="http://schemas.openxmlformats.org/officeDocument/2006/relationships/notesMaster" Target="/ppt/notesMasters/notesMaster1.xml" Id="R46956beffb3645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e6610ca0b24701" /><Relationship Type="http://schemas.openxmlformats.org/officeDocument/2006/relationships/notesMaster" Target="/ppt/notesMasters/notesMaster1.xml" Id="Rc6609be93a644b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67801bb9a44f6a" /><Relationship Type="http://schemas.openxmlformats.org/officeDocument/2006/relationships/notesMaster" Target="/ppt/notesMasters/notesMaster1.xml" Id="R713345a10cb64a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8a3f4d2ab24324" /><Relationship Type="http://schemas.openxmlformats.org/officeDocument/2006/relationships/notesMaster" Target="/ppt/notesMasters/notesMaster1.xml" Id="Rd812c126784d46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121d60d0174e32" /><Relationship Type="http://schemas.openxmlformats.org/officeDocument/2006/relationships/notesMaster" Target="/ppt/notesMasters/notesMaster1.xml" Id="Rdaea7f81410c44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9fc425af3c4974" /><Relationship Type="http://schemas.openxmlformats.org/officeDocument/2006/relationships/notesMaster" Target="/ppt/notesMasters/notesMaster1.xml" Id="R89aac3e1b95840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86aacc48ec42b2" /><Relationship Type="http://schemas.openxmlformats.org/officeDocument/2006/relationships/notesMaster" Target="/ppt/notesMasters/notesMaster1.xml" Id="R7d6b06ea0ede46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execution-realism result and claim boundaries: public/data/submission_claims_lock.json</a:t>
            </a:r>
          </a:p>
          <a:p xmlns:a="http://schemas.openxmlformats.org/drawingml/2006/main">
            <a:r>
              <a:t>- The 15.39% result is a consumed adjusted-OHLC replay, not a broker fill, options P&amp;L, alpha claim, forecast, or proof of future profit.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Sections 1 and 3.</a:t>
            </a:r>
          </a:p>
          <a:p xmlns:a="http://schemas.openxmlformats.org/drawingml/2006/main">
            <a:r>
              <a:t>- Authority and claim boundaries: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Project-owned product capture from the current local Finly build.</a:t>
            </a:r>
          </a:p>
          <a:p xmlns:a="http://schemas.openxmlformats.org/drawingml/2006/main">
            <a:r>
              <a:t>- Exact values and boundaries: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controlled-delegation architecture and checked fixture.</a:t>
            </a:r>
          </a:p>
          <a:p xmlns:a="http://schemas.openxmlformats.org/drawingml/2006/main">
            <a:r>
              <a:t>- Exact checked results: public/data/submission_claims_lock.json.</a:t>
            </a:r>
          </a:p>
          <a:p xmlns:a="http://schemas.openxmlformats.org/drawingml/2006/main">
            <a:r>
              <a:t>- Alpaca order interface: https://docs.alpaca.markets/reference/postorder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Execution-realism artifact: research/output/equity_execution_realism.json.</a:t>
            </a:r>
          </a:p>
          <a:p xmlns:a="http://schemas.openxmlformats.org/drawingml/2006/main">
            <a:r>
              <a:t>- Exact safe claim and underperformance boundary: public/data/submission_claims_lock.json.</a:t>
            </a:r>
          </a:p>
          <a:p xmlns:a="http://schemas.openxmlformats.org/drawingml/2006/main">
            <a:r>
              <a:t>- Result is a consumed retrospective theoretical ledger, not a broker fill, options P&amp;L, alpha claim, forecast, or proof of future profit.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Small-account shadow and execution assumptions: research/output/equity_execution_realism.json.</a:t>
            </a:r>
          </a:p>
          <a:p xmlns:a="http://schemas.openxmlformats.org/drawingml/2006/main">
            <a:r>
              <a:t>- Exact summary and assurance boundary: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Locked G4 series: public/data/g4_wealth_drawdown.json.</a:t>
            </a:r>
          </a:p>
          <a:p xmlns:a="http://schemas.openxmlformats.org/drawingml/2006/main">
            <a:r>
              <a:t>- Promotion-gate evidence: public/data/submission_claims_lock.json.</a:t>
            </a:r>
          </a:p>
          <a:p xmlns:a="http://schemas.openxmlformats.org/drawingml/2006/main">
            <a:r>
              <a:t>- White (2000) and Bailey &amp; López de Prado (2014) motivate the multiple-testing and deflated-Sharpe controls cited in the technical paper.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Attempt 114 publication receipt: research/prospective_attempt114/publication_receipts/a10099fa3931c9ef6d40446486744dde72f1efb5538515d03c015cd7c1a87fbb.json.</a:t>
            </a:r>
          </a:p>
          <a:p xmlns:a="http://schemas.openxmlformats.org/drawingml/2006/main">
            <a:r>
              <a:t>- Public commit: https://github.com/owlsowo/finly-bot/commit/38a999cdf5db98f3a831d137b799ff8a48248e71</a:t>
            </a:r>
          </a:p>
          <a:p xmlns:a="http://schemas.openxmlformats.org/drawingml/2006/main">
            <a:r>
              <a:t>- Successful workflow: https://github.com/owlsowo/finly-bot/actions/runs/33293038439</a:t>
            </a:r>
          </a:p>
          <a:p xmlns:a="http://schemas.openxmlformats.org/drawingml/2006/main">
            <a:r>
              <a:t>- Exact safe claim and current zero-observation boundary: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Official Alpaca AI Trading Agents Hackathon judging criteria: P&amp;L Performance, Technology Implementation, Creativity &amp; Originality, and Presentation &amp; Execution.</a:t>
            </a:r>
          </a:p>
          <a:p xmlns:a="http://schemas.openxmlformats.org/drawingml/2006/main">
            <a:r>
              <a:t>- Event page: https://lablab.ai/ai-hackathons/alpaca-ai-trading-agents-hackathon</a:t>
            </a:r>
          </a:p>
          <a:p xmlns:a="http://schemas.openxmlformats.org/drawingml/2006/main">
            <a:r>
              <a:t>- Finly claim registry: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6522afa4f047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ab02909af44dab" /><Relationship Type="http://schemas.openxmlformats.org/officeDocument/2006/relationships/slideLayout" Target="/ppt/slideLayouts/slideLayout1.xml" Id="R45985b5cd8e141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985b5cd8e141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a794217a24cd9" /><Relationship Type="http://schemas.openxmlformats.org/officeDocument/2006/relationships/image" Target="/ppt/media/image.png" Id="Rbc076ac866194267" /><Relationship Type="http://schemas.openxmlformats.org/officeDocument/2006/relationships/notesSlide" Target="/ppt/notesSlides/notesSlide1.xml" Id="Re7cab0086fad4e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da4a6934a4717" /><Relationship Type="http://schemas.openxmlformats.org/officeDocument/2006/relationships/notesSlide" Target="/ppt/notesSlides/notesSlide2.xml" Id="R02fe911d95af4d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8bfe32e194edb" /><Relationship Type="http://schemas.openxmlformats.org/officeDocument/2006/relationships/image" Target="/ppt/media/image2.png" Id="Rf0cfd92d5216419f" /><Relationship Type="http://schemas.openxmlformats.org/officeDocument/2006/relationships/notesSlide" Target="/ppt/notesSlides/notesSlide3.xml" Id="Rc81887a820254f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a9edaf30444c7" /><Relationship Type="http://schemas.openxmlformats.org/officeDocument/2006/relationships/notesSlide" Target="/ppt/notesSlides/notesSlide4.xml" Id="Rf0bf40d9380242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024eb10dc48bf" /><Relationship Type="http://schemas.openxmlformats.org/officeDocument/2006/relationships/chart" Target="/ppt/slides/charts/chart1.xml" Id="R9653b2ff1fc24fa1" /><Relationship Type="http://schemas.openxmlformats.org/officeDocument/2006/relationships/notesSlide" Target="/ppt/notesSlides/notesSlide5.xml" Id="R195fcde512af41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589986ddf4cd3" /><Relationship Type="http://schemas.openxmlformats.org/officeDocument/2006/relationships/notesSlide" Target="/ppt/notesSlides/notesSlide6.xml" Id="Rb37e9bbbef9543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aff7e2c27480b" /><Relationship Type="http://schemas.openxmlformats.org/officeDocument/2006/relationships/image" Target="/ppt/media/image3.png" Id="R64eca75dba9943b4" /><Relationship Type="http://schemas.openxmlformats.org/officeDocument/2006/relationships/notesSlide" Target="/ppt/notesSlides/notesSlide7.xml" Id="Rc3a767e8763244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c68385ead429a" /><Relationship Type="http://schemas.openxmlformats.org/officeDocument/2006/relationships/notesSlide" Target="/ppt/notesSlides/notesSlide8.xml" Id="Ra5798acf8be945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b2810dd0a4d37" /><Relationship Type="http://schemas.openxmlformats.org/officeDocument/2006/relationships/notesSlide" Target="/ppt/notesSlides/notesSlide9.xml" Id="Re9ee42e5f48d420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4"/>
              <c:pt idx="0">
                <c:v>1 bp</c:v>
              </c:pt>
              <c:pt idx="1">
                <c:v>5 bp</c:v>
              </c:pt>
              <c:pt idx="2">
                <c:v>10 bp</c:v>
              </c:pt>
              <c:pt idx="3">
                <c:v>25 bp</c:v>
              </c:pt>
            </c:strLit>
          </c:cat>
          <c:val>
            <c:numLit>
              <c:formatCode>General</c:formatCode>
              <c:ptCount val="4"/>
              <c:pt idx="0">
                <c:v>16.38</c:v>
              </c:pt>
              <c:pt idx="1">
                <c:v>15.39</c:v>
              </c:pt>
              <c:pt idx="2">
                <c:v>14.16</c:v>
              </c:pt>
              <c:pt idx="3">
                <c:v>10.56</c:v>
              </c:pt>
            </c:numLit>
          </c:val>
        </c:ser>
        <c:ser>
          <c:idx val="1"/>
          <c:order val="1"/>
          <c:tx>
            <c:v>SPY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4"/>
              <c:pt idx="0">
                <c:v>1 bp</c:v>
              </c:pt>
              <c:pt idx="1">
                <c:v>5 bp</c:v>
              </c:pt>
              <c:pt idx="2">
                <c:v>10 bp</c:v>
              </c:pt>
              <c:pt idx="3">
                <c:v>25 bp</c:v>
              </c:pt>
            </c:strLit>
          </c:cat>
          <c:val>
            <c:numLit>
              <c:formatCode>General</c:formatCode>
              <c:ptCount val="4"/>
              <c:pt idx="0">
                <c:v>33.52</c:v>
              </c:pt>
              <c:pt idx="1">
                <c:v>33.52</c:v>
              </c:pt>
              <c:pt idx="2">
                <c:v>33.52</c:v>
              </c:pt>
              <c:pt idx="3">
                <c:v>33.52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22C9880-3A0B-4F26-AA95-C95F5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248C3DC2-F98F-4CEE-A552-C475C5F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76ac866194267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E15E145B-4F5F-4E95-B953-E08E1B6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FCF25974-2D4F-41BB-85F1-CE3EED06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EXECUTION-REALISTIC CONTROLLED DELEGATION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9641E07-BDA1-4DB8-8BAA-B4AFDC62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Positive after next-open execution.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Still honest about what is unproven.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D20EF-645D-4631-B907-549998F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241564D-F365-40AD-A1A8-CAB32AC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Finly returned 15.39% across 415 consumed sessions at next-open fills and five basis points per traded leg. Deterministic code—not an AI model—owns exposure, order fields, maximum loss, and permission to trade.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6AB0F580-F8D9-41B0-923C-302F8E7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· Brandeis University · Alpaca AI Trading Agents Hackathon</a:t>
            </a:r>
          </a:p>
        </p:txBody>
      </p:sp>
    </p:spTree>
    <p:extLst>
      <p:ext uri="{BB962C8B-B14F-4D97-AF65-F5344CB8AC3E}">
        <p14:creationId xmlns:p14="http://schemas.microsoft.com/office/powerpoint/2010/main" val="166730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C85F84AF-3AE5-47FF-9159-2617424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DESIGN PROBLEM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1A2BC0BA-597C-4341-92A9-BC796E4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Most trading agents collapse judgment, sizing, and execution into one opaque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A8C8F-5921-4140-9E10-567349E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14F45D7-26EB-4FA8-9497-55AE51D0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9EC0F7A2-60FF-4DB5-9004-CFC5600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79EAB827-B5F9-413D-883F-4ABBE27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TYPICAL AGENT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E3D35E06-AD6E-40E9-A2D0-EF0AEC5C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persuasive answer becomes an order.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D792C21C-7BCE-4E85-9D53-107016E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The same probabilistic component interprets evidence, chooses direction, sizes risk, writes order fields, and explains itself after the fact.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433B7D72-ED8D-48F2-ABF3-5AFB03E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8F3BB22D-FE36-4FB1-A84B-0C4DCD5D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1B7BCB26-B790-4ECB-B06C-1C801CB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Interpretation can inform capital without controlling it.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34158FE7-2D0B-434B-BDD9-7BE3AF7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The model may score bounded evidence, explain uncertainty, or veto. Deterministic code owns exposure, costs, option structure, order fields, and the final permit decision.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0E003D14-42F9-4F6F-9D35-D06B6E5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Finly’s edge is not a larger forecast. It is a smaller, testable trust boundary.</a:t>
            </a:r>
          </a:p>
        </p:txBody>
      </p:sp>
    </p:spTree>
    <p:extLst>
      <p:ext uri="{BB962C8B-B14F-4D97-AF65-F5344CB8AC3E}">
        <p14:creationId xmlns:p14="http://schemas.microsoft.com/office/powerpoint/2010/main" val="11463389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21DF212B-9426-4EAC-AF38-BB6EDAB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PRODUCT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640ACDAF-7F29-4E0F-9032-427BEF86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Judges can inspect the evidence instead of taking a demo’s word for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400CE-DECB-449E-94B7-44DF780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6910DE1-CC24-4C14-A559-5CF03228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06BB7286-6D5E-477C-9C8F-459E813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AD6F12C5-BA9F-4C8E-9A78-A2D9F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fd92d5216419f"/>
          <a:srcRect xmlns:a="http://schemas.openxmlformats.org/drawingml/2006/main" l="0" t="9897" r="0" b="9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F6AB06B1-682C-48E8-A8AF-E5E1AB32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VISIBLE ON THE SITE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43C106F4-DBC2-4152-8762-7035B6BD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+15.39%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948EBC0F-C929-4FFA-83B0-4BD2E82F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NEXT-OPEN · 5 BP PER LEG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C1C5A3EF-9B08-41FB-A4DB-87F77267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415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8B17000F-D172-473D-9522-EC2CDA2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CONSUMED SESSIONS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91443F7C-8DBD-4B48-B4C6-18A6494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+10.56%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0DC14BDB-8EA2-47A5-9701-5A63D6A9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AT 25 BP PER LEG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C644FD5-C4ED-4870-BD5C-48CD053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same page states that SPY returned 33.52% and that the result is not a broker fill, options P&amp;L, alpha claim, or forecast.</a:t>
            </a:r>
          </a:p>
        </p:txBody>
      </p:sp>
    </p:spTree>
    <p:extLst>
      <p:ext uri="{BB962C8B-B14F-4D97-AF65-F5344CB8AC3E}">
        <p14:creationId xmlns:p14="http://schemas.microsoft.com/office/powerpoint/2010/main" val="8113267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4BC9A4DF-F985-41AE-A3E6-DDBC1A3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CONTROLLED DELEGATION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B98CD0C5-7E10-48F0-8298-1C79F41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model can interpret evidence; only deterministic code can authorize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C655D-1B42-47E1-AAC4-5203CA7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D56BCC69-8EF8-4F20-8342-3813CD3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1265285-EB2D-4C8E-A336-FB08A3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DED89C55-F40C-4B52-A35A-DD03C96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CF96F154-6B1A-42EA-888E-DDD7BD5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57A9596F-5B2D-4D8B-A7B0-64B1D4A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2FC33-B45F-4FAE-BA8E-B15CD9B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54AD01EA-87B8-44F3-B1D7-138C86A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Four labeled families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F7DB0A09-FFF7-4A1A-9F20-475DEFFF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ED7DA5B-93C8-435B-86ED-FBFFE78B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0AC187DA-8354-4417-B330-5626C7A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AD90F80F-A9EE-4246-944E-4500BB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2A6EE-24BA-4174-957D-69487AB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34EA93AE-AA48-4F31-BD90-938584D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Scores + rationale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42464B6-AD68-4B34-9AA0-EA9CB5CE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F4670263-D6C2-4EE8-968A-D76FDA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0B9CE17A-54BE-477B-ACBA-0D0471F7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ED4EF59E-75A7-416D-AB08-5A544293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Aggregate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E25B9-148F-4EF5-BAAE-FC7B3A5D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55C404D-273A-4498-BC41-1E6F7BEB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derives intent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B1F5D8ED-6C2E-44C8-B89F-2DF43E69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F66A42CD-911C-4E07-A308-2AF8DB58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E55D988C-85E6-4AF9-9415-881F494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D103949-4A08-47D2-A402-9598BDD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Compile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E805D-7CE4-4CCD-83AD-9B2C2E0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71F69B2A-BF19-4019-9E48-20437BEC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owns order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9B56AFD5-AD83-4E0C-8B56-BE8A0F6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DC1FC783-3035-4E1E-8F45-00A61CF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C3027CCF-F734-4438-A49D-A4B00C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B569BFBD-934B-42DE-A472-A13E237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Challenge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9F60D-70AF-4719-BDCD-F5A94EA4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4206C489-D47C-4B1C-8652-2747E3A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Removals + shocks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331B85BC-D874-4EDC-849B-936A4C30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4C1137DB-126D-4F04-952C-28713786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6C7D2476-922B-4454-872C-1615365C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C5FCCCB-A801-454B-BD09-DC3CD8F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Decide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600F38-CD89-43AF-A505-7A5A7B3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0ABD450B-FCAA-42B4-9031-3749CF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PERMIT / NO_TRADE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2F1EA-48E2-4C68-84DC-D355AC9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08944F6-8B6D-466C-A232-EA632799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15F0B9A-545C-4878-9A2F-5CF6427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EXACT MAX LOSS IN CHECKED FIXTURE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992BE769-08D8-41B9-8C08-B2C437F8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2947D287-5D0F-4CC2-99F5-323C5E6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SOURCE-REMOVAL CHALLENGES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1FD2E1E0-566E-43FF-A0E6-5FF4944D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5E124255-A864-4507-BBE7-34D307FA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 CHALLENGES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344E76A-3DBE-4EF8-89BC-6B3FA8A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Any mismatch returns NO_TRADE; the model never writes the Alpaca payload.</a:t>
            </a:r>
          </a:p>
        </p:txBody>
      </p:sp>
    </p:spTree>
    <p:extLst>
      <p:ext uri="{BB962C8B-B14F-4D97-AF65-F5344CB8AC3E}">
        <p14:creationId xmlns:p14="http://schemas.microsoft.com/office/powerpoint/2010/main" val="16332096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7E480406-DF41-4FD9-84C4-3C56AA1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EXECUTION REALISM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6B52253-BF74-42FF-BE53-C3F4715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Returns stayed positive through 25 bp per leg; SPY still won on raw return.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6D16-5637-4F6C-86D6-AF61763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E81FA44-5D19-4315-8FFB-5BF73C4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3C0BC03A-4B70-4CF1-9AF3-0E8C7CB5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53b2ff1fc24fa1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0D87039A-C649-477F-8202-3E3A95F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WHAT SURVIVED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6C90C027-268A-43C4-81F6-697E776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+15.39%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153A2317-C549-45EA-98AF-856F182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NEXT-OPEN · 5 BP PER LEG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B83C2E9B-B006-4876-B8FF-C1806B1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−5.45%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95D6EEC2-E7F2-4426-8412-F9FF4B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MAXIMUM DRAWDOWN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86B060C8-018E-4E4B-9978-8FB36D1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+10.56%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8E8F9E5-0716-499E-9F89-4E583278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AT 25 BP PER LEG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B2A0F37A-CCAF-47D6-8F0B-AC6DB2A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Consumed 2025-01-02 to 2026-08-28 · 415 sessions · adjusted OHLC · fractional next-open DAY-order assumption. SPY returned 33.52% on the same adjusted path.</a:t>
            </a:r>
          </a:p>
        </p:txBody>
      </p:sp>
    </p:spTree>
    <p:extLst>
      <p:ext uri="{BB962C8B-B14F-4D97-AF65-F5344CB8AC3E}">
        <p14:creationId xmlns:p14="http://schemas.microsoft.com/office/powerpoint/2010/main" val="15008238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9B081491-0B9F-4F4F-ACD5-8D39FA7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SMALL-ACCOUNT FEASIBILITY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E694FA-1336-4208-967E-4D184C9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$300 shadow ended at $351.88 without rounding tiny adjustments into fake fills.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1A30-E373-4C32-869B-36307ED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252132A0-5F3D-4190-9277-720B566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ECEDF512-E7C1-4E86-A7FC-3FE3DC5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687147D2-4564-4170-A2ED-E395A95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STARTING EQUITY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D7BDECB9-BBFC-4112-8538-3802683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$300.00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795DC0C7-1D98-4952-A5E1-10E1E118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1F0BDD7C-6C26-4AB8-8749-E9EE592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ENDING EQUITY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40F5DFB1-BD6A-4113-AB35-DED73FAE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$351.88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BE95903A-D252-4D0C-B8C1-4E9F303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+17.29% modeled total return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671AF-4A7B-4FCE-BA19-46ED6853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4A025178-3887-418C-A637-F89A4AB1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$1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D15A2B91-48D2-41E1-AECC-A7473C9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MINIMUM ORDER NOTIONAL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67B0CC0B-E078-4CB0-9BC2-3840118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$0.70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5F8F19C1-EC5D-483E-9525-D621739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SELL-DAY FEE PROXY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6F2C6B57-12A8-44AE-AD88-E5075F9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46CFCFA7-DA3F-4490-BC33-21A7BFF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SUB-MINIMUM ORDERS SKIPPED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CB9B2EF6-214E-40B5-ABCC-1008A57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Sell-first fractional preview · nine-decimal truncation · one-basis-point traded-leg cost · adjusted-OHLC shadow. Tests affordability and order mechanics; not an Alpaca fill or a promise of future profit.</a:t>
            </a:r>
          </a:p>
        </p:txBody>
      </p:sp>
    </p:spTree>
    <p:extLst>
      <p:ext uri="{BB962C8B-B14F-4D97-AF65-F5344CB8AC3E}">
        <p14:creationId xmlns:p14="http://schemas.microsoft.com/office/powerpoint/2010/main" val="4314509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91CD53B7-7006-45C2-8E09-6A96B7F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RESEARCH DISCIPLINE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7B831A81-2532-4F92-9476-109FAAB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Finly rejected the backtest that looked best—and kept the weaker-looking production policy.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1FB71-E9CA-474A-ACE6-0DF62C88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3A9C5AA-D371-4102-A4F7-F8C8246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4104CD74-A88C-4B4A-9948-43BD49D9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ca75dba9943b4"/>
          <a:stretch xmlns:a="http://schemas.openxmlformats.org/drawingml/2006/main"/>
        </p:blipFill>
        <p:spPr>
          <a:xfrm xmlns:a="http://schemas.openxmlformats.org/drawingml/2006/main">
            <a:off x="790575" y="1962150"/>
            <a:ext cx="5943600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6C2E9469-9F04-4E4B-B7B1-15165EE1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REJECTED SHADOW · G4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6140C90B-F6E2-4F5A-9D7A-C0E770C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18.97%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8711865F-1E09-49BA-AAC9-BEF06409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annualized vs. SPY 15.11%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5E8C9-9388-498C-9CDA-810D048F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4AB50270-B500-4566-90E1-06DBFC06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Deflated Sharpe probability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786A3FFC-2BDC-49E8-99B3-BACECE6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3.75%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12EC0D1-2D84-47FD-82BC-1C85998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10F41-597F-4F6F-98AB-81149D1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F20744CC-9B2E-42ED-A717-26ED54A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Worst familywise p-value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6B096C11-9DC3-4617-9A71-A5B14812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0.3718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AF9503B9-644C-4621-A838-9DC44C8E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AF9E-4418-4A63-A405-90080075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94A441AC-F9D7-4A71-A85E-E10B2CB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3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Static growth-control independence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540C9D07-4164-433E-944E-295B789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Unsupported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186C7C87-C3EB-400F-BFEE-305C02D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FCFCC-CD31-4787-94D8-3929FCB1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17DA852F-A18C-4A1B-8D1D-D454900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Authenticated source overlap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B8F37ED9-2EB3-469D-B66C-45BC900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Not passed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0343F385-B74C-43C8-A4FA-A6185B0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35C69F1D-BF4D-4BFD-988C-CFFC6EA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G4 remains a selected-after-history descriptive shadow. It is not the production policy and never received authority to trade.</a:t>
            </a:r>
          </a:p>
        </p:txBody>
      </p:sp>
    </p:spTree>
    <p:extLst>
      <p:ext uri="{BB962C8B-B14F-4D97-AF65-F5344CB8AC3E}">
        <p14:creationId xmlns:p14="http://schemas.microsoft.com/office/powerpoint/2010/main" val="4496447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6ACF7A3F-C5A1-4AE3-8DF2-0910E9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FORWARD PROOF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0BF2187E-DD90-444B-BBDC-68977FAD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Attempt 114 turns the next profitability claim into a pre-committed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ECCC5-1FED-40D8-BB28-608D943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E1E39969-1921-4C18-89E3-02726A2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E316E011-31FD-43AE-9852-5216AC4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F35D3F03-5F0A-421E-A684-5AAC28EB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PUBLIC BEFORE THE FIRST SIGNAL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91E7975-DD57-4745-95B4-5D31DE9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protocol and executable runtime are already frozen.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2E5D9F72-DFB3-40D6-B90B-4F0478E5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 successful public GitHub workflow observed the exact bytes before the exclusive deadline. The rule set forbids skipped sessions, replacement windows, backfill, optional stopping, and a repeat confirmatory test.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35B69-DC3A-473D-9A0B-1647389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B4D66D95-E9E8-45A4-BA66-D12DCBFB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17/17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8B327E9-A557-4FE1-980B-48AD4D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RUNTIME-BOUND FILES MATCHED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6E9651B-DAA4-4DFB-88CC-F93D02A6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23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1F9A1FDF-56E0-4A20-9EF6-84CC43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FIXED PUBLIC GET CHECKS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F3808D7B-05B0-4899-86BA-8FCD7DFF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254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7A86783B-6107-4828-A484-CB293479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TIMELY SIGNAL ANCHORS REQUIRED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9E7B3311-BCE3-46B5-ABF1-8BD4AC3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252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43C443A3-B990-4AEC-83DF-C7F4E9D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RECONCILED SETTLEMENTS REQUIRED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30097F05-6D04-4EC5-AA09-9BCA795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FB63EABB-AB7B-4EF2-9FEB-63AB2ACC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4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TODAY: 0 anchors · 0 settlements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Performance inference and broker mutation remain disabled.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20B72F92-15F5-4E2E-A8E4-9AA3322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GitHub provides a public platform record—not an independent cryptographic timestamp, provider-origin proof, broker fill, or profitability result.</a:t>
            </a:r>
          </a:p>
        </p:txBody>
      </p:sp>
    </p:spTree>
    <p:extLst>
      <p:ext uri="{BB962C8B-B14F-4D97-AF65-F5344CB8AC3E}">
        <p14:creationId xmlns:p14="http://schemas.microsoft.com/office/powerpoint/2010/main" val="120778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AF51A8D4-1333-46A3-8C5B-8378621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WHY FINLY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D2B0582-AD28-4ED6-B290-C0F5299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gives judges evidence they can verify—and a future claim they can falsify.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A2D4A-BBA8-4EB6-B401-1B56159B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D5239F40-3BC0-4566-81E1-F3FAC752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B780CA56-943C-4899-8E59-0F50C8F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7C12A42D-4E7C-416F-9A9C-2CAFAA1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D49B9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49B91"/>
                </a:solidFill>
                <a:latin typeface="Arial"/>
                <a:ea typeface="Arial"/>
                <a:cs typeface="Arial"/>
              </a:rPr>
              <a:t>P&amp;L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52C1-FF4D-4B30-BEFC-AAA773A4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B9225463-DA23-4473-93E1-E13FCB66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+15.39% at next-open fills and 5 bp per leg; +10.56% at 25 bp. SPY returned +33.52%.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256C4D86-D7C0-4CE6-9695-BD3B540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TECHNOLOGY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B092-0A09-4491-8D0E-A9B7C5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AA00CAF5-8E4A-4BB8-8047-B213573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 implemented authority boundary keeps models away from exposure, order fields, maximum loss, and broker permission.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45842F15-702B-4340-B3D1-7151BF89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ORIGINALITY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6925F-EB7E-47F0-BC87-BB93BE9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97B9F06E-8B70-42B9-92EE-7CB2045E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 makes correction, rejection, and NO_TRADE observable product behavior—not a disclaimer added after the trade.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EA5F4AA3-B32B-4EDB-A2D6-0C9F3ACD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FORWARD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143B9-2D5A-43FC-94D8-28453DD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C322C23B-406F-40A1-B5EA-72A2BE3F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Attempt 114 freezes 17 runtime files and requires 254 anchors plus 252 reconciled settlements before inference.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DCEE1D7-D104-4C34-A622-0181A2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proposition is simple: let AI interpret more, authorize less, and earn every stronger profitability claim in public.</a:t>
            </a:r>
          </a:p>
        </p:txBody>
      </p:sp>
    </p:spTree>
    <p:extLst>
      <p:ext uri="{BB962C8B-B14F-4D97-AF65-F5344CB8AC3E}">
        <p14:creationId xmlns:p14="http://schemas.microsoft.com/office/powerpoint/2010/main" val="609388274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Finly Presentation Builder</ap:Application>
  <ap:PresentationFormat>On-screen Show (16:9)</ap:PresentationFormat>
  <ap:Slides>9</ap:Slides>
  <ap:Notes>9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Bruce Wen</dc:creator>
  <lastModifiedBy>Bruce Wen</lastModifiedBy>
  <dc:title>Finly: Proof Before Authority</dc:title>
  <dcterms:created xsi:type="dcterms:W3CDTF">2026-08-29T12:00:00Z</dcterms:created>
  <dcterms:modified xsi:type="dcterms:W3CDTF">2026-08-29T12:00:00Z</dcterms:modified>
  <dc:subject>Alpaca AI Trading Agents Hackathon presentation</dc:subject>
  <keywords>Finly, Alpaca, trading agent, controlled delegation</keywords>
  <dc:description>Finly judge presentation prepared by Bruce Wen.</dc:description>
</coreProperties>
</file>