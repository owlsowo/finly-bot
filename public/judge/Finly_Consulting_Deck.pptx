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cf1e5131294ee6" /><Relationship Type="http://schemas.openxmlformats.org/officeDocument/2006/relationships/extended-properties" Target="/docProps/app.xml" Id="Rd319dbb9ae9c4d63" /><Relationship Type="http://schemas.openxmlformats.org/officeDocument/2006/relationships/officeDocument" Target="/ppt/presentation.xml" Id="R068ee3e5430e4b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dc8a320cb347e3"/>
  </p:sldMasterIdLst>
  <p:notesMasterIdLst>
    <p:notesMasterId xmlns:r="http://schemas.openxmlformats.org/officeDocument/2006/relationships" r:id="Rf7d0209d95fc48a4"/>
  </p:notesMasterIdLst>
  <p:sldIdLst>
    <p:sldId xmlns:r="http://schemas.openxmlformats.org/officeDocument/2006/relationships" id="256" r:id="Ra19e7af8ddbb49c2"/>
    <p:sldId xmlns:r="http://schemas.openxmlformats.org/officeDocument/2006/relationships" id="257" r:id="Rdd6cc2e205944204"/>
    <p:sldId xmlns:r="http://schemas.openxmlformats.org/officeDocument/2006/relationships" id="258" r:id="R84027fd9d8cf448a"/>
    <p:sldId xmlns:r="http://schemas.openxmlformats.org/officeDocument/2006/relationships" id="259" r:id="R184a5e472baa43cb"/>
    <p:sldId xmlns:r="http://schemas.openxmlformats.org/officeDocument/2006/relationships" id="260" r:id="Rd33424ff157b4392"/>
    <p:sldId xmlns:r="http://schemas.openxmlformats.org/officeDocument/2006/relationships" id="261" r:id="R211f8d2d19be49d9"/>
    <p:sldId xmlns:r="http://schemas.openxmlformats.org/officeDocument/2006/relationships" id="262" r:id="R5d289b2ce49a4896"/>
    <p:sldId xmlns:r="http://schemas.openxmlformats.org/officeDocument/2006/relationships" id="263" r:id="Re73d89f98cea4360"/>
    <p:sldId xmlns:r="http://schemas.openxmlformats.org/officeDocument/2006/relationships" id="264" r:id="Rac9f08d949a041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e5a4d814124abb" /><Relationship Type="http://schemas.openxmlformats.org/officeDocument/2006/relationships/slideMaster" Target="/ppt/slideMasters/slideMaster1.xml" Id="Re6dc8a320cb347e3" /><Relationship Type="http://schemas.openxmlformats.org/officeDocument/2006/relationships/notesMaster" Target="/ppt/notesMasters/notesMaster1.xml" Id="Rf7d0209d95fc48a4" /><Relationship Type="http://schemas.openxmlformats.org/officeDocument/2006/relationships/presProps" Target="/ppt/presProps.xml" Id="Re6d8f79b5968431c" /><Relationship Type="http://schemas.openxmlformats.org/officeDocument/2006/relationships/tableStyles" Target="/ppt/tableStyles.xml" Id="R594bccdee5d64241" /><Relationship Type="http://schemas.openxmlformats.org/officeDocument/2006/relationships/slide" Target="/ppt/slides/slide1.xml" Id="Ra19e7af8ddbb49c2" /><Relationship Type="http://schemas.openxmlformats.org/officeDocument/2006/relationships/slide" Target="/ppt/slides/slide2.xml" Id="Rdd6cc2e205944204" /><Relationship Type="http://schemas.openxmlformats.org/officeDocument/2006/relationships/slide" Target="/ppt/slides/slide3.xml" Id="R84027fd9d8cf448a" /><Relationship Type="http://schemas.openxmlformats.org/officeDocument/2006/relationships/slide" Target="/ppt/slides/slide4.xml" Id="R184a5e472baa43cb" /><Relationship Type="http://schemas.openxmlformats.org/officeDocument/2006/relationships/slide" Target="/ppt/slides/slide5.xml" Id="Rd33424ff157b4392" /><Relationship Type="http://schemas.openxmlformats.org/officeDocument/2006/relationships/slide" Target="/ppt/slides/slide6.xml" Id="R211f8d2d19be49d9" /><Relationship Type="http://schemas.openxmlformats.org/officeDocument/2006/relationships/slide" Target="/ppt/slides/slide7.xml" Id="R5d289b2ce49a4896" /><Relationship Type="http://schemas.openxmlformats.org/officeDocument/2006/relationships/slide" Target="/ppt/slides/slide8.xml" Id="Re73d89f98cea4360" /><Relationship Type="http://schemas.openxmlformats.org/officeDocument/2006/relationships/slide" Target="/ppt/slides/slide9.xml" Id="Rac9f08d949a041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3bfdfa6c4647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8890120055446c" /><Relationship Type="http://schemas.openxmlformats.org/officeDocument/2006/relationships/notesMaster" Target="/ppt/notesMasters/notesMaster1.xml" Id="R81277bed6bcf46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589eb169594ee1" /><Relationship Type="http://schemas.openxmlformats.org/officeDocument/2006/relationships/notesMaster" Target="/ppt/notesMasters/notesMaster1.xml" Id="R2e37fd9f7fc4487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be5e5d77054c71" /><Relationship Type="http://schemas.openxmlformats.org/officeDocument/2006/relationships/notesMaster" Target="/ppt/notesMasters/notesMaster1.xml" Id="R0619968e180c43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a5e68531cf74caf" /><Relationship Type="http://schemas.openxmlformats.org/officeDocument/2006/relationships/notesMaster" Target="/ppt/notesMasters/notesMaster1.xml" Id="R2270131fd1d749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ac9793c20844d4" /><Relationship Type="http://schemas.openxmlformats.org/officeDocument/2006/relationships/notesMaster" Target="/ppt/notesMasters/notesMaster1.xml" Id="R80772c5bf3054e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74c802cc34487a" /><Relationship Type="http://schemas.openxmlformats.org/officeDocument/2006/relationships/notesMaster" Target="/ppt/notesMasters/notesMaster1.xml" Id="Rfb718829258345b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feb21c040e45f8" /><Relationship Type="http://schemas.openxmlformats.org/officeDocument/2006/relationships/notesMaster" Target="/ppt/notesMasters/notesMaster1.xml" Id="R18ea330337714c5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fd4ef1a84b94bab" /><Relationship Type="http://schemas.openxmlformats.org/officeDocument/2006/relationships/notesMaster" Target="/ppt/notesMasters/notesMaster1.xml" Id="Rf02aed22cdbb4e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57d291955e46a1" /><Relationship Type="http://schemas.openxmlformats.org/officeDocument/2006/relationships/notesMaster" Target="/ppt/notesMasters/notesMaster1.xml" Id="R013233dab5aa4b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Quantitative release gate: https://github.com/owlsowo/finly-bot/blob/c953d74444bd0cee1bc884701d98ff510cc4db80/research/output/quantitative_release_gate.json</a:t>
            </a:r>
          </a:p>
          <a:p xmlns:a="http://schemas.openxmlformats.org/drawingml/2006/main">
            <a:r>
              <a:t>- G4 was rejected and not promoted; the retrospective result is not a forecast or validation claim.</a:t>
            </a:r>
          </a:p>
          <a:p xmlns:a="http://schemas.openxmlformats.org/drawingml/2006/main">
            <a:r>
              <a:t>- Finly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Locked release decision and G4 statistics: https://github.com/owlsowo/finly-bot/blob/c953d74444bd0cee1bc884701d98ff510cc4db80/research/output/quantitative_release_gate.json</a:t>
            </a:r>
          </a:p>
          <a:p xmlns:a="http://schemas.openxmlformats.org/drawingml/2006/main">
            <a:r>
              <a:t>- Consumed, post-selected ETF replay with modeled 5 bp one-way costs; not options P&amp;L, validation, promotion,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Promotion decision, Deflated Sharpe probability, and familywise p-value: https://github.com/owlsowo/finly-bot/blob/c953d74444bd0cee1bc884701d98ff510cc4db80/research/output/quantitative_release_gate.json</a:t>
            </a:r>
          </a:p>
          <a:p xmlns:a="http://schemas.openxmlformats.org/drawingml/2006/main">
            <a:r>
              <a:t>- G4 is rejected, not promoted, and cannot support future profitability or market-superiority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Production-v1 release claim: https://github.com/owlsowo/finly-bot/blob/c953d74444bd0cee1bc884701d98ff510cc4db80/research/output/quantitative_release_gate.json</a:t>
            </a:r>
          </a:p>
          <a:p xmlns:a="http://schemas.openxmlformats.org/drawingml/2006/main">
            <a:r>
              <a:t>- Modeled next-open execution-realism ledger: https://github.com/owlsowo/finly-bot/blob/c953d74444bd0cee1bc884701d98ff510cc4db80/research/output/equity_execution_realism.json</a:t>
            </a:r>
          </a:p>
          <a:p xmlns:a="http://schemas.openxmlformats.org/drawingml/2006/main">
            <a:r>
              <a:t>- This is consumed retrospective execution-mechanics evidence, not broker fills, options P&amp;L, alpha,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Project-owned authority trace: https://github.com/owlsowo/finly-bot/blob/c953d74444bd0cee1bc884701d98ff510cc4db80/public/data/llama_decision_trace.json</a:t>
            </a:r>
          </a:p>
          <a:p xmlns:a="http://schemas.openxmlformats.org/drawingml/2006/main">
            <a:r>
              <a:t>- Project-owned compiled-decision record: https://github.com/owlsowo/finly-bot/blob/c953d74444bd0cee1bc884701d98ff510cc4db80/public/data/latest_receipt.json</a:t>
            </a:r>
          </a:p>
          <a:p xmlns:a="http://schemas.openxmlformats.org/drawingml/2006/main">
            <a:r>
              <a:t>- The cited fixtures are synthetic research evidence; no broker mutation is authorized.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Quantitative release gate behind the visible evidence classes: https://github.com/owlsowo/finly-bot/blob/c953d74444bd0cee1bc884701d98ff510cc4db80/research/output/quantitative_release_gate.json</a:t>
            </a:r>
          </a:p>
          <a:p xmlns:a="http://schemas.openxmlformats.org/drawingml/2006/main">
            <a:r>
              <a:t>- Product capture is a project-owned screenshot; it is evidence of the interface, not market performance.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Evidence classes, retrospective limitations, and future-only status: https://github.com/owlsowo/finly-bot/blob/c953d74444bd0cee1bc884701d98ff510cc4db80/research/output/quantitative_release_gate.json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Attempt 115 protocol: https://github.com/owlsowo/finly-bot/blob/c953d74444bd0cee1bc884701d98ff510cc4db80/research/downside_semivolatility_challenger_protocol.json</a:t>
            </a:r>
          </a:p>
          <a:p xmlns:a="http://schemas.openxmlformats.org/drawingml/2006/main">
            <a:r>
              <a:t>- Attempt 115 public receipt: https://github.com/owlsowo/finly-bot/blob/c953d74444bd0cee1bc884701d98ff510cc4db80/research/prospective_attempt115/publication_receipts/4dd7720d25198702013ab10e582b37004515bed5e4466a56eca89192559d2cd9.json</a:t>
            </a:r>
          </a:p>
          <a:p xmlns:a="http://schemas.openxmlformats.org/drawingml/2006/main">
            <a:r>
              <a:t>- Attempt 116 protocol: https://github.com/owlsowo/finly-bot/blob/c953d74444bd0cee1bc884701d98ff510cc4db80/research/prospective_attempt116/protocol.json</a:t>
            </a:r>
          </a:p>
          <a:p xmlns:a="http://schemas.openxmlformats.org/drawingml/2006/main">
            <a:r>
              <a:t>- Attempt 116 public receipt: https://github.com/owlsowo/finly-bot/blob/c953d74444bd0cee1bc884701d98ff510cc4db80/research/prospective_attempt116/publication_receipts/934e52a583893e2720a0962195efd56b5f4b2a0554a1b8f8dfa9ab5951191362.json</a:t>
            </a:r>
          </a:p>
          <a:p xmlns:a="http://schemas.openxmlformats.org/drawingml/2006/main">
            <a:r>
              <a:t>- Zero-outcome boundary as of 2026-08-30T08:10:52.000Z: https://github.com/owlsowo/finly-bot/blob/c953d74444bd0cee1bc884701d98ff510cc4db80/research/output/quantitative_release_gate.json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All quantitative statements and limitations: https://github.com/owlsowo/finly-bot/blob/c953d74444bd0cee1bc884701d98ff510cc4db80/research/output/quantitative_release_gate.json</a:t>
            </a:r>
          </a:p>
          <a:p xmlns:a="http://schemas.openxmlformats.org/drawingml/2006/main">
            <a:r>
              <a:t>- No cross-project performance comparison, future-profit claim, verified options P&amp;L, or broker fill is asserted.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7e64f56bb346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7a613cd2e04805" /><Relationship Type="http://schemas.openxmlformats.org/officeDocument/2006/relationships/slideLayout" Target="/ppt/slideLayouts/slideLayout1.xml" Id="R80a6f8482dba46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a6f8482dba46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942a9c537e413f" /><Relationship Type="http://schemas.openxmlformats.org/officeDocument/2006/relationships/image" Target="/ppt/media/image.png" Id="Rfd9e905f142a407f" /><Relationship Type="http://schemas.openxmlformats.org/officeDocument/2006/relationships/notesSlide" Target="/ppt/notesSlides/notesSlide1.xml" Id="R0fc0282254dd46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11e1346ba4ad7" /><Relationship Type="http://schemas.openxmlformats.org/officeDocument/2006/relationships/chart" Target="/ppt/slides/charts/chart1.xml" Id="Refd536581a044c22" /><Relationship Type="http://schemas.openxmlformats.org/officeDocument/2006/relationships/notesSlide" Target="/ppt/notesSlides/notesSlide2.xml" Id="R0c6113aed91b465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db66029114972" /><Relationship Type="http://schemas.openxmlformats.org/officeDocument/2006/relationships/notesSlide" Target="/ppt/notesSlides/notesSlide3.xml" Id="R8bbf0521491747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6b1035b214e6e" /><Relationship Type="http://schemas.openxmlformats.org/officeDocument/2006/relationships/chart" Target="/ppt/slides/charts/chart2.xml" Id="R32ddbbdb87d54745" /><Relationship Type="http://schemas.openxmlformats.org/officeDocument/2006/relationships/notesSlide" Target="/ppt/notesSlides/notesSlide4.xml" Id="Raecf1bc6b9e74e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5ce2028214f5b" /><Relationship Type="http://schemas.openxmlformats.org/officeDocument/2006/relationships/notesSlide" Target="/ppt/notesSlides/notesSlide5.xml" Id="Ra99d6ce4304649c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f5be1bfdd4587" /><Relationship Type="http://schemas.openxmlformats.org/officeDocument/2006/relationships/image" Target="/ppt/media/image2.png" Id="R852a97a2dfe844f6" /><Relationship Type="http://schemas.openxmlformats.org/officeDocument/2006/relationships/notesSlide" Target="/ppt/notesSlides/notesSlide6.xml" Id="R24f0f1f1f8c24e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eaafe006a4e0d" /><Relationship Type="http://schemas.openxmlformats.org/officeDocument/2006/relationships/notesSlide" Target="/ppt/notesSlides/notesSlide7.xml" Id="R1a74ca7e368348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5ad0642be4686" /><Relationship Type="http://schemas.openxmlformats.org/officeDocument/2006/relationships/notesSlide" Target="/ppt/notesSlides/notesSlide8.xml" Id="R68b4299eb08441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c5cd9acf64ce6" /><Relationship Type="http://schemas.openxmlformats.org/officeDocument/2006/relationships/notesSlide" Target="/ppt/notesSlides/notesSlide9.xml" Id="R7d37a8c8b581441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Modeled total return</c:v>
          </c:tx>
          <c:spPr>
            <a:solidFill xmlns:a="http://schemas.openxmlformats.org/drawingml/2006/main">
              <a:srgbClr val="2F7562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F756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17334D"/>
              </a:solidFill>
            </c:spPr>
          </c:dPt>
          <c:cat>
            <c:strLit>
              <c:ptCount val="2"/>
              <c:pt idx="0">
                <c:v>G4</c:v>
              </c:pt>
              <c:pt idx="1">
                <c:v>SPY</c:v>
              </c:pt>
            </c:strLit>
          </c:cat>
          <c:val>
            <c:numLit>
              <c:formatCode>0.00"%"</c:formatCode>
              <c:ptCount val="2"/>
              <c:pt idx="0">
                <c:v>967.11</c:v>
              </c:pt>
              <c:pt idx="1">
                <c:v>580.82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334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8CF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9737A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C4BB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334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6F1E8"/>
          </a:solidFill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solidFill>
        <a:srgbClr val="F6F1E8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Finly</c:v>
          </c:tx>
          <c:spPr>
            <a:solidFill xmlns:a="http://schemas.openxmlformats.org/drawingml/2006/main">
              <a:srgbClr val="2E6F5C"/>
            </a:solidFill>
          </c:spPr>
          <c:cat>
            <c:strLit>
              <c:ptCount val="2"/>
              <c:pt idx="0">
                <c:v>5 bp</c:v>
              </c:pt>
              <c:pt idx="1">
                <c:v>25 bp</c:v>
              </c:pt>
            </c:strLit>
          </c:cat>
          <c:val>
            <c:numLit>
              <c:formatCode>General</c:formatCode>
              <c:ptCount val="2"/>
              <c:pt idx="0">
                <c:v>15.39</c:v>
              </c:pt>
              <c:pt idx="1">
                <c:v>10.56</c:v>
              </c:pt>
            </c:numLit>
          </c:val>
        </c:ser>
        <c:ser>
          <c:idx val="1"/>
          <c:order val="1"/>
          <c:tx>
            <c:v>SPY</c:v>
          </c:tx>
          <c:spPr>
            <a:solidFill xmlns:a="http://schemas.openxmlformats.org/drawingml/2006/main">
              <a:srgbClr val="0D2B43"/>
            </a:solidFill>
          </c:spPr>
          <c:cat>
            <c:strLit>
              <c:ptCount val="2"/>
              <c:pt idx="0">
                <c:v>5 bp</c:v>
              </c:pt>
              <c:pt idx="1">
                <c:v>25 bp</c:v>
              </c:pt>
            </c:strLit>
          </c:cat>
          <c:val>
            <c:numLit>
              <c:formatCode>General</c:formatCode>
              <c:ptCount val="2"/>
              <c:pt idx="0">
                <c:v>33.52</c:v>
              </c:pt>
              <c:pt idx="1">
                <c:v>33.52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4E1D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C22C9880-3A0B-4F26-AA95-C95F513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248C3DC2-F98F-4CEE-A552-C475C5FD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e905f142a407f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E15E145B-4F5F-4E95-B953-E08E1B6B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Execution-realistic controlled delegation-62-169">
            <a:extLst xmlns:a="http://schemas.openxmlformats.org/drawingml/2006/main">
              <a:ext uri="{FF2B5EF4-FFF2-40B4-BE49-F238E27FC236}">
                <a16:creationId xmlns:a16="http://schemas.microsoft.com/office/drawing/2014/main" id="{FCF25974-2D4F-41BB-85F1-CE3EED06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0972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CONTROLLED-DELEGATION TRADING RESEARCH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9641E07-BDA1-4DB8-8BAA-B4AFDC62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38350"/>
            <a:ext cx="100012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We found +967.11% - and refused to trade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D20EF-645D-4631-B907-549998F08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291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C241564D-F365-40AD-A1A8-CAB32AC1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902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In the consumed, post-selected 2013-01-02–2026-08-27 replay with modeled 5 bp one-way costs, G4 returned +967.11% versus SPY +580.82%. Finly rejected it because the statistical evidence did not earn authority.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6AB0F580-F8D9-41B0-923C-302F8E7E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53125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| Brandeis University | Alpaca AI Trading Agents Hackathon</a:t>
            </a:r>
          </a:p>
        </p:txBody>
      </p:sp>
    </p:spTree>
    <p:extLst>
      <p:ext uri="{BB962C8B-B14F-4D97-AF65-F5344CB8AC3E}">
        <p14:creationId xmlns:p14="http://schemas.microsoft.com/office/powerpoint/2010/main" val="16673023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label-Research discipline-58-32">
            <a:extLst xmlns:a="http://schemas.openxmlformats.org/drawingml/2006/main">
              <a:ext uri="{FF2B5EF4-FFF2-40B4-BE49-F238E27FC236}">
                <a16:creationId xmlns:a16="http://schemas.microsoft.com/office/drawing/2014/main" id="{91CD53B7-7006-45C2-8E09-6A96B7F9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TEMPTING RESULT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7B831A81-2532-4F92-9476-109FAABA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strongest retrospective return was the easiest claim to overtrust.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1FB71-E9CA-474A-ACE6-0DF62C88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53A9C5AA-D371-4102-A4F7-F8C82462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4104CD74-A88C-4B4A-9948-43BD49D9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label-Rejected shadow · G4-782-214">
            <a:extLst xmlns:a="http://schemas.openxmlformats.org/drawingml/2006/main">
              <a:ext uri="{FF2B5EF4-FFF2-40B4-BE49-F238E27FC236}">
                <a16:creationId xmlns:a16="http://schemas.microsoft.com/office/drawing/2014/main" id="{6C2E9469-9F04-4E4B-B7B1-15165EE1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383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CONSUMED RETROSPECTIVE</a:t>
            </a:r>
          </a:p>
        </p:txBody>
      </p:sp>
      <p:sp>
        <p:nvSpPr>
          <p:cNvPr id="8" name="g4-return">
            <a:extLst xmlns:a="http://schemas.openxmlformats.org/drawingml/2006/main">
              <a:ext uri="{FF2B5EF4-FFF2-40B4-BE49-F238E27FC236}">
                <a16:creationId xmlns:a16="http://schemas.microsoft.com/office/drawing/2014/main" id="{6140C90B-F6E2-4F5A-9D7A-C0E770CA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003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75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+967.11%</a:t>
            </a:r>
          </a:p>
        </p:txBody>
      </p:sp>
      <p:sp>
        <p:nvSpPr>
          <p:cNvPr id="9" name="g4-return-caption">
            <a:extLst xmlns:a="http://schemas.openxmlformats.org/drawingml/2006/main">
              <a:ext uri="{FF2B5EF4-FFF2-40B4-BE49-F238E27FC236}">
                <a16:creationId xmlns:a16="http://schemas.microsoft.com/office/drawing/2014/main" id="{8711865F-1E09-49BA-AAC9-BEF06409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0480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G4 MODELED TOTAL RETURN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25E8C9-9388-498C-9CDA-810D048F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528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1" name="g4-gate-0">
            <a:extLst xmlns:a="http://schemas.openxmlformats.org/drawingml/2006/main">
              <a:ext uri="{FF2B5EF4-FFF2-40B4-BE49-F238E27FC236}">
                <a16:creationId xmlns:a16="http://schemas.microsoft.com/office/drawing/2014/main" id="{4AB50270-B500-4566-90E1-06DBFC06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385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SPY total return</a:t>
            </a:r>
          </a:p>
        </p:txBody>
      </p:sp>
      <p:sp>
        <p:nvSpPr>
          <p:cNvPr id="12" name="g4-value-0">
            <a:extLst xmlns:a="http://schemas.openxmlformats.org/drawingml/2006/main">
              <a:ext uri="{FF2B5EF4-FFF2-40B4-BE49-F238E27FC236}">
                <a16:creationId xmlns:a16="http://schemas.microsoft.com/office/drawing/2014/main" id="{786A3FFC-2BDC-49E8-99B3-BACECE6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6385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+580.82%</a:t>
            </a:r>
          </a:p>
        </p:txBody>
      </p:sp>
      <p:sp>
        <p:nvSpPr>
          <p:cNvPr id="13" name="g4-status-0">
            <a:extLst xmlns:a="http://schemas.openxmlformats.org/drawingml/2006/main">
              <a:ext uri="{FF2B5EF4-FFF2-40B4-BE49-F238E27FC236}">
                <a16:creationId xmlns:a16="http://schemas.microsoft.com/office/drawing/2014/main" id="{512EC0D1-2D84-47FD-82BC-1C859989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6385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HIST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110F41-597F-4F6F-98AB-81149D1B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481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5" name="g4-gate-1">
            <a:extLst xmlns:a="http://schemas.openxmlformats.org/drawingml/2006/main">
              <a:ext uri="{FF2B5EF4-FFF2-40B4-BE49-F238E27FC236}">
                <a16:creationId xmlns:a16="http://schemas.microsoft.com/office/drawing/2014/main" id="{F20744CC-9B2E-42ED-A717-26ED54A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1338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Deflated Sharpe probability</a:t>
            </a:r>
          </a:p>
        </p:txBody>
      </p:sp>
      <p:sp>
        <p:nvSpPr>
          <p:cNvPr id="16" name="g4-value-1">
            <a:extLst xmlns:a="http://schemas.openxmlformats.org/drawingml/2006/main">
              <a:ext uri="{FF2B5EF4-FFF2-40B4-BE49-F238E27FC236}">
                <a16:creationId xmlns:a16="http://schemas.microsoft.com/office/drawing/2014/main" id="{6B096C11-9DC3-4617-9A71-A5B14812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338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3.75%</a:t>
            </a:r>
          </a:p>
        </p:txBody>
      </p:sp>
      <p:sp>
        <p:nvSpPr>
          <p:cNvPr id="17" name="g4-status-1">
            <a:extLst xmlns:a="http://schemas.openxmlformats.org/drawingml/2006/main">
              <a:ext uri="{FF2B5EF4-FFF2-40B4-BE49-F238E27FC236}">
                <a16:creationId xmlns:a16="http://schemas.microsoft.com/office/drawing/2014/main" id="{AF9503B9-644C-4621-A838-9DC44C8E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338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CAAF9E-4418-4A63-A405-90080075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434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9" name="g4-gate-2">
            <a:extLst xmlns:a="http://schemas.openxmlformats.org/drawingml/2006/main">
              <a:ext uri="{FF2B5EF4-FFF2-40B4-BE49-F238E27FC236}">
                <a16:creationId xmlns:a16="http://schemas.microsoft.com/office/drawing/2014/main" id="{94A441AC-F9D7-4A71-A85E-E10B2CBF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291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Worst familywise p-value</a:t>
            </a:r>
          </a:p>
        </p:txBody>
      </p:sp>
      <p:sp>
        <p:nvSpPr>
          <p:cNvPr id="20" name="g4-value-2">
            <a:extLst xmlns:a="http://schemas.openxmlformats.org/drawingml/2006/main">
              <a:ext uri="{FF2B5EF4-FFF2-40B4-BE49-F238E27FC236}">
                <a16:creationId xmlns:a16="http://schemas.microsoft.com/office/drawing/2014/main" id="{540C9D07-4164-433E-944E-295B7898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6291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37.18%</a:t>
            </a:r>
          </a:p>
        </p:txBody>
      </p:sp>
      <p:sp>
        <p:nvSpPr>
          <p:cNvPr id="21" name="g4-status-2">
            <a:extLst xmlns:a="http://schemas.openxmlformats.org/drawingml/2006/main">
              <a:ext uri="{FF2B5EF4-FFF2-40B4-BE49-F238E27FC236}">
                <a16:creationId xmlns:a16="http://schemas.microsoft.com/office/drawing/2014/main" id="{186C7C87-C3EB-400F-BFEE-305C02D1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6291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0FCFCC-CD31-4787-94D8-3929FCB19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38725"/>
            <a:ext cx="3886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3" name="g4-gate-3">
            <a:extLst xmlns:a="http://schemas.openxmlformats.org/drawingml/2006/main">
              <a:ext uri="{FF2B5EF4-FFF2-40B4-BE49-F238E27FC236}">
                <a16:creationId xmlns:a16="http://schemas.microsoft.com/office/drawing/2014/main" id="{17DA852F-A18C-4A1B-8D1D-D4549008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1244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Promotion decision</a:t>
            </a:r>
          </a:p>
        </p:txBody>
      </p:sp>
      <p:sp>
        <p:nvSpPr>
          <p:cNvPr id="24" name="g4-value-3">
            <a:extLst xmlns:a="http://schemas.openxmlformats.org/drawingml/2006/main">
              <a:ext uri="{FF2B5EF4-FFF2-40B4-BE49-F238E27FC236}">
                <a16:creationId xmlns:a16="http://schemas.microsoft.com/office/drawing/2014/main" id="{B8F37ED9-2EB3-469D-B66C-45BC9004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124450"/>
            <a:ext cx="1028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REJECTED</a:t>
            </a:r>
          </a:p>
        </p:txBody>
      </p:sp>
      <p:sp>
        <p:nvSpPr>
          <p:cNvPr id="25" name="g4-status-3">
            <a:extLst xmlns:a="http://schemas.openxmlformats.org/drawingml/2006/main">
              <a:ext uri="{FF2B5EF4-FFF2-40B4-BE49-F238E27FC236}">
                <a16:creationId xmlns:a16="http://schemas.microsoft.com/office/drawing/2014/main" id="{0343F385-B74C-43C8-A4FA-A6185B0E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24450"/>
            <a:ext cx="38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NO</a:t>
            </a:r>
          </a:p>
        </p:txBody>
      </p:sp>
      <p:sp>
        <p:nvSpPr>
          <p:cNvPr id="26" name="g4-boundary">
            <a:extLst xmlns:a="http://schemas.openxmlformats.org/drawingml/2006/main">
              <a:ext uri="{FF2B5EF4-FFF2-40B4-BE49-F238E27FC236}">
                <a16:creationId xmlns:a16="http://schemas.microsoft.com/office/drawing/2014/main" id="{35C69F1D-BF4D-4BFD-988C-CFFC6EADB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Consumed 2013-01-02–2026-08-27 | post-selected replay | modeled 5 bp one-way costs | rejected and not promoted.</a:t>
            </a:r>
          </a:p>
        </p:txBody>
      </p:sp>
      <p:graphicFrame>
        <p:nvGraphicFramePr>
          <p:cNvPr id="54" name="Chart"/>
          <p:cNvGraphicFramePr/>
          <p:nvPr/>
        </p:nvGraphicFramePr>
        <p:xfrm>
          <a:off xmlns:a="http://schemas.openxmlformats.org/drawingml/2006/main" x="790575" y="1962150"/>
          <a:ext xmlns:a="http://schemas.openxmlformats.org/drawingml/2006/main" cx="59436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d536581a044c22"/>
          </a:graphicData>
        </a:graphic>
      </p:graphicFrame>
    </p:spTree>
    <p:extLst>
      <p:ext uri="{BB962C8B-B14F-4D97-AF65-F5344CB8AC3E}">
        <p14:creationId xmlns:p14="http://schemas.microsoft.com/office/powerpoint/2010/main" val="4496447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C85F84AF-3AE5-47FF-9159-2617424E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EVIDENTIARY VERDICT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1A2BC0BA-597C-4341-92A9-BC796E4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return survived the replay; the claim did not survive the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A8C8F-5921-4140-9E10-567349E03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F14F45D7-26EB-4FA8-9497-55AE51D0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9EC0F7A2-60FF-4DB5-9004-CFC5600D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label-Typical agent-74-215">
            <a:extLst xmlns:a="http://schemas.openxmlformats.org/drawingml/2006/main">
              <a:ext uri="{FF2B5EF4-FFF2-40B4-BE49-F238E27FC236}">
                <a16:creationId xmlns:a16="http://schemas.microsoft.com/office/drawing/2014/main" id="{79EAB827-B5F9-413D-883F-4ABBE27A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WHAT THE REPLAY SAID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E3D35E06-AD6E-40E9-A2D0-EF0AEC5C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chart looked exceptional.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D792C21C-7BCE-4E85-9D53-107016E5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33750"/>
            <a:ext cx="4095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In the consumed 2013-01-02–2026-08-27 replay, G4 returned +967.11% versus SPY +580.82% after modeled 5 bp one-way costs.</a:t>
            </a:r>
          </a:p>
        </p:txBody>
      </p:sp>
      <p:sp>
        <p:nvSpPr>
          <p:cNvPr id="9" name="divider">
            <a:extLst xmlns:a="http://schemas.openxmlformats.org/drawingml/2006/main">
              <a:ext uri="{FF2B5EF4-FFF2-40B4-BE49-F238E27FC236}">
                <a16:creationId xmlns:a16="http://schemas.microsoft.com/office/drawing/2014/main" id="{433B7D72-ED8D-48F2-ABF3-5AFB03E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Finly-654-215">
            <a:extLst xmlns:a="http://schemas.openxmlformats.org/drawingml/2006/main">
              <a:ext uri="{FF2B5EF4-FFF2-40B4-BE49-F238E27FC236}">
                <a16:creationId xmlns:a16="http://schemas.microsoft.com/office/drawing/2014/main" id="{8F3BB22D-FE36-4FB1-A84B-0C4DCD5D6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WHAT THE TESTS SAID</a:t>
            </a:r>
          </a:p>
        </p:txBody>
      </p:sp>
      <p:sp>
        <p:nvSpPr>
          <p:cNvPr id="11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1B7BCB26-B790-4ECB-B06C-1C801CB9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evidence was not promotable.</a:t>
            </a:r>
          </a:p>
        </p:txBody>
      </p:sp>
      <p:sp>
        <p:nvSpPr>
          <p:cNvPr id="12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34158FE7-2D0B-434B-BDD9-7BE3AF72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57575"/>
            <a:ext cx="46291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G4 was selected after history was visible. Its Deflated Sharpe probability was 3.75%, while the worst familywise-adjusted p-value was 37.18%.</a:t>
            </a:r>
          </a:p>
        </p:txBody>
      </p:sp>
      <p:sp>
        <p:nvSpPr>
          <p:cNvPr id="13" name="core-thesis">
            <a:extLst xmlns:a="http://schemas.openxmlformats.org/drawingml/2006/main">
              <a:ext uri="{FF2B5EF4-FFF2-40B4-BE49-F238E27FC236}">
                <a16:creationId xmlns:a16="http://schemas.microsoft.com/office/drawing/2014/main" id="{0E003D14-42F9-4F6F-9D35-D06B6E5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10153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Finly kept the result visible, labeled its evidence class, and denied it authority.</a:t>
            </a:r>
          </a:p>
        </p:txBody>
      </p:sp>
    </p:spTree>
    <p:extLst>
      <p:ext uri="{BB962C8B-B14F-4D97-AF65-F5344CB8AC3E}">
        <p14:creationId xmlns:p14="http://schemas.microsoft.com/office/powerpoint/2010/main" val="11463389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Execution realism-58-32">
            <a:extLst xmlns:a="http://schemas.openxmlformats.org/drawingml/2006/main">
              <a:ext uri="{FF2B5EF4-FFF2-40B4-BE49-F238E27FC236}">
                <a16:creationId xmlns:a16="http://schemas.microsoft.com/office/drawing/2014/main" id="{7E480406-DF41-4FD9-84C4-3C56AA14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PRODUCTION V1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46B52253-BF74-42FF-BE53-C3F4715D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frozen policy was positive, risk-controlled — and did not beat SPY on return.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E6D16-5637-4F6C-86D6-AF617637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2E81FA44-5D19-4315-8FFB-5BF73C4C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3C0BC03A-4B70-4CF1-9AF3-0E8C7CB5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552450" y="20383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ddbbdb87d54745"/>
          </a:graphicData>
        </a:graphic>
      </p:graphicFrame>
      <p:sp>
        <p:nvSpPr>
          <p:cNvPr id="7" name="label-What survived-872-216">
            <a:extLst xmlns:a="http://schemas.openxmlformats.org/drawingml/2006/main">
              <a:ext uri="{FF2B5EF4-FFF2-40B4-BE49-F238E27FC236}">
                <a16:creationId xmlns:a16="http://schemas.microsoft.com/office/drawing/2014/main" id="{0D87039A-C649-477F-8202-3E3A95F3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MODELED NEXT-OPEN STUDY</a:t>
            </a:r>
          </a:p>
        </p:txBody>
      </p:sp>
      <p:sp>
        <p:nvSpPr>
          <p:cNvPr id="8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6C90C027-268A-43C4-81F6-697E776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812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15.39%</a:t>
            </a:r>
          </a:p>
        </p:txBody>
      </p:sp>
      <p:sp>
        <p:nvSpPr>
          <p:cNvPr id="9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153A2317-C549-45EA-98AF-856F1827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432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POSITIVE TOTAL RETURN - 5 BP PER LEG</a:t>
            </a:r>
          </a:p>
        </p:txBody>
      </p:sp>
      <p:sp>
        <p:nvSpPr>
          <p:cNvPr id="10" name="metric-maximum drawdown">
            <a:extLst xmlns:a="http://schemas.openxmlformats.org/drawingml/2006/main">
              <a:ext uri="{FF2B5EF4-FFF2-40B4-BE49-F238E27FC236}">
                <a16:creationId xmlns:a16="http://schemas.microsoft.com/office/drawing/2014/main" id="{B83C2E9B-B006-4876-B8FF-C1806B1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861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8.12%</a:t>
            </a:r>
          </a:p>
        </p:txBody>
      </p:sp>
      <p:sp>
        <p:nvSpPr>
          <p:cNvPr id="11" name="metric-caption-maximum drawdown">
            <a:extLst xmlns:a="http://schemas.openxmlformats.org/drawingml/2006/main">
              <a:ext uri="{FF2B5EF4-FFF2-40B4-BE49-F238E27FC236}">
                <a16:creationId xmlns:a16="http://schemas.microsoft.com/office/drawing/2014/main" id="{95D6EEC2-E7F2-4426-8412-F9FF4BF3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481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ANNUALIZED VOLATILITY</a:t>
            </a:r>
          </a:p>
        </p:txBody>
      </p:sp>
      <p:sp>
        <p:nvSpPr>
          <p:cNvPr id="12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86B060C8-018E-4E4B-9978-8FB36D1B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9105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-5.45%</a:t>
            </a:r>
          </a:p>
        </p:txBody>
      </p:sp>
      <p:sp>
        <p:nvSpPr>
          <p:cNvPr id="13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A8E8F9E5-0716-499E-9F89-4E583278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53025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MAXIMUM DRAWDOWN - 5 BP</a:t>
            </a:r>
          </a:p>
        </p:txBody>
      </p:sp>
      <p:sp>
        <p:nvSpPr>
          <p:cNvPr id="14" name="execution-boundary">
            <a:extLst xmlns:a="http://schemas.openxmlformats.org/drawingml/2006/main">
              <a:ext uri="{FF2B5EF4-FFF2-40B4-BE49-F238E27FC236}">
                <a16:creationId xmlns:a16="http://schemas.microsoft.com/office/drawing/2014/main" id="{B2A0F37A-CCAF-47D6-8F0B-AC6DB2AC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1074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Consumed 2025-01-02 to 2026-08-28 | 415 sessions | modeled next-open adjusted-OHLC ledger. Finly returned +10.56% at 25 bp per traded leg; SPY returned +33.52%.</a:t>
            </a:r>
          </a:p>
        </p:txBody>
      </p:sp>
    </p:spTree>
    <p:extLst>
      <p:ext uri="{BB962C8B-B14F-4D97-AF65-F5344CB8AC3E}">
        <p14:creationId xmlns:p14="http://schemas.microsoft.com/office/powerpoint/2010/main" val="1500823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label-Controlled delegation-58-32">
            <a:extLst xmlns:a="http://schemas.openxmlformats.org/drawingml/2006/main">
              <a:ext uri="{FF2B5EF4-FFF2-40B4-BE49-F238E27FC236}">
                <a16:creationId xmlns:a16="http://schemas.microsoft.com/office/drawing/2014/main" id="{4BC9A4DF-F985-41AE-A3E6-DDBC1A33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CONTROLLED DELEGATION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B98CD0C5-7E10-48F0-8298-1C79F41D9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model may interpret evidence; only deterministic code may authorize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C655D-1B42-47E1-AAC4-5203CA79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D56BCC69-8EF8-4F20-8342-3813CD35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41265285-EB2D-4C8E-A336-FB08A32A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label-INPUT-58-218">
            <a:extLst xmlns:a="http://schemas.openxmlformats.org/drawingml/2006/main">
              <a:ext uri="{FF2B5EF4-FFF2-40B4-BE49-F238E27FC236}">
                <a16:creationId xmlns:a16="http://schemas.microsoft.com/office/drawing/2014/main" id="{DED89C55-F40C-4B52-A35A-DD03C962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CF96F154-6B1A-42EA-888E-DDD7BD51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57A9596F-5B2D-4D8B-A7B0-64B1D4AB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2FC33-B45F-4FAE-BA8E-B15CD9B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54AD01EA-87B8-44F3-B1D7-138C86AE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Four labeled families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F7DB0A09-FFF7-4A1A-9F20-475DEFFF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2" name="label-MODEL-253-218">
            <a:extLst xmlns:a="http://schemas.openxmlformats.org/drawingml/2006/main">
              <a:ext uri="{FF2B5EF4-FFF2-40B4-BE49-F238E27FC236}">
                <a16:creationId xmlns:a16="http://schemas.microsoft.com/office/drawing/2014/main" id="{1ED7DA5B-93C8-435B-86ED-FBFFE78B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0AC187DA-8354-4417-B330-5626C7A9B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AD90F80F-A9EE-4246-944E-4500BBD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2A6EE-24BA-4174-957D-69487AB2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34EA93AE-AA48-4F31-BD90-938584D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Scores + rationale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342464B6-AD68-4B34-9AA0-EA9CB5CE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18" name="label-CODE-448-218">
            <a:extLst xmlns:a="http://schemas.openxmlformats.org/drawingml/2006/main">
              <a:ext uri="{FF2B5EF4-FFF2-40B4-BE49-F238E27FC236}">
                <a16:creationId xmlns:a16="http://schemas.microsoft.com/office/drawing/2014/main" id="{F4670263-D6C2-4EE8-968A-D76FDAB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0B9CE17A-54BE-477B-ACBA-0D0471F75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ED4EF59E-75A7-416D-AB08-5A544293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Aggregate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E25B9-148F-4EF5-BAAE-FC7B3A5D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755C404D-273A-4498-BC41-1E6F7BEB1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derives intent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B1F5D8ED-6C2E-44C8-B89F-2DF43E69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24" name="label-CODE-643-218">
            <a:extLst xmlns:a="http://schemas.openxmlformats.org/drawingml/2006/main">
              <a:ext uri="{FF2B5EF4-FFF2-40B4-BE49-F238E27FC236}">
                <a16:creationId xmlns:a16="http://schemas.microsoft.com/office/drawing/2014/main" id="{F66A42CD-911C-4E07-A308-2AF8DB58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E55D988C-85E6-4AF9-9415-881F494D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BD103949-4A08-47D2-A402-9598BDD3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Compile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5E805D-7CE4-4CCD-83AD-9B2C2E0F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71F69B2A-BF19-4019-9E48-20437BECB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owns order fields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9B56AFD5-AD83-4E0C-8B56-BE8A0F65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0" name="label-CODE-838-218">
            <a:extLst xmlns:a="http://schemas.openxmlformats.org/drawingml/2006/main">
              <a:ext uri="{FF2B5EF4-FFF2-40B4-BE49-F238E27FC236}">
                <a16:creationId xmlns:a16="http://schemas.microsoft.com/office/drawing/2014/main" id="{DC1FC783-3035-4E1E-8F45-00A61CF4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C3027CCF-F734-4438-A49D-A4B00C7F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B569BFBD-934B-42DE-A472-A13E237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Challenge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E9F60D-70AF-4719-BDCD-F5A94EA4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4206C489-D47C-4B1C-8652-2747E3A7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Removals + shocks</a:t>
            </a:r>
          </a:p>
        </p:txBody>
      </p:sp>
      <p:sp>
        <p:nvSpPr>
          <p:cNvPr id="35" name="chevron-5">
            <a:extLst xmlns:a="http://schemas.openxmlformats.org/drawingml/2006/main">
              <a:ext uri="{FF2B5EF4-FFF2-40B4-BE49-F238E27FC236}">
                <a16:creationId xmlns:a16="http://schemas.microsoft.com/office/drawing/2014/main" id="{331B85BC-D874-4EDC-849B-936A4C305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0289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&gt;</a:t>
            </a:r>
          </a:p>
        </p:txBody>
      </p:sp>
      <p:sp>
        <p:nvSpPr>
          <p:cNvPr id="36" name="label-GATE-1033-218">
            <a:extLst xmlns:a="http://schemas.openxmlformats.org/drawingml/2006/main">
              <a:ext uri="{FF2B5EF4-FFF2-40B4-BE49-F238E27FC236}">
                <a16:creationId xmlns:a16="http://schemas.microsoft.com/office/drawing/2014/main" id="{4C1137DB-126D-4F04-952C-28713786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0764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37" name="stage-number-5">
            <a:extLst xmlns:a="http://schemas.openxmlformats.org/drawingml/2006/main">
              <a:ext uri="{FF2B5EF4-FFF2-40B4-BE49-F238E27FC236}">
                <a16:creationId xmlns:a16="http://schemas.microsoft.com/office/drawing/2014/main" id="{6C7D2476-922B-4454-872C-1615365C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8" name="stage-title-5">
            <a:extLst xmlns:a="http://schemas.openxmlformats.org/drawingml/2006/main">
              <a:ext uri="{FF2B5EF4-FFF2-40B4-BE49-F238E27FC236}">
                <a16:creationId xmlns:a16="http://schemas.microsoft.com/office/drawing/2014/main" id="{AC5FCCCB-A801-454B-BD09-DC3CD8F4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733675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1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Decide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600F38-CD89-43AF-A505-7A5A7B3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38500"/>
            <a:ext cx="166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40" name="stage-copy-5">
            <a:extLst xmlns:a="http://schemas.openxmlformats.org/drawingml/2006/main">
              <a:ext uri="{FF2B5EF4-FFF2-40B4-BE49-F238E27FC236}">
                <a16:creationId xmlns:a16="http://schemas.microsoft.com/office/drawing/2014/main" id="{0ABD450B-FCAA-42B4-9031-3749CF5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29000"/>
            <a:ext cx="16859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PERMIT / NO_TRADE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7F2F1EA-48E2-4C68-84DC-D355AC98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08944F6-8B6D-466C-A232-EA6327997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MODEL</a:t>
            </a:r>
          </a:p>
        </p:txBody>
      </p:sp>
      <p:sp>
        <p:nvSpPr>
          <p:cNvPr id="4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E15F0B9A-545C-4878-9A2F-5CF64276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43525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INTERPRETS EVIDENCE</a:t>
            </a:r>
          </a:p>
        </p:txBody>
      </p:sp>
      <p:sp>
        <p:nvSpPr>
          <p:cNvPr id="4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992BE769-08D8-41B9-8C08-B2C437F8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CODE</a:t>
            </a:r>
          </a:p>
        </p:txBody>
      </p:sp>
      <p:sp>
        <p:nvSpPr>
          <p:cNvPr id="4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2947D287-5D0F-4CC2-99F5-323C5E66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OWNS EXPOSURE AND ORDER FIELDS</a:t>
            </a:r>
          </a:p>
        </p:txBody>
      </p:sp>
      <p:sp>
        <p:nvSpPr>
          <p:cNvPr id="4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1FD2E1E0-566E-43FF-A0E6-5FF4944DD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815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GATE</a:t>
            </a:r>
          </a:p>
        </p:txBody>
      </p:sp>
      <p:sp>
        <p:nvSpPr>
          <p:cNvPr id="4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5E124255-A864-4507-BBE7-34D307FA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53435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PERMIT OR NO_TRADE</a:t>
            </a:r>
          </a:p>
        </p:txBody>
      </p:sp>
      <p:sp>
        <p:nvSpPr>
          <p:cNvPr id="48" name="authority-close">
            <a:extLst xmlns:a="http://schemas.openxmlformats.org/drawingml/2006/main">
              <a:ext uri="{FF2B5EF4-FFF2-40B4-BE49-F238E27FC236}">
                <a16:creationId xmlns:a16="http://schemas.microsoft.com/office/drawing/2014/main" id="{E344E76A-3DBE-4EF8-89BC-6B3FA8AD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5300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 disagreement cannot become an Alpaca payload.</a:t>
            </a:r>
          </a:p>
        </p:txBody>
      </p:sp>
    </p:spTree>
    <p:extLst>
      <p:ext uri="{BB962C8B-B14F-4D97-AF65-F5344CB8AC3E}">
        <p14:creationId xmlns:p14="http://schemas.microsoft.com/office/powerpoint/2010/main" val="16332096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label-The product-58-32">
            <a:extLst xmlns:a="http://schemas.openxmlformats.org/drawingml/2006/main">
              <a:ext uri="{FF2B5EF4-FFF2-40B4-BE49-F238E27FC236}">
                <a16:creationId xmlns:a16="http://schemas.microsoft.com/office/drawing/2014/main" id="{21DF212B-9426-4EAC-AF38-BB6EDABA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INSPECTABLE PRODUCT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640ACDAF-7F29-4E0F-9032-427BEF86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Every headline number arrives with the reason it cannot yet control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400CE-DECB-449E-94B7-44DF7803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36910DE1-CC24-4C14-A559-5CF032281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06BB7286-6D5E-477C-9C8F-459E8132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product-frame">
            <a:extLst xmlns:a="http://schemas.openxmlformats.org/drawingml/2006/main">
              <a:ext uri="{FF2B5EF4-FFF2-40B4-BE49-F238E27FC236}">
                <a16:creationId xmlns:a16="http://schemas.microsoft.com/office/drawing/2014/main" id="{AD6F12C5-BA9F-4C8E-9A78-A2D9F34F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66900"/>
            <a:ext cx="7677150" cy="398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97a2dfe844f6"/>
          <a:srcRect xmlns:a="http://schemas.openxmlformats.org/drawingml/2006/main" l="0" t="5441" r="0" b="54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000250"/>
            <a:ext cx="74104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label-Visible on the site-904-214">
            <a:extLst xmlns:a="http://schemas.openxmlformats.org/drawingml/2006/main">
              <a:ext uri="{FF2B5EF4-FFF2-40B4-BE49-F238E27FC236}">
                <a16:creationId xmlns:a16="http://schemas.microsoft.com/office/drawing/2014/main" id="{F6AB06B1-682C-48E8-A8AF-E5E1AB327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38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VISIBLE TO JUDGES</a:t>
            </a:r>
          </a:p>
        </p:txBody>
      </p:sp>
      <p:sp>
        <p:nvSpPr>
          <p:cNvPr id="9" name="metric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43C106F4-DBC2-4152-8762-7035B6BD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812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15.39%</a:t>
            </a:r>
          </a:p>
        </p:txBody>
      </p:sp>
      <p:sp>
        <p:nvSpPr>
          <p:cNvPr id="10" name="metric-caption-next-open · 5 bp per leg">
            <a:extLst xmlns:a="http://schemas.openxmlformats.org/drawingml/2006/main">
              <a:ext uri="{FF2B5EF4-FFF2-40B4-BE49-F238E27FC236}">
                <a16:creationId xmlns:a16="http://schemas.microsoft.com/office/drawing/2014/main" id="{948EBC0F-C929-4FFA-83B0-4BD2E82F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9432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POSITIVE V1 MODELED RETURN - 5 BP</a:t>
            </a:r>
          </a:p>
        </p:txBody>
      </p:sp>
      <p:sp>
        <p:nvSpPr>
          <p:cNvPr id="11" name="metric-consumed sessions">
            <a:extLst xmlns:a="http://schemas.openxmlformats.org/drawingml/2006/main">
              <a:ext uri="{FF2B5EF4-FFF2-40B4-BE49-F238E27FC236}">
                <a16:creationId xmlns:a16="http://schemas.microsoft.com/office/drawing/2014/main" id="{C1C5A3EF-9B08-41FB-A4DB-87F77267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4861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REJECTED</a:t>
            </a:r>
          </a:p>
        </p:txBody>
      </p:sp>
      <p:sp>
        <p:nvSpPr>
          <p:cNvPr id="12" name="metric-caption-consumed sessions">
            <a:extLst xmlns:a="http://schemas.openxmlformats.org/drawingml/2006/main">
              <a:ext uri="{FF2B5EF4-FFF2-40B4-BE49-F238E27FC236}">
                <a16:creationId xmlns:a16="http://schemas.microsoft.com/office/drawing/2014/main" id="{8B17000F-D172-473D-9522-EC2CDA2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481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G4 PROMOTION DECISION</a:t>
            </a:r>
          </a:p>
        </p:txBody>
      </p:sp>
      <p:sp>
        <p:nvSpPr>
          <p:cNvPr id="13" name="metric-at 25 bp per leg">
            <a:extLst xmlns:a="http://schemas.openxmlformats.org/drawingml/2006/main">
              <a:ext uri="{FF2B5EF4-FFF2-40B4-BE49-F238E27FC236}">
                <a16:creationId xmlns:a16="http://schemas.microsoft.com/office/drawing/2014/main" id="{91443F7C-8DBD-4B48-B4C6-18A6494D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59105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0 + 0</a:t>
            </a:r>
          </a:p>
        </p:txBody>
      </p:sp>
      <p:sp>
        <p:nvSpPr>
          <p:cNvPr id="14" name="metric-caption-at 25 bp per leg">
            <a:extLst xmlns:a="http://schemas.openxmlformats.org/drawingml/2006/main">
              <a:ext uri="{FF2B5EF4-FFF2-40B4-BE49-F238E27FC236}">
                <a16:creationId xmlns:a16="http://schemas.microsoft.com/office/drawing/2014/main" id="{0DC14BDB-8EA2-47A5-9701-5A63D6A9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5302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OUTCOMES - ATTEMPTS 115 / 116</a:t>
            </a:r>
          </a:p>
        </p:txBody>
      </p:sp>
      <p:sp>
        <p:nvSpPr>
          <p:cNvPr id="15" name="product-boundary">
            <a:extLst xmlns:a="http://schemas.openxmlformats.org/drawingml/2006/main">
              <a:ext uri="{FF2B5EF4-FFF2-40B4-BE49-F238E27FC236}">
                <a16:creationId xmlns:a16="http://schemas.microsoft.com/office/drawing/2014/main" id="{8C644FD5-C4ED-4870-BD5C-48CD053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19750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8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interface keeps a modeled return, a rejected strategy, and two zero-outcome future tests in different evidence classes.</a:t>
            </a:r>
          </a:p>
        </p:txBody>
      </p:sp>
    </p:spTree>
    <p:extLst>
      <p:ext uri="{BB962C8B-B14F-4D97-AF65-F5344CB8AC3E}">
        <p14:creationId xmlns:p14="http://schemas.microsoft.com/office/powerpoint/2010/main" val="8113267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label-Small-account feasibility-58-32">
            <a:extLst xmlns:a="http://schemas.openxmlformats.org/drawingml/2006/main">
              <a:ext uri="{FF2B5EF4-FFF2-40B4-BE49-F238E27FC236}">
                <a16:creationId xmlns:a16="http://schemas.microsoft.com/office/drawing/2014/main" id="{9B081491-0B9F-4F4F-ACD5-8D39FA7C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PROOF LADDER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3DE694FA-1336-4208-967E-4D184C95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Finly's evidence gets harder - not louder - as a claim approaches capital.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B1A30-E373-4C32-869B-36307EDDC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252132A0-5F3D-4190-9277-720B5665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ECEDF512-E7C1-4E86-A7FC-3FE3DC5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label-Starting equity-86-226">
            <a:extLst xmlns:a="http://schemas.openxmlformats.org/drawingml/2006/main">
              <a:ext uri="{FF2B5EF4-FFF2-40B4-BE49-F238E27FC236}">
                <a16:creationId xmlns:a16="http://schemas.microsoft.com/office/drawing/2014/main" id="{687147D2-4564-4170-A2ED-E395A95A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EVIDENCE WE HAVE</a:t>
            </a:r>
          </a:p>
        </p:txBody>
      </p:sp>
      <p:sp>
        <p:nvSpPr>
          <p:cNvPr id="7" name="start-equity">
            <a:extLst xmlns:a="http://schemas.openxmlformats.org/drawingml/2006/main">
              <a:ext uri="{FF2B5EF4-FFF2-40B4-BE49-F238E27FC236}">
                <a16:creationId xmlns:a16="http://schemas.microsoft.com/office/drawing/2014/main" id="{D7BDECB9-BBFC-4112-8538-3802683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3048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PAST</a:t>
            </a:r>
          </a:p>
        </p:txBody>
      </p:sp>
      <p:sp>
        <p:nvSpPr>
          <p:cNvPr id="8" name="equity-arrow">
            <a:extLst xmlns:a="http://schemas.openxmlformats.org/drawingml/2006/main">
              <a:ext uri="{FF2B5EF4-FFF2-40B4-BE49-F238E27FC236}">
                <a16:creationId xmlns:a16="http://schemas.microsoft.com/office/drawing/2014/main" id="{795DC0C7-1D98-4952-A5E1-10E1E1182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47950"/>
            <a:ext cx="114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40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40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TO</a:t>
            </a:r>
          </a:p>
        </p:txBody>
      </p:sp>
      <p:sp>
        <p:nvSpPr>
          <p:cNvPr id="9" name="label-Ending equity-580-226">
            <a:extLst xmlns:a="http://schemas.openxmlformats.org/drawingml/2006/main">
              <a:ext uri="{FF2B5EF4-FFF2-40B4-BE49-F238E27FC236}">
                <a16:creationId xmlns:a16="http://schemas.microsoft.com/office/drawing/2014/main" id="{1F0BDD7C-6C26-4AB8-8749-E9EE592D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1526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EVIDENCE WE NEED</a:t>
            </a:r>
          </a:p>
        </p:txBody>
      </p:sp>
      <p:sp>
        <p:nvSpPr>
          <p:cNvPr id="10" name="end-equity">
            <a:extLst xmlns:a="http://schemas.openxmlformats.org/drawingml/2006/main">
              <a:ext uri="{FF2B5EF4-FFF2-40B4-BE49-F238E27FC236}">
                <a16:creationId xmlns:a16="http://schemas.microsoft.com/office/drawing/2014/main" id="{40F5DFB1-BD6A-4113-AB35-DED73FAE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8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48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FUTURE</a:t>
            </a:r>
          </a:p>
        </p:txBody>
      </p:sp>
      <p:sp>
        <p:nvSpPr>
          <p:cNvPr id="11" name="equity-return">
            <a:extLst xmlns:a="http://schemas.openxmlformats.org/drawingml/2006/main">
              <a:ext uri="{FF2B5EF4-FFF2-40B4-BE49-F238E27FC236}">
                <a16:creationId xmlns:a16="http://schemas.microsoft.com/office/drawing/2014/main" id="{BE95903A-D252-4D0C-B8C1-4E9F3030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909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0 observed outcomes today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671AF-4A7B-4FCE-BA19-46ED6853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0D2B43"/>
            </a:solidFill>
            <a:prstDash val="solid"/>
          </a:ln>
        </p:spPr>
      </p:sp>
      <p:sp>
        <p:nvSpPr>
          <p:cNvPr id="13" name="metric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4A025178-3887-418C-A637-F89A4AB1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G4</a:t>
            </a:r>
          </a:p>
        </p:txBody>
      </p:sp>
      <p:sp>
        <p:nvSpPr>
          <p:cNvPr id="14" name="metric-caption-minimum order notional">
            <a:extLst xmlns:a="http://schemas.openxmlformats.org/drawingml/2006/main">
              <a:ext uri="{FF2B5EF4-FFF2-40B4-BE49-F238E27FC236}">
                <a16:creationId xmlns:a16="http://schemas.microsoft.com/office/drawing/2014/main" id="{D15A2B91-48D2-41E1-AECC-A7473C98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1967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REJECTED AFTER SELECTION</a:t>
            </a:r>
          </a:p>
        </p:txBody>
      </p:sp>
      <p:sp>
        <p:nvSpPr>
          <p:cNvPr id="15" name="metric-sell-day fee proxy">
            <a:extLst xmlns:a="http://schemas.openxmlformats.org/drawingml/2006/main">
              <a:ext uri="{FF2B5EF4-FFF2-40B4-BE49-F238E27FC236}">
                <a16:creationId xmlns:a16="http://schemas.microsoft.com/office/drawing/2014/main" id="{67B0CC0B-E078-4CB0-9BC2-3840118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V1</a:t>
            </a:r>
          </a:p>
        </p:txBody>
      </p:sp>
      <p:sp>
        <p:nvSpPr>
          <p:cNvPr id="16" name="metric-caption-sell-day fee proxy">
            <a:extLst xmlns:a="http://schemas.openxmlformats.org/drawingml/2006/main">
              <a:ext uri="{FF2B5EF4-FFF2-40B4-BE49-F238E27FC236}">
                <a16:creationId xmlns:a16="http://schemas.microsoft.com/office/drawing/2014/main" id="{5F8F19C1-EC5D-483E-9525-D6217397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0196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MODELED NEXT-OPEN LEDGER</a:t>
            </a:r>
          </a:p>
        </p:txBody>
      </p:sp>
      <p:sp>
        <p:nvSpPr>
          <p:cNvPr id="17" name="metric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6F2C6B57-12A8-44AE-AD88-E5075F92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57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115 / 116</a:t>
            </a:r>
          </a:p>
        </p:txBody>
      </p:sp>
      <p:sp>
        <p:nvSpPr>
          <p:cNvPr id="18" name="metric-caption-sub-minimum orders skipped">
            <a:extLst xmlns:a="http://schemas.openxmlformats.org/drawingml/2006/main">
              <a:ext uri="{FF2B5EF4-FFF2-40B4-BE49-F238E27FC236}">
                <a16:creationId xmlns:a16="http://schemas.microsoft.com/office/drawing/2014/main" id="{46CFCFA7-DA3F-4490-BC33-21A7BFF0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01967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REGISTERED FUTURE-ONLY TESTS</a:t>
            </a:r>
          </a:p>
        </p:txBody>
      </p:sp>
      <p:sp>
        <p:nvSpPr>
          <p:cNvPr id="19" name="small-account-boundary">
            <a:extLst xmlns:a="http://schemas.openxmlformats.org/drawingml/2006/main">
              <a:ext uri="{FF2B5EF4-FFF2-40B4-BE49-F238E27FC236}">
                <a16:creationId xmlns:a16="http://schemas.microsoft.com/office/drawing/2014/main" id="{CB9B2EF6-214E-40B5-ABCC-1008A576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6769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A larger backtest never upgrades its own evidence class. Only a new test can.</a:t>
            </a:r>
          </a:p>
        </p:txBody>
      </p:sp>
    </p:spTree>
    <p:extLst>
      <p:ext uri="{BB962C8B-B14F-4D97-AF65-F5344CB8AC3E}">
        <p14:creationId xmlns:p14="http://schemas.microsoft.com/office/powerpoint/2010/main" val="431450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label-Forward proof-58-32">
            <a:extLst xmlns:a="http://schemas.openxmlformats.org/drawingml/2006/main">
              <a:ext uri="{FF2B5EF4-FFF2-40B4-BE49-F238E27FC236}">
                <a16:creationId xmlns:a16="http://schemas.microsoft.com/office/drawing/2014/main" id="{6ACF7A3F-C5A1-4AE3-8DF2-0910E9A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FORWARD PROOF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0BF2187E-DD90-444B-BBDC-68977FAD2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Attempts 115 and 116 begin with zero outcomes - not borrowed confidence.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ECCC5-1FED-40D8-BB28-608D943C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E1E39969-1921-4C18-89E3-02726A2AA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E316E011-31FD-43AE-9852-5216AC467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Public before the first signal-64-210">
            <a:extLst xmlns:a="http://schemas.openxmlformats.org/drawingml/2006/main">
              <a:ext uri="{FF2B5EF4-FFF2-40B4-BE49-F238E27FC236}">
                <a16:creationId xmlns:a16="http://schemas.microsoft.com/office/drawing/2014/main" id="{F35D3F03-5F0A-421E-A684-5AAC28EB7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PUBLICLY REGISTERED</a:t>
            </a:r>
          </a:p>
        </p:txBody>
      </p:sp>
      <p:sp>
        <p:nvSpPr>
          <p:cNvPr id="7" name="attempt-title">
            <a:extLst xmlns:a="http://schemas.openxmlformats.org/drawingml/2006/main">
              <a:ext uri="{FF2B5EF4-FFF2-40B4-BE49-F238E27FC236}">
                <a16:creationId xmlns:a16="http://schemas.microsoft.com/office/drawing/2014/main" id="{B91E7975-DD57-4745-95B4-5D31DE9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Two tests ask two different questions.</a:t>
            </a:r>
          </a:p>
        </p:txBody>
      </p:sp>
      <p:sp>
        <p:nvSpPr>
          <p:cNvPr id="8" name="attempt-copy">
            <a:extLst xmlns:a="http://schemas.openxmlformats.org/drawingml/2006/main">
              <a:ext uri="{FF2B5EF4-FFF2-40B4-BE49-F238E27FC236}">
                <a16:creationId xmlns:a16="http://schemas.microsoft.com/office/drawing/2014/main" id="{2E5D9F72-DFB3-40D6-B90B-4F0478E5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334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Attempt 115 freezes a downside-semivolatility challenger. Attempt 116 freezes a variance-risk-premium shadow. Each has zero observed outcomes. Neither supports a performance claim.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35B69-DC3A-473D-9A0B-16473891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621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E7482"/>
            </a:solidFill>
            <a:prstDash val="solid"/>
          </a:ln>
        </p:spPr>
      </p:sp>
      <p:sp>
        <p:nvSpPr>
          <p:cNvPr id="10" name="metric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B4D66D95-E9E8-45A4-BA66-D12DCBFB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115</a:t>
            </a:r>
          </a:p>
        </p:txBody>
      </p:sp>
      <p:sp>
        <p:nvSpPr>
          <p:cNvPr id="11" name="metric-caption-runtime-bound files matched">
            <a:extLst xmlns:a="http://schemas.openxmlformats.org/drawingml/2006/main">
              <a:ext uri="{FF2B5EF4-FFF2-40B4-BE49-F238E27FC236}">
                <a16:creationId xmlns:a16="http://schemas.microsoft.com/office/drawing/2014/main" id="{98B327E9-A557-4FE1-980B-48AD4D3D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384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DOWNSIDE-SEMIVOLATILITY TEST</a:t>
            </a:r>
          </a:p>
        </p:txBody>
      </p:sp>
      <p:sp>
        <p:nvSpPr>
          <p:cNvPr id="12" name="metric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A6E9651B-DAA4-4DFB-88CC-F93D02A6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76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rPr>
              <a:t>116</a:t>
            </a:r>
          </a:p>
        </p:txBody>
      </p:sp>
      <p:sp>
        <p:nvSpPr>
          <p:cNvPr id="13" name="metric-caption-fixed public GET checks">
            <a:extLst xmlns:a="http://schemas.openxmlformats.org/drawingml/2006/main">
              <a:ext uri="{FF2B5EF4-FFF2-40B4-BE49-F238E27FC236}">
                <a16:creationId xmlns:a16="http://schemas.microsoft.com/office/drawing/2014/main" id="{1F9A1FDF-56E0-4A20-9EF6-84CC4367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6384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VARIANCE-RISK-PREMIUM SHADOW</a:t>
            </a:r>
          </a:p>
        </p:txBody>
      </p:sp>
      <p:sp>
        <p:nvSpPr>
          <p:cNvPr id="14" name="metric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F3808D7B-05B0-4899-86BA-8FCD7DFF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718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15" name="metric-caption-timely signal anchors required">
            <a:extLst xmlns:a="http://schemas.openxmlformats.org/drawingml/2006/main">
              <a:ext uri="{FF2B5EF4-FFF2-40B4-BE49-F238E27FC236}">
                <a16:creationId xmlns:a16="http://schemas.microsoft.com/office/drawing/2014/main" id="{7A86783B-6107-4828-A484-CB293479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33825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OBSERVED OUTCOMES - ATTEMPT 115</a:t>
            </a:r>
          </a:p>
        </p:txBody>
      </p:sp>
      <p:sp>
        <p:nvSpPr>
          <p:cNvPr id="16" name="metric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9E7B3311-BCE3-46B5-ABF1-8BD4AC3E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718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EB8A7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17" name="metric-caption-reconciled settlements required">
            <a:extLst xmlns:a="http://schemas.openxmlformats.org/drawingml/2006/main">
              <a:ext uri="{FF2B5EF4-FFF2-40B4-BE49-F238E27FC236}">
                <a16:creationId xmlns:a16="http://schemas.microsoft.com/office/drawing/2014/main" id="{43C443A3-B990-4AEC-83DF-C7F4E9D2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9338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OBSERVED OUTCOMES - ATTEMPT 116</a:t>
            </a:r>
          </a:p>
        </p:txBody>
      </p:sp>
      <p:sp>
        <p:nvSpPr>
          <p:cNvPr id="18" name="attempt-gate">
            <a:extLst xmlns:a="http://schemas.openxmlformats.org/drawingml/2006/main">
              <a:ext uri="{FF2B5EF4-FFF2-40B4-BE49-F238E27FC236}">
                <a16:creationId xmlns:a16="http://schemas.microsoft.com/office/drawing/2014/main" id="{30097F05-6D04-4EC5-AA09-9BCA795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62500"/>
            <a:ext cx="4876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19" name="attempt-gate-copy">
            <a:extLst xmlns:a="http://schemas.openxmlformats.org/drawingml/2006/main">
              <a:ext uri="{FF2B5EF4-FFF2-40B4-BE49-F238E27FC236}">
                <a16:creationId xmlns:a16="http://schemas.microsoft.com/office/drawing/2014/main" id="{FB63EABB-AB7B-4EF2-9FEB-63AB2ACC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17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AS OF 2026-08-30 08:10:52Z: 0 + 0 outcomes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 performance claim and no broker mutation authority.</a:t>
            </a:r>
          </a:p>
        </p:txBody>
      </p:sp>
      <p:sp>
        <p:nvSpPr>
          <p:cNvPr id="20" name="attempt-boundary">
            <a:extLst xmlns:a="http://schemas.openxmlformats.org/drawingml/2006/main">
              <a:ext uri="{FF2B5EF4-FFF2-40B4-BE49-F238E27FC236}">
                <a16:creationId xmlns:a16="http://schemas.microsoft.com/office/drawing/2014/main" id="{20B72F92-15F5-4E2E-A8E4-9AA3322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33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GitHub records the registrations; it does not create outcome evidence, provider-origin proof, a broker fill, or future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1207789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y Finly-58-32">
            <a:extLst xmlns:a="http://schemas.openxmlformats.org/drawingml/2006/main">
              <a:ext uri="{FF2B5EF4-FFF2-40B4-BE49-F238E27FC236}">
                <a16:creationId xmlns:a16="http://schemas.microsoft.com/office/drawing/2014/main" id="{AF51A8D4-1333-46A3-8C5B-8378621B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THE JUDGE TAKEAWAY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BD2B0582-AD28-4ED6-B290-C0F52997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makes correction, rejection, and NO_TRADE part of the product.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2A2D4A-BBA8-4EB6-B401-1B56159B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D5239F40-3BC0-4566-81E1-F3FAC752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B780CA56-943C-4899-8E59-0F50C8F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P&amp;L evidence-58-220">
            <a:extLst xmlns:a="http://schemas.openxmlformats.org/drawingml/2006/main">
              <a:ext uri="{FF2B5EF4-FFF2-40B4-BE49-F238E27FC236}">
                <a16:creationId xmlns:a16="http://schemas.microsoft.com/office/drawing/2014/main" id="{7C12A42D-4E7C-416F-9A9C-2CAFAA1E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D49B9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49B91"/>
                </a:solidFill>
                <a:latin typeface="Arial"/>
                <a:ea typeface="Arial"/>
                <a:cs typeface="Arial"/>
              </a:rPr>
              <a:t>HISTORICAL 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052C1-FF4D-4B30-BEFC-AAA773A4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B9225463-DA23-4473-93E1-E13FCB663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G4 returned +967.11% versus SPY +580.82%; Finly rejected it after the DSR and multiplicity tests.</a:t>
            </a:r>
          </a:p>
        </p:txBody>
      </p:sp>
      <p:sp>
        <p:nvSpPr>
          <p:cNvPr id="9" name="label-Technology-350-220">
            <a:extLst xmlns:a="http://schemas.openxmlformats.org/drawingml/2006/main">
              <a:ext uri="{FF2B5EF4-FFF2-40B4-BE49-F238E27FC236}">
                <a16:creationId xmlns:a16="http://schemas.microsoft.com/office/drawing/2014/main" id="{256C4D86-D7C0-4CE6-9695-BD3B5400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PRODUCTION TRUTH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BB092-0A09-4491-8D0E-A9B7C565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AA00CAF5-8E4A-4BB8-8047-B2135730F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V1 returned +15.39% at 5 bp with 8.12% volatility and -5.45% drawdown; SPY returned +33.52%.</a:t>
            </a:r>
          </a:p>
        </p:txBody>
      </p:sp>
      <p:sp>
        <p:nvSpPr>
          <p:cNvPr id="12" name="label-Originality-642-220">
            <a:extLst xmlns:a="http://schemas.openxmlformats.org/drawingml/2006/main">
              <a:ext uri="{FF2B5EF4-FFF2-40B4-BE49-F238E27FC236}">
                <a16:creationId xmlns:a16="http://schemas.microsoft.com/office/drawing/2014/main" id="{45842F15-702B-4340-B3D1-7151BF89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AUTHORITY DESIGN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B6925F-EB7E-47F0-BC87-BB93BE9E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97B9F06E-8B70-42B9-92EE-7CB2045EF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model interprets evidence. Code owns exposure, order fields, and the final permit decision.</a:t>
            </a:r>
          </a:p>
        </p:txBody>
      </p:sp>
      <p:sp>
        <p:nvSpPr>
          <p:cNvPr id="15" name="label-Forward proof-934-220">
            <a:extLst xmlns:a="http://schemas.openxmlformats.org/drawingml/2006/main">
              <a:ext uri="{FF2B5EF4-FFF2-40B4-BE49-F238E27FC236}">
                <a16:creationId xmlns:a16="http://schemas.microsoft.com/office/drawing/2014/main" id="{EA5F4AA3-B32B-4EDB-A2D6-0C9F3ACD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0955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NEXT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143B9-2D5A-43FC-94D8-28453DD6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C322C23B-406F-40A1-B5EA-72A2BE3F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23431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5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Attempts 115 and 116 are registered future-only tests with zero outcomes and no performance claim.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FDCEE1D7-D104-4C34-A622-0181A270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10629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Publish the tempting result. Reject what has not earned authority. Make the next claim falsifiable.</a:t>
            </a:r>
          </a:p>
        </p:txBody>
      </p:sp>
    </p:spTree>
    <p:extLst>
      <p:ext uri="{BB962C8B-B14F-4D97-AF65-F5344CB8AC3E}">
        <p14:creationId xmlns:p14="http://schemas.microsoft.com/office/powerpoint/2010/main" val="609388274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Finly Presentation Builder</ap:Application>
  <ap:PresentationFormat>On-screen Show (16:9)</ap:PresentationFormat>
  <ap:Slides>9</ap:Slides>
  <ap:Notes>9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Bruce Wen</dc:creator>
  <lastModifiedBy>Bruce Wen</lastModifiedBy>
  <dc:title>Finly: Proof Before Authority</dc:title>
  <dcterms:created xsi:type="dcterms:W3CDTF">2026-08-29T12:00:00Z</dcterms:created>
  <dcterms:modified xsi:type="dcterms:W3CDTF">2026-08-29T12:00:00Z</dcterms:modified>
  <dc:subject>Alpaca AI Trading Agents Hackathon presentation</dc:subject>
  <keywords>Finly, Alpaca, trading agent, controlled delegation</keywords>
  <dc:description>Finly judge presentation prepared by Bruce Wen.</dc:description>
</coreProperties>
</file>